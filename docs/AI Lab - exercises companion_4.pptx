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708" r:id="rId2"/>
  </p:sldMasterIdLst>
  <p:notesMasterIdLst>
    <p:notesMasterId r:id="rId18"/>
  </p:notesMasterIdLst>
  <p:sldIdLst>
    <p:sldId id="256" r:id="rId3"/>
    <p:sldId id="269" r:id="rId4"/>
    <p:sldId id="270"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embeddedFontLst>
    <p:embeddedFont>
      <p:font typeface="Open Sans" panose="020B0606030504020204" pitchFamily="34" charset="0"/>
      <p:regular r:id="rId19"/>
      <p:bold r:id="rId20"/>
      <p:italic r:id="rId21"/>
      <p:boldItalic r:id="rId22"/>
    </p:embeddedFont>
    <p:embeddedFont>
      <p:font typeface="Play" pitchFamily="2"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3" roundtripDataSignature="AMtx7mgCcB6Y9R5lVcNqtAf5SAUUwIVnx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niele Baranzini" initials="" lastIdx="2" clrIdx="0"/>
  <p:cmAuthor id="1" name="Giuseppe Frau"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09"/>
    <p:restoredTop sz="81096"/>
  </p:normalViewPr>
  <p:slideViewPr>
    <p:cSldViewPr snapToGrid="0">
      <p:cViewPr varScale="1">
        <p:scale>
          <a:sx n="102" d="100"/>
          <a:sy n="102" d="100"/>
        </p:scale>
        <p:origin x="7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font" Target="fonts/font3.fntdata"/><Relationship Id="rId76"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7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font" Target="fonts/font1.fntdata"/><Relationship Id="rId73" Type="http://customschemas.google.com/relationships/presentationmetadata" Target="metadata"/><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7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0C3D6E"/>
                </a:solidFill>
                <a:latin typeface="Open Sans"/>
              </a:rPr>
              <a:t>Ex. 1 §7.2: average error, flights per day</a:t>
            </a:r>
          </a:p>
        </c:rich>
      </c:tx>
      <c:overlay val="0"/>
    </c:title>
    <c:autoTitleDeleted val="0"/>
    <c:plotArea>
      <c:layout/>
      <c:barChart>
        <c:barDir val="col"/>
        <c:grouping val="clustered"/>
        <c:varyColors val="1"/>
        <c:ser>
          <c:idx val="0"/>
          <c:order val="0"/>
          <c:tx>
            <c:strRef>
              <c:f>Sheet1!$B$1</c:f>
              <c:strCache>
                <c:ptCount val="1"/>
                <c:pt idx="0">
                  <c:v>Training error</c:v>
                </c:pt>
              </c:strCache>
            </c:strRef>
          </c:tx>
          <c:spPr>
            <a:solidFill>
              <a:srgbClr val="9CC9E6"/>
            </a:solidFill>
          </c:spPr>
          <c:invertIfNegative val="1"/>
          <c:dLbls>
            <c:numFmt formatCode="0.0" sourceLinked="0"/>
            <c:spPr>
              <a:noFill/>
              <a:ln>
                <a:noFill/>
              </a:ln>
              <a:effectLst/>
            </c:spPr>
            <c:txPr>
              <a:bodyPr/>
              <a:lstStyle/>
              <a:p>
                <a:pPr>
                  <a:defRPr sz="1300" b="1">
                    <a:solidFill>
                      <a:srgbClr val="1A2733"/>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256 neurons, 400 epochs</c:v>
                </c:pt>
                <c:pt idx="1">
                  <c:v>same + weight decay 0.01</c:v>
                </c:pt>
              </c:strCache>
            </c:strRef>
          </c:cat>
          <c:val>
            <c:numRef>
              <c:f>Sheet1!$B$2:$B$3</c:f>
              <c:numCache>
                <c:formatCode>General</c:formatCode>
                <c:ptCount val="2"/>
                <c:pt idx="0">
                  <c:v>1.8</c:v>
                </c:pt>
                <c:pt idx="1">
                  <c:v>12.8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F45-CE4E-86C3-2B18E12824E5}"/>
            </c:ext>
          </c:extLst>
        </c:ser>
        <c:ser>
          <c:idx val="1"/>
          <c:order val="1"/>
          <c:tx>
            <c:strRef>
              <c:f>Sheet1!$C$1</c:f>
              <c:strCache>
                <c:ptCount val="1"/>
                <c:pt idx="0">
                  <c:v>Validation error</c:v>
                </c:pt>
              </c:strCache>
            </c:strRef>
          </c:tx>
          <c:spPr>
            <a:solidFill>
              <a:srgbClr val="0C3D6E"/>
            </a:solidFill>
          </c:spPr>
          <c:invertIfNegative val="1"/>
          <c:dLbls>
            <c:numFmt formatCode="0.0" sourceLinked="0"/>
            <c:spPr>
              <a:noFill/>
              <a:ln>
                <a:noFill/>
              </a:ln>
              <a:effectLst/>
            </c:spPr>
            <c:txPr>
              <a:bodyPr/>
              <a:lstStyle/>
              <a:p>
                <a:pPr>
                  <a:defRPr sz="1300" b="1">
                    <a:solidFill>
                      <a:srgbClr val="1A2733"/>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256 neurons, 400 epochs</c:v>
                </c:pt>
                <c:pt idx="1">
                  <c:v>same + weight decay 0.01</c:v>
                </c:pt>
              </c:strCache>
            </c:strRef>
          </c:cat>
          <c:val>
            <c:numRef>
              <c:f>Sheet1!$C$2:$C$3</c:f>
              <c:numCache>
                <c:formatCode>General</c:formatCode>
                <c:ptCount val="2"/>
                <c:pt idx="0">
                  <c:v>31</c:v>
                </c:pt>
                <c:pt idx="1">
                  <c:v>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F45-CE4E-86C3-2B18E12824E5}"/>
            </c:ext>
          </c:extLst>
        </c:ser>
        <c:dLbls>
          <c:dLblPos val="outEnd"/>
          <c:showLegendKey val="0"/>
          <c:showVal val="1"/>
          <c:showCatName val="0"/>
          <c:showSerName val="0"/>
          <c:showPercent val="0"/>
          <c:showBubbleSize val="0"/>
        </c:dLbls>
        <c:gapWidth val="8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CE4"/>
            </a:solidFill>
          </a:ln>
        </c:spPr>
        <c:txPr>
          <a:bodyPr/>
          <a:lstStyle/>
          <a:p>
            <a:pPr>
              <a:defRPr sz="1200">
                <a:solidFill>
                  <a:srgbClr val="1A2733"/>
                </a:solidFill>
                <a:latin typeface="Open Sans"/>
              </a:defRPr>
            </a:pPr>
            <a:endParaRPr lang="en-US"/>
          </a:p>
        </c:txPr>
        <c:crossAx val="-2113994440"/>
        <c:crosses val="autoZero"/>
        <c:auto val="1"/>
        <c:lblAlgn val="ctr"/>
        <c:lblOffset val="100"/>
        <c:noMultiLvlLbl val="0"/>
      </c:catAx>
      <c:valAx>
        <c:axId val="-2113994440"/>
        <c:scaling>
          <c:orientation val="minMax"/>
          <c:max val="36"/>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200">
              <a:solidFill>
                <a:srgbClr val="1A2733"/>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2fd5c5f6f66_0_147:notes"/>
          <p:cNvSpPr txBox="1">
            <a:spLocks noGrp="1"/>
          </p:cNvSpPr>
          <p:nvPr>
            <p:ph type="body" idx="1"/>
          </p:nvPr>
        </p:nvSpPr>
        <p:spPr>
          <a:xfrm>
            <a:off x="685801" y="4400550"/>
            <a:ext cx="5486400" cy="3600600"/>
          </a:xfrm>
          <a:prstGeom prst="rect">
            <a:avLst/>
          </a:prstGeom>
          <a:noFill/>
          <a:ln>
            <a:noFill/>
          </a:ln>
        </p:spPr>
        <p:txBody>
          <a:bodyPr spcFirstLastPara="1" wrap="square" lIns="86175" tIns="43075" rIns="86175" bIns="43075" anchor="t" anchorCtr="0">
            <a:noAutofit/>
          </a:bodyPr>
          <a:lstStyle/>
          <a:p>
            <a:pPr marL="0" lvl="0" indent="0" algn="l" rtl="0">
              <a:lnSpc>
                <a:spcPct val="100000"/>
              </a:lnSpc>
              <a:spcBef>
                <a:spcPts val="0"/>
              </a:spcBef>
              <a:spcAft>
                <a:spcPts val="0"/>
              </a:spcAft>
              <a:buSzPts val="1300"/>
              <a:buNone/>
            </a:pPr>
            <a:endParaRPr/>
          </a:p>
        </p:txBody>
      </p:sp>
      <p:sp>
        <p:nvSpPr>
          <p:cNvPr id="379" name="Google Shape;379;g2fd5c5f6f66_0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RPORATE Colour Title Slide" type="title">
  <p:cSld name="TITLE">
    <p:spTree>
      <p:nvGrpSpPr>
        <p:cNvPr id="1" name="Shape 17"/>
        <p:cNvGrpSpPr/>
        <p:nvPr/>
      </p:nvGrpSpPr>
      <p:grpSpPr>
        <a:xfrm>
          <a:off x="0" y="0"/>
          <a:ext cx="0" cy="0"/>
          <a:chOff x="0" y="0"/>
          <a:chExt cx="0" cy="0"/>
        </a:xfrm>
      </p:grpSpPr>
      <p:sp>
        <p:nvSpPr>
          <p:cNvPr id="18" name="Google Shape;18;g2fd5c5f6f66_0_761"/>
          <p:cNvSpPr/>
          <p:nvPr/>
        </p:nvSpPr>
        <p:spPr>
          <a:xfrm>
            <a:off x="0" y="0"/>
            <a:ext cx="12192000" cy="6858000"/>
          </a:xfrm>
          <a:prstGeom prst="rect">
            <a:avLst/>
          </a:prstGeom>
          <a:solidFill>
            <a:srgbClr val="103E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19" name="Google Shape;19;g2fd5c5f6f66_0_761"/>
          <p:cNvGrpSpPr/>
          <p:nvPr/>
        </p:nvGrpSpPr>
        <p:grpSpPr>
          <a:xfrm>
            <a:off x="0" y="5872232"/>
            <a:ext cx="12213728" cy="1031630"/>
            <a:chOff x="0" y="5872232"/>
            <a:chExt cx="12213728" cy="1031630"/>
          </a:xfrm>
        </p:grpSpPr>
        <p:sp>
          <p:nvSpPr>
            <p:cNvPr id="20" name="Google Shape;20;g2fd5c5f6f66_0_761"/>
            <p:cNvSpPr/>
            <p:nvPr/>
          </p:nvSpPr>
          <p:spPr>
            <a:xfrm>
              <a:off x="8840326" y="5872232"/>
              <a:ext cx="3373402" cy="251333"/>
            </a:xfrm>
            <a:custGeom>
              <a:avLst/>
              <a:gdLst/>
              <a:ahLst/>
              <a:cxnLst/>
              <a:rect l="l" t="t" r="r" b="b"/>
              <a:pathLst>
                <a:path w="14933" h="19790" extrusionOk="0">
                  <a:moveTo>
                    <a:pt x="0" y="18822"/>
                  </a:moveTo>
                  <a:lnTo>
                    <a:pt x="14932" y="19790"/>
                  </a:lnTo>
                  <a:cubicBezTo>
                    <a:pt x="14937" y="16457"/>
                    <a:pt x="14928" y="3333"/>
                    <a:pt x="14933" y="0"/>
                  </a:cubicBezTo>
                  <a:lnTo>
                    <a:pt x="1057" y="9"/>
                  </a:lnTo>
                  <a:cubicBezTo>
                    <a:pt x="870" y="3342"/>
                    <a:pt x="187" y="15489"/>
                    <a:pt x="0" y="1882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 name="Google Shape;21;g2fd5c5f6f66_0_761"/>
            <p:cNvSpPr/>
            <p:nvPr/>
          </p:nvSpPr>
          <p:spPr>
            <a:xfrm>
              <a:off x="0" y="6060562"/>
              <a:ext cx="12202800" cy="843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22" name="Google Shape;22;g2fd5c5f6f66_0_761"/>
          <p:cNvSpPr/>
          <p:nvPr/>
        </p:nvSpPr>
        <p:spPr>
          <a:xfrm>
            <a:off x="10547823" y="-45721"/>
            <a:ext cx="1309800" cy="1427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3" name="Google Shape;23;g2fd5c5f6f66_0_761"/>
          <p:cNvPicPr preferRelativeResize="0"/>
          <p:nvPr/>
        </p:nvPicPr>
        <p:blipFill rotWithShape="1">
          <a:blip r:embed="rId2">
            <a:alphaModFix/>
          </a:blip>
          <a:srcRect/>
          <a:stretch/>
        </p:blipFill>
        <p:spPr>
          <a:xfrm>
            <a:off x="10708784" y="209994"/>
            <a:ext cx="995412" cy="1010051"/>
          </a:xfrm>
          <a:prstGeom prst="rect">
            <a:avLst/>
          </a:prstGeom>
          <a:noFill/>
          <a:ln>
            <a:noFill/>
          </a:ln>
        </p:spPr>
      </p:pic>
      <p:sp>
        <p:nvSpPr>
          <p:cNvPr id="24" name="Google Shape;24;g2fd5c5f6f66_0_761"/>
          <p:cNvSpPr txBox="1"/>
          <p:nvPr/>
        </p:nvSpPr>
        <p:spPr>
          <a:xfrm>
            <a:off x="8933440" y="434230"/>
            <a:ext cx="1434000" cy="8772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700"/>
              <a:buFont typeface="Arial"/>
              <a:buNone/>
            </a:pPr>
            <a:r>
              <a:rPr lang="en-GB" sz="1700" b="0" i="0" u="none" strike="noStrike" cap="none">
                <a:solidFill>
                  <a:schemeClr val="lt1"/>
                </a:solidFill>
                <a:latin typeface="Arial"/>
                <a:ea typeface="Arial"/>
                <a:cs typeface="Arial"/>
                <a:sym typeface="Arial"/>
              </a:rPr>
              <a:t>Supporting European </a:t>
            </a:r>
            <a:br>
              <a:rPr lang="en-GB" sz="1700" b="0" i="0" u="none" strike="noStrike" cap="none">
                <a:solidFill>
                  <a:schemeClr val="lt1"/>
                </a:solidFill>
                <a:latin typeface="Arial"/>
                <a:ea typeface="Arial"/>
                <a:cs typeface="Arial"/>
                <a:sym typeface="Arial"/>
              </a:rPr>
            </a:br>
            <a:r>
              <a:rPr lang="en-GB" sz="1700" b="0" i="0" u="none" strike="noStrike" cap="none">
                <a:solidFill>
                  <a:schemeClr val="lt1"/>
                </a:solidFill>
                <a:latin typeface="Arial"/>
                <a:ea typeface="Arial"/>
                <a:cs typeface="Arial"/>
                <a:sym typeface="Arial"/>
              </a:rPr>
              <a:t>Aviation</a:t>
            </a:r>
            <a:endParaRPr sz="1400" b="0" i="0" u="none" strike="noStrike" cap="none">
              <a:solidFill>
                <a:srgbClr val="000000"/>
              </a:solidFill>
              <a:latin typeface="Arial"/>
              <a:ea typeface="Arial"/>
              <a:cs typeface="Arial"/>
              <a:sym typeface="Arial"/>
            </a:endParaRPr>
          </a:p>
        </p:txBody>
      </p:sp>
      <p:pic>
        <p:nvPicPr>
          <p:cNvPr id="25" name="Google Shape;25;g2fd5c5f6f66_0_761"/>
          <p:cNvPicPr preferRelativeResize="0"/>
          <p:nvPr/>
        </p:nvPicPr>
        <p:blipFill rotWithShape="1">
          <a:blip r:embed="rId3">
            <a:alphaModFix/>
          </a:blip>
          <a:srcRect/>
          <a:stretch/>
        </p:blipFill>
        <p:spPr>
          <a:xfrm>
            <a:off x="9213990" y="6084774"/>
            <a:ext cx="2664399" cy="632609"/>
          </a:xfrm>
          <a:prstGeom prst="rect">
            <a:avLst/>
          </a:prstGeom>
          <a:noFill/>
          <a:ln>
            <a:noFill/>
          </a:ln>
        </p:spPr>
      </p:pic>
      <p:sp>
        <p:nvSpPr>
          <p:cNvPr id="26" name="Google Shape;26;g2fd5c5f6f66_0_761"/>
          <p:cNvSpPr txBox="1">
            <a:spLocks noGrp="1"/>
          </p:cNvSpPr>
          <p:nvPr>
            <p:ph type="ctrTitle"/>
          </p:nvPr>
        </p:nvSpPr>
        <p:spPr>
          <a:xfrm>
            <a:off x="320040" y="1220046"/>
            <a:ext cx="9124500" cy="22089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27" name="Google Shape;27;g2fd5c5f6f66_0_761"/>
          <p:cNvSpPr txBox="1">
            <a:spLocks noGrp="1"/>
          </p:cNvSpPr>
          <p:nvPr>
            <p:ph type="subTitle" idx="1"/>
          </p:nvPr>
        </p:nvSpPr>
        <p:spPr>
          <a:xfrm>
            <a:off x="320040" y="3429001"/>
            <a:ext cx="9124500" cy="900000"/>
          </a:xfrm>
          <a:prstGeom prst="rect">
            <a:avLst/>
          </a:prstGeom>
          <a:noFill/>
          <a:ln>
            <a:noFill/>
          </a:ln>
        </p:spPr>
        <p:txBody>
          <a:bodyPr spcFirstLastPara="1" wrap="square" lIns="0" tIns="72000" rIns="0" bIns="0" anchor="t" anchorCtr="0">
            <a:noAutofit/>
          </a:bodyPr>
          <a:lstStyle>
            <a:lvl1pPr marR="0" lvl="0" algn="l" rtl="0">
              <a:lnSpc>
                <a:spcPct val="100000"/>
              </a:lnSpc>
              <a:spcBef>
                <a:spcPts val="200"/>
              </a:spcBef>
              <a:spcAft>
                <a:spcPts val="0"/>
              </a:spcAft>
              <a:buClr>
                <a:srgbClr val="3399CC"/>
              </a:buClr>
              <a:buSzPts val="3200"/>
              <a:buFont typeface="Noto Sans Symbols"/>
              <a:buNone/>
              <a:defRPr sz="3200" b="0" i="0" u="none" strike="noStrike" cap="none">
                <a:solidFill>
                  <a:schemeClr val="lt1"/>
                </a:solidFill>
                <a:latin typeface="Open Sans"/>
                <a:ea typeface="Open Sans"/>
                <a:cs typeface="Open Sans"/>
                <a:sym typeface="Open Sans"/>
              </a:defRPr>
            </a:lvl1pPr>
            <a:lvl2pPr marR="0" lvl="1"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R="0" lvl="2"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R="0" lvl="3"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R="0" lvl="4"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R="0" lvl="5"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R="0" lvl="6"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R="0" lvl="7"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R="0" lvl="8"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4_TitleONLY">
  <p:cSld name="4_TitleONLY">
    <p:spTree>
      <p:nvGrpSpPr>
        <p:cNvPr id="1" name="Shape 28"/>
        <p:cNvGrpSpPr/>
        <p:nvPr/>
      </p:nvGrpSpPr>
      <p:grpSpPr>
        <a:xfrm>
          <a:off x="0" y="0"/>
          <a:ext cx="0" cy="0"/>
          <a:chOff x="0" y="0"/>
          <a:chExt cx="0" cy="0"/>
        </a:xfrm>
      </p:grpSpPr>
      <p:sp>
        <p:nvSpPr>
          <p:cNvPr id="29" name="Google Shape;29;g2fd5c5f6f66_0_772"/>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002060"/>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pic>
        <p:nvPicPr>
          <p:cNvPr id="30" name="Google Shape;30;g2fd5c5f6f66_0_772"/>
          <p:cNvPicPr preferRelativeResize="0"/>
          <p:nvPr/>
        </p:nvPicPr>
        <p:blipFill rotWithShape="1">
          <a:blip r:embed="rId2">
            <a:alphaModFix/>
          </a:blip>
          <a:srcRect/>
          <a:stretch/>
        </p:blipFill>
        <p:spPr>
          <a:xfrm>
            <a:off x="11777209" y="6604454"/>
            <a:ext cx="261937" cy="158750"/>
          </a:xfrm>
          <a:prstGeom prst="rect">
            <a:avLst/>
          </a:prstGeom>
          <a:noFill/>
          <a:ln>
            <a:noFill/>
          </a:ln>
        </p:spPr>
      </p:pic>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b_Title Content_1lineTTL">
  <p:cSld name="1b_Title Content_1lineTTL">
    <p:spTree>
      <p:nvGrpSpPr>
        <p:cNvPr id="1" name="Shape 35"/>
        <p:cNvGrpSpPr/>
        <p:nvPr/>
      </p:nvGrpSpPr>
      <p:grpSpPr>
        <a:xfrm>
          <a:off x="0" y="0"/>
          <a:ext cx="0" cy="0"/>
          <a:chOff x="0" y="0"/>
          <a:chExt cx="0" cy="0"/>
        </a:xfrm>
      </p:grpSpPr>
      <p:pic>
        <p:nvPicPr>
          <p:cNvPr id="36" name="Google Shape;36;g2fd5c5f6f66_0_775"/>
          <p:cNvPicPr preferRelativeResize="0"/>
          <p:nvPr/>
        </p:nvPicPr>
        <p:blipFill rotWithShape="1">
          <a:blip r:embed="rId2">
            <a:alphaModFix/>
          </a:blip>
          <a:srcRect/>
          <a:stretch/>
        </p:blipFill>
        <p:spPr>
          <a:xfrm>
            <a:off x="11905795" y="6671584"/>
            <a:ext cx="231775" cy="133350"/>
          </a:xfrm>
          <a:prstGeom prst="rect">
            <a:avLst/>
          </a:prstGeom>
          <a:noFill/>
          <a:ln>
            <a:noFill/>
          </a:ln>
        </p:spPr>
      </p:pic>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37"/>
        <p:cNvGrpSpPr/>
        <p:nvPr/>
      </p:nvGrpSpPr>
      <p:grpSpPr>
        <a:xfrm>
          <a:off x="0" y="0"/>
          <a:ext cx="0" cy="0"/>
          <a:chOff x="0" y="0"/>
          <a:chExt cx="0" cy="0"/>
        </a:xfrm>
      </p:grpSpPr>
      <p:sp>
        <p:nvSpPr>
          <p:cNvPr id="38" name="Google Shape;38;g2fd5c5f6f66_0_777"/>
          <p:cNvSpPr/>
          <p:nvPr/>
        </p:nvSpPr>
        <p:spPr>
          <a:xfrm>
            <a:off x="0" y="3429000"/>
            <a:ext cx="12192000" cy="342900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39" name="Google Shape;39;g2fd5c5f6f66_0_777"/>
          <p:cNvSpPr txBox="1">
            <a:spLocks noGrp="1"/>
          </p:cNvSpPr>
          <p:nvPr>
            <p:ph type="ctrTitle"/>
          </p:nvPr>
        </p:nvSpPr>
        <p:spPr>
          <a:xfrm>
            <a:off x="0" y="1958978"/>
            <a:ext cx="10363200" cy="1470000"/>
          </a:xfrm>
          <a:prstGeom prst="rect">
            <a:avLst/>
          </a:prstGeom>
          <a:noFill/>
          <a:ln>
            <a:noFill/>
          </a:ln>
        </p:spPr>
        <p:txBody>
          <a:bodyPr spcFirstLastPara="1" wrap="square" lIns="432000"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003366"/>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40" name="Google Shape;40;g2fd5c5f6f66_0_777"/>
          <p:cNvSpPr txBox="1">
            <a:spLocks noGrp="1"/>
          </p:cNvSpPr>
          <p:nvPr>
            <p:ph type="subTitle" idx="1"/>
          </p:nvPr>
        </p:nvSpPr>
        <p:spPr>
          <a:xfrm>
            <a:off x="2" y="3429002"/>
            <a:ext cx="9444600" cy="900000"/>
          </a:xfrm>
          <a:prstGeom prst="rect">
            <a:avLst/>
          </a:prstGeom>
          <a:solidFill>
            <a:srgbClr val="002A54"/>
          </a:solidFill>
          <a:ln>
            <a:noFill/>
          </a:ln>
        </p:spPr>
        <p:txBody>
          <a:bodyPr spcFirstLastPara="1" wrap="square" lIns="432000" tIns="45700" rIns="91425" bIns="45700" anchor="ctr" anchorCtr="0">
            <a:noAutofit/>
          </a:bodyPr>
          <a:lstStyle>
            <a:lvl1pPr marR="0" lvl="0" algn="l" rtl="0">
              <a:lnSpc>
                <a:spcPct val="100000"/>
              </a:lnSpc>
              <a:spcBef>
                <a:spcPts val="200"/>
              </a:spcBef>
              <a:spcAft>
                <a:spcPts val="0"/>
              </a:spcAft>
              <a:buClr>
                <a:srgbClr val="3399CC"/>
              </a:buClr>
              <a:buSzPts val="2200"/>
              <a:buFont typeface="Noto Sans Symbols"/>
              <a:buNone/>
              <a:defRPr sz="2200" b="0" i="0" u="none" strike="noStrike" cap="none">
                <a:solidFill>
                  <a:schemeClr val="lt1"/>
                </a:solidFill>
                <a:latin typeface="Open Sans"/>
                <a:ea typeface="Open Sans"/>
                <a:cs typeface="Open Sans"/>
                <a:sym typeface="Open Sans"/>
              </a:defRPr>
            </a:lvl1pPr>
            <a:lvl2pPr marR="0" lvl="1"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R="0" lvl="2"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R="0" lvl="3"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R="0" lvl="4"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R="0" lvl="5"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R="0" lvl="6"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R="0" lvl="7"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R="0" lvl="8"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pic>
        <p:nvPicPr>
          <p:cNvPr id="41" name="Google Shape;41;g2fd5c5f6f66_0_777" descr="ecl-logo-1"/>
          <p:cNvPicPr preferRelativeResize="0"/>
          <p:nvPr/>
        </p:nvPicPr>
        <p:blipFill rotWithShape="1">
          <a:blip r:embed="rId2">
            <a:alphaModFix/>
          </a:blip>
          <a:srcRect/>
          <a:stretch/>
        </p:blipFill>
        <p:spPr>
          <a:xfrm>
            <a:off x="10808970" y="-447"/>
            <a:ext cx="952500" cy="1047750"/>
          </a:xfrm>
          <a:prstGeom prst="rect">
            <a:avLst/>
          </a:prstGeom>
          <a:noFill/>
          <a:ln>
            <a:noFill/>
          </a:ln>
        </p:spPr>
      </p:pic>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2"/>
        <p:cNvGrpSpPr/>
        <p:nvPr/>
      </p:nvGrpSpPr>
      <p:grpSpPr>
        <a:xfrm>
          <a:off x="0" y="0"/>
          <a:ext cx="0" cy="0"/>
          <a:chOff x="0" y="0"/>
          <a:chExt cx="0" cy="0"/>
        </a:xfrm>
      </p:grpSpPr>
      <p:sp>
        <p:nvSpPr>
          <p:cNvPr id="43" name="Google Shape;43;g2fd5c5f6f66_0_782"/>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44" name="Google Shape;44;g2fd5c5f6f66_0_782"/>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002060"/>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45" name="Google Shape;45;g2fd5c5f6f66_0_782"/>
          <p:cNvSpPr txBox="1"/>
          <p:nvPr/>
        </p:nvSpPr>
        <p:spPr>
          <a:xfrm>
            <a:off x="11881814" y="6660960"/>
            <a:ext cx="261600" cy="153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
              <a:buFont typeface="Arial"/>
              <a:buNone/>
            </a:pPr>
            <a:r>
              <a:rPr lang="en-GB" sz="400" b="0" i="0" u="none" strike="noStrike" cap="none">
                <a:solidFill>
                  <a:srgbClr val="BFBFBF"/>
                </a:solidFill>
                <a:latin typeface="Arial"/>
                <a:ea typeface="Arial"/>
                <a:cs typeface="Arial"/>
                <a:sym typeface="Arial"/>
              </a:rPr>
              <a:t>MS</a:t>
            </a:r>
            <a:endParaRPr sz="400" b="0" i="0" u="none" strike="noStrike" cap="none">
              <a:solidFill>
                <a:srgbClr val="BFBFBF"/>
              </a:solidFill>
              <a:latin typeface="Arial"/>
              <a:ea typeface="Arial"/>
              <a:cs typeface="Arial"/>
              <a:sym typeface="Arial"/>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itle Content Grid">
  <p:cSld name="2_Title Content Grid">
    <p:spTree>
      <p:nvGrpSpPr>
        <p:cNvPr id="1" name="Shape 46"/>
        <p:cNvGrpSpPr/>
        <p:nvPr/>
      </p:nvGrpSpPr>
      <p:grpSpPr>
        <a:xfrm>
          <a:off x="0" y="0"/>
          <a:ext cx="0" cy="0"/>
          <a:chOff x="0" y="0"/>
          <a:chExt cx="0" cy="0"/>
        </a:xfrm>
      </p:grpSpPr>
      <p:pic>
        <p:nvPicPr>
          <p:cNvPr id="47" name="Google Shape;47;g2fd5c5f6f66_0_786"/>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48" name="Google Shape;48;g2fd5c5f6f66_0_786"/>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sp>
        <p:nvSpPr>
          <p:cNvPr id="49" name="Google Shape;49;g2fd5c5f6f66_0_786"/>
          <p:cNvSpPr txBox="1"/>
          <p:nvPr/>
        </p:nvSpPr>
        <p:spPr>
          <a:xfrm>
            <a:off x="-1" y="6581518"/>
            <a:ext cx="12192000" cy="2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8080"/>
              </a:buClr>
              <a:buSzPts val="1000"/>
              <a:buFont typeface="Noto Sans Symbols"/>
              <a:buNone/>
            </a:pPr>
            <a:r>
              <a:rPr lang="en-GB" sz="1000" b="0" i="0" u="none" strike="noStrike" cap="none">
                <a:solidFill>
                  <a:srgbClr val="808080"/>
                </a:solidFill>
                <a:latin typeface="Arial"/>
                <a:ea typeface="Arial"/>
                <a:cs typeface="Arial"/>
                <a:sym typeface="Arial"/>
              </a:rPr>
              <a:t>© EUROCONTROL</a:t>
            </a:r>
            <a:endParaRPr sz="1400" b="0" i="0" u="none" strike="noStrike" cap="none">
              <a:solidFill>
                <a:srgbClr val="000000"/>
              </a:solidFill>
              <a:latin typeface="Arial"/>
              <a:ea typeface="Arial"/>
              <a:cs typeface="Arial"/>
              <a:sym typeface="Arial"/>
            </a:endParaRPr>
          </a:p>
        </p:txBody>
      </p:sp>
      <p:sp>
        <p:nvSpPr>
          <p:cNvPr id="50" name="Google Shape;50;g2fd5c5f6f66_0_786"/>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51" name="Google Shape;51;g2fd5c5f6f66_0_786"/>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002060"/>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1b_Title and Content with Grid_1line">
  <p:cSld name="1_1b_Title and Content with Grid_1line">
    <p:spTree>
      <p:nvGrpSpPr>
        <p:cNvPr id="1" name="Shape 52"/>
        <p:cNvGrpSpPr/>
        <p:nvPr/>
      </p:nvGrpSpPr>
      <p:grpSpPr>
        <a:xfrm>
          <a:off x="0" y="0"/>
          <a:ext cx="0" cy="0"/>
          <a:chOff x="0" y="0"/>
          <a:chExt cx="0" cy="0"/>
        </a:xfrm>
      </p:grpSpPr>
      <p:pic>
        <p:nvPicPr>
          <p:cNvPr id="53" name="Google Shape;53;g2fd5c5f6f66_0_792"/>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54" name="Google Shape;54;g2fd5c5f6f66_0_792"/>
          <p:cNvSpPr txBox="1"/>
          <p:nvPr/>
        </p:nvSpPr>
        <p:spPr>
          <a:xfrm>
            <a:off x="-1" y="6581518"/>
            <a:ext cx="12192000" cy="2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8080"/>
              </a:buClr>
              <a:buSzPts val="1000"/>
              <a:buFont typeface="Noto Sans Symbols"/>
              <a:buNone/>
            </a:pPr>
            <a:r>
              <a:rPr lang="en-GB" sz="1000" b="0" i="0" u="none" strike="noStrike" cap="none">
                <a:solidFill>
                  <a:srgbClr val="808080"/>
                </a:solidFill>
                <a:latin typeface="Arial"/>
                <a:ea typeface="Arial"/>
                <a:cs typeface="Arial"/>
                <a:sym typeface="Arial"/>
              </a:rPr>
              <a:t>© EUROCONTROL</a:t>
            </a:r>
            <a:endParaRPr sz="1400" b="0" i="0" u="none" strike="noStrike" cap="none">
              <a:solidFill>
                <a:srgbClr val="000000"/>
              </a:solidFill>
              <a:latin typeface="Arial"/>
              <a:ea typeface="Arial"/>
              <a:cs typeface="Arial"/>
              <a:sym typeface="Arial"/>
            </a:endParaRPr>
          </a:p>
        </p:txBody>
      </p:sp>
      <p:sp>
        <p:nvSpPr>
          <p:cNvPr id="55" name="Google Shape;55;g2fd5c5f6f66_0_792"/>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56" name="Google Shape;56;g2fd5c5f6f66_0_792"/>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002060"/>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and Content_LARGER FONTS">
  <p:cSld name="3_Title and Content_LARGER FONTS">
    <p:spTree>
      <p:nvGrpSpPr>
        <p:cNvPr id="1" name="Shape 57"/>
        <p:cNvGrpSpPr/>
        <p:nvPr/>
      </p:nvGrpSpPr>
      <p:grpSpPr>
        <a:xfrm>
          <a:off x="0" y="0"/>
          <a:ext cx="0" cy="0"/>
          <a:chOff x="0" y="0"/>
          <a:chExt cx="0" cy="0"/>
        </a:xfrm>
      </p:grpSpPr>
      <p:sp>
        <p:nvSpPr>
          <p:cNvPr id="58" name="Google Shape;58;g2fd5c5f6f66_0_797"/>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59" name="Google Shape;59;g2fd5c5f6f66_0_797"/>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b_Title and Content_LARGER FONTS_with GRID">
  <p:cSld name="3b_Title and Content_LARGER FONTS_with GRID">
    <p:spTree>
      <p:nvGrpSpPr>
        <p:cNvPr id="1" name="Shape 60"/>
        <p:cNvGrpSpPr/>
        <p:nvPr/>
      </p:nvGrpSpPr>
      <p:grpSpPr>
        <a:xfrm>
          <a:off x="0" y="0"/>
          <a:ext cx="0" cy="0"/>
          <a:chOff x="0" y="0"/>
          <a:chExt cx="0" cy="0"/>
        </a:xfrm>
      </p:grpSpPr>
      <p:pic>
        <p:nvPicPr>
          <p:cNvPr id="61" name="Google Shape;61;g2fd5c5f6f66_0_800"/>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62" name="Google Shape;62;g2fd5c5f6f66_0_800"/>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sp>
        <p:nvSpPr>
          <p:cNvPr id="63" name="Google Shape;63;g2fd5c5f6f66_0_800"/>
          <p:cNvSpPr txBox="1"/>
          <p:nvPr/>
        </p:nvSpPr>
        <p:spPr>
          <a:xfrm>
            <a:off x="-1" y="6581518"/>
            <a:ext cx="12192000" cy="2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8080"/>
              </a:buClr>
              <a:buSzPts val="1000"/>
              <a:buFont typeface="Noto Sans Symbols"/>
              <a:buNone/>
            </a:pPr>
            <a:r>
              <a:rPr lang="en-GB" sz="1000" b="0" i="0" u="none" strike="noStrike" cap="none">
                <a:solidFill>
                  <a:srgbClr val="808080"/>
                </a:solidFill>
                <a:latin typeface="Arial"/>
                <a:ea typeface="Arial"/>
                <a:cs typeface="Arial"/>
                <a:sym typeface="Arial"/>
              </a:rPr>
              <a:t>© EUROCONTROL</a:t>
            </a:r>
            <a:endParaRPr sz="1400" b="0" i="0" u="none" strike="noStrike" cap="none">
              <a:solidFill>
                <a:srgbClr val="000000"/>
              </a:solidFill>
              <a:latin typeface="Arial"/>
              <a:ea typeface="Arial"/>
              <a:cs typeface="Arial"/>
              <a:sym typeface="Arial"/>
            </a:endParaRPr>
          </a:p>
        </p:txBody>
      </p:sp>
      <p:sp>
        <p:nvSpPr>
          <p:cNvPr id="64" name="Google Shape;64;g2fd5c5f6f66_0_800"/>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65" name="Google Shape;65;g2fd5c5f6f66_0_800"/>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6"/>
        <p:cNvGrpSpPr/>
        <p:nvPr/>
      </p:nvGrpSpPr>
      <p:grpSpPr>
        <a:xfrm>
          <a:off x="0" y="0"/>
          <a:ext cx="0" cy="0"/>
          <a:chOff x="0" y="0"/>
          <a:chExt cx="0" cy="0"/>
        </a:xfrm>
      </p:grpSpPr>
      <p:sp>
        <p:nvSpPr>
          <p:cNvPr id="67" name="Google Shape;67;g2fd5c5f6f66_0_806"/>
          <p:cNvSpPr/>
          <p:nvPr/>
        </p:nvSpPr>
        <p:spPr>
          <a:xfrm>
            <a:off x="1" y="476253"/>
            <a:ext cx="527100" cy="360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68" name="Google Shape;68;g2fd5c5f6f66_0_806"/>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69" name="Google Shape;69;g2fd5c5f6f66_0_806"/>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70" name="Google Shape;70;g2fd5c5f6f66_0_806"/>
          <p:cNvSpPr txBox="1"/>
          <p:nvPr/>
        </p:nvSpPr>
        <p:spPr>
          <a:xfrm>
            <a:off x="11881814" y="6671846"/>
            <a:ext cx="261600" cy="153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
              <a:buFont typeface="Arial"/>
              <a:buNone/>
            </a:pPr>
            <a:r>
              <a:rPr lang="en-GB" sz="400" b="0" i="0" u="none" strike="noStrike" cap="none">
                <a:solidFill>
                  <a:srgbClr val="BFBFBF"/>
                </a:solidFill>
                <a:latin typeface="Arial"/>
                <a:ea typeface="Arial"/>
                <a:cs typeface="Arial"/>
                <a:sym typeface="Arial"/>
              </a:rPr>
              <a:t>MS</a:t>
            </a:r>
            <a:endParaRPr sz="400" b="0" i="0" u="none" strike="noStrike" cap="none">
              <a:solidFill>
                <a:srgbClr val="BFBFBF"/>
              </a:solidFill>
              <a:latin typeface="Arial"/>
              <a:ea typeface="Arial"/>
              <a:cs typeface="Arial"/>
              <a:sym typeface="Arial"/>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b_Title and Content_no Blue with Grid">
  <p:cSld name="2b_Title and Content_no Blue with Grid">
    <p:spTree>
      <p:nvGrpSpPr>
        <p:cNvPr id="1" name="Shape 71"/>
        <p:cNvGrpSpPr/>
        <p:nvPr/>
      </p:nvGrpSpPr>
      <p:grpSpPr>
        <a:xfrm>
          <a:off x="0" y="0"/>
          <a:ext cx="0" cy="0"/>
          <a:chOff x="0" y="0"/>
          <a:chExt cx="0" cy="0"/>
        </a:xfrm>
      </p:grpSpPr>
      <p:pic>
        <p:nvPicPr>
          <p:cNvPr id="72" name="Google Shape;72;g2fd5c5f6f66_0_811"/>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73" name="Google Shape;73;g2fd5c5f6f66_0_811"/>
          <p:cNvSpPr/>
          <p:nvPr/>
        </p:nvSpPr>
        <p:spPr>
          <a:xfrm>
            <a:off x="1" y="476253"/>
            <a:ext cx="527100" cy="360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74" name="Google Shape;74;g2fd5c5f6f66_0_811"/>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sp>
        <p:nvSpPr>
          <p:cNvPr id="75" name="Google Shape;75;g2fd5c5f6f66_0_811"/>
          <p:cNvSpPr txBox="1"/>
          <p:nvPr/>
        </p:nvSpPr>
        <p:spPr>
          <a:xfrm>
            <a:off x="-1" y="6581518"/>
            <a:ext cx="12192000" cy="2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8080"/>
              </a:buClr>
              <a:buSzPts val="1000"/>
              <a:buFont typeface="Noto Sans Symbols"/>
              <a:buNone/>
            </a:pPr>
            <a:r>
              <a:rPr lang="en-GB" sz="1000" b="0" i="0" u="none" strike="noStrike" cap="none">
                <a:solidFill>
                  <a:srgbClr val="808080"/>
                </a:solidFill>
                <a:latin typeface="Arial"/>
                <a:ea typeface="Arial"/>
                <a:cs typeface="Arial"/>
                <a:sym typeface="Arial"/>
              </a:rPr>
              <a:t>© EUROCONTROL</a:t>
            </a:r>
            <a:endParaRPr sz="1400" b="0" i="0" u="none" strike="noStrike" cap="none">
              <a:solidFill>
                <a:srgbClr val="000000"/>
              </a:solidFill>
              <a:latin typeface="Arial"/>
              <a:ea typeface="Arial"/>
              <a:cs typeface="Arial"/>
              <a:sym typeface="Arial"/>
            </a:endParaRPr>
          </a:p>
        </p:txBody>
      </p:sp>
      <p:sp>
        <p:nvSpPr>
          <p:cNvPr id="76" name="Google Shape;76;g2fd5c5f6f66_0_811"/>
          <p:cNvSpPr txBox="1">
            <a:spLocks noGrp="1"/>
          </p:cNvSpPr>
          <p:nvPr>
            <p:ph type="body" id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77" name="Google Shape;77;g2fd5c5f6f66_0_811"/>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TitleONLY">
  <p:cSld name="5_TitleONLY">
    <p:spTree>
      <p:nvGrpSpPr>
        <p:cNvPr id="1" name="Shape 78"/>
        <p:cNvGrpSpPr/>
        <p:nvPr/>
      </p:nvGrpSpPr>
      <p:grpSpPr>
        <a:xfrm>
          <a:off x="0" y="0"/>
          <a:ext cx="0" cy="0"/>
          <a:chOff x="0" y="0"/>
          <a:chExt cx="0" cy="0"/>
        </a:xfrm>
      </p:grpSpPr>
      <p:sp>
        <p:nvSpPr>
          <p:cNvPr id="79" name="Google Shape;79;g2fd5c5f6f66_0_818"/>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002060"/>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80" name="Google Shape;80;g2fd5c5f6f66_0_818"/>
          <p:cNvSpPr txBox="1"/>
          <p:nvPr/>
        </p:nvSpPr>
        <p:spPr>
          <a:xfrm>
            <a:off x="11881814" y="6671846"/>
            <a:ext cx="261600" cy="153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
              <a:buFont typeface="Arial"/>
              <a:buNone/>
            </a:pPr>
            <a:r>
              <a:rPr lang="en-GB" sz="400" b="0" i="0" u="none" strike="noStrike" cap="none">
                <a:solidFill>
                  <a:srgbClr val="BFBFBF"/>
                </a:solidFill>
                <a:latin typeface="Arial"/>
                <a:ea typeface="Arial"/>
                <a:cs typeface="Arial"/>
                <a:sym typeface="Arial"/>
              </a:rPr>
              <a:t>MS</a:t>
            </a:r>
            <a:endParaRPr sz="400" b="0" i="0" u="none" strike="noStrike" cap="none">
              <a:solidFill>
                <a:srgbClr val="BFBFBF"/>
              </a:solidFill>
              <a:latin typeface="Arial"/>
              <a:ea typeface="Arial"/>
              <a:cs typeface="Arial"/>
              <a:sym typeface="Arial"/>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b_TitleONLY with Grid">
  <p:cSld name="4b_TitleONLY with Grid">
    <p:spTree>
      <p:nvGrpSpPr>
        <p:cNvPr id="1" name="Shape 81"/>
        <p:cNvGrpSpPr/>
        <p:nvPr/>
      </p:nvGrpSpPr>
      <p:grpSpPr>
        <a:xfrm>
          <a:off x="0" y="0"/>
          <a:ext cx="0" cy="0"/>
          <a:chOff x="0" y="0"/>
          <a:chExt cx="0" cy="0"/>
        </a:xfrm>
      </p:grpSpPr>
      <p:pic>
        <p:nvPicPr>
          <p:cNvPr id="82" name="Google Shape;82;g2fd5c5f6f66_0_821"/>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83" name="Google Shape;83;g2fd5c5f6f66_0_821"/>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sp>
        <p:nvSpPr>
          <p:cNvPr id="84" name="Google Shape;84;g2fd5c5f6f66_0_821"/>
          <p:cNvSpPr txBox="1"/>
          <p:nvPr/>
        </p:nvSpPr>
        <p:spPr>
          <a:xfrm>
            <a:off x="-1" y="6581518"/>
            <a:ext cx="12192000" cy="2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8080"/>
              </a:buClr>
              <a:buSzPts val="1000"/>
              <a:buFont typeface="Noto Sans Symbols"/>
              <a:buNone/>
            </a:pPr>
            <a:r>
              <a:rPr lang="en-GB" sz="1000" b="0" i="0" u="none" strike="noStrike" cap="none">
                <a:solidFill>
                  <a:srgbClr val="808080"/>
                </a:solidFill>
                <a:latin typeface="Arial"/>
                <a:ea typeface="Arial"/>
                <a:cs typeface="Arial"/>
                <a:sym typeface="Arial"/>
              </a:rPr>
              <a:t>© EUROCONTROL</a:t>
            </a:r>
            <a:endParaRPr sz="1400" b="0" i="0" u="none" strike="noStrike" cap="none">
              <a:solidFill>
                <a:srgbClr val="000000"/>
              </a:solidFill>
              <a:latin typeface="Arial"/>
              <a:ea typeface="Arial"/>
              <a:cs typeface="Arial"/>
              <a:sym typeface="Arial"/>
            </a:endParaRPr>
          </a:p>
        </p:txBody>
      </p:sp>
      <p:sp>
        <p:nvSpPr>
          <p:cNvPr id="85" name="Google Shape;85;g2fd5c5f6f66_0_821"/>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4b_TitleONLY with Grid">
  <p:cSld name="1_4b_TitleONLY with Grid">
    <p:spTree>
      <p:nvGrpSpPr>
        <p:cNvPr id="1" name="Shape 86"/>
        <p:cNvGrpSpPr/>
        <p:nvPr/>
      </p:nvGrpSpPr>
      <p:grpSpPr>
        <a:xfrm>
          <a:off x="0" y="0"/>
          <a:ext cx="0" cy="0"/>
          <a:chOff x="0" y="0"/>
          <a:chExt cx="0" cy="0"/>
        </a:xfrm>
      </p:grpSpPr>
      <p:pic>
        <p:nvPicPr>
          <p:cNvPr id="87" name="Google Shape;87;g2fd5c5f6f66_0_826"/>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88" name="Google Shape;88;g2fd5c5f6f66_0_826"/>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sp>
        <p:nvSpPr>
          <p:cNvPr id="89" name="Google Shape;89;g2fd5c5f6f66_0_826"/>
          <p:cNvSpPr txBox="1"/>
          <p:nvPr/>
        </p:nvSpPr>
        <p:spPr>
          <a:xfrm>
            <a:off x="-1" y="6581518"/>
            <a:ext cx="12192000" cy="2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8080"/>
              </a:buClr>
              <a:buSzPts val="1000"/>
              <a:buFont typeface="Noto Sans Symbols"/>
              <a:buNone/>
            </a:pPr>
            <a:r>
              <a:rPr lang="en-GB" sz="1000" b="0" i="0" u="none" strike="noStrike" cap="none">
                <a:solidFill>
                  <a:srgbClr val="808080"/>
                </a:solidFill>
                <a:latin typeface="Arial"/>
                <a:ea typeface="Arial"/>
                <a:cs typeface="Arial"/>
                <a:sym typeface="Arial"/>
              </a:rPr>
              <a:t>© EUROCONTROL</a:t>
            </a:r>
            <a:endParaRPr sz="1400" b="0" i="0" u="none" strike="noStrike" cap="none">
              <a:solidFill>
                <a:srgbClr val="000000"/>
              </a:solidFill>
              <a:latin typeface="Arial"/>
              <a:ea typeface="Arial"/>
              <a:cs typeface="Arial"/>
              <a:sym typeface="Arial"/>
            </a:endParaRPr>
          </a:p>
        </p:txBody>
      </p:sp>
      <p:sp>
        <p:nvSpPr>
          <p:cNvPr id="90" name="Google Shape;90;g2fd5c5f6f66_0_826"/>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1"/>
        <p:cNvGrpSpPr/>
        <p:nvPr/>
      </p:nvGrpSpPr>
      <p:grpSpPr>
        <a:xfrm>
          <a:off x="0" y="0"/>
          <a:ext cx="0" cy="0"/>
          <a:chOff x="0" y="0"/>
          <a:chExt cx="0" cy="0"/>
        </a:xfrm>
      </p:grpSpPr>
      <p:sp>
        <p:nvSpPr>
          <p:cNvPr id="92" name="Google Shape;92;g2fd5c5f6f66_0_831"/>
          <p:cNvSpPr/>
          <p:nvPr/>
        </p:nvSpPr>
        <p:spPr>
          <a:xfrm>
            <a:off x="1" y="476253"/>
            <a:ext cx="527100" cy="360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93" name="Google Shape;93;g2fd5c5f6f66_0_831"/>
          <p:cNvSpPr txBox="1"/>
          <p:nvPr/>
        </p:nvSpPr>
        <p:spPr>
          <a:xfrm>
            <a:off x="11884481" y="6606179"/>
            <a:ext cx="234300" cy="18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
              <a:buFont typeface="Arial"/>
              <a:buNone/>
            </a:pPr>
            <a:r>
              <a:rPr lang="en-GB" sz="300" b="0" i="0" u="none" strike="noStrike" cap="none">
                <a:solidFill>
                  <a:srgbClr val="A5A5A5"/>
                </a:solidFill>
                <a:latin typeface="Open Sans"/>
                <a:ea typeface="Open Sans"/>
                <a:cs typeface="Open Sans"/>
                <a:sym typeface="Open Sans"/>
              </a:rPr>
              <a:t>MS</a:t>
            </a:r>
            <a:endParaRPr sz="300" b="0" i="0" u="none" strike="noStrike" cap="none">
              <a:solidFill>
                <a:srgbClr val="A5A5A5"/>
              </a:solidFill>
              <a:latin typeface="Open Sans"/>
              <a:ea typeface="Open Sans"/>
              <a:cs typeface="Open Sans"/>
              <a:sym typeface="Open Sans"/>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4"/>
        <p:cNvGrpSpPr/>
        <p:nvPr/>
      </p:nvGrpSpPr>
      <p:grpSpPr>
        <a:xfrm>
          <a:off x="0" y="0"/>
          <a:ext cx="0" cy="0"/>
          <a:chOff x="0" y="0"/>
          <a:chExt cx="0" cy="0"/>
        </a:xfrm>
      </p:grpSpPr>
      <p:pic>
        <p:nvPicPr>
          <p:cNvPr id="95" name="Google Shape;95;g2fd5c5f6f66_0_834"/>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96" name="Google Shape;96;g2fd5c5f6f66_0_834"/>
          <p:cNvSpPr/>
          <p:nvPr/>
        </p:nvSpPr>
        <p:spPr>
          <a:xfrm>
            <a:off x="1" y="476253"/>
            <a:ext cx="527100" cy="360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97" name="Google Shape;97;g2fd5c5f6f66_0_834"/>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inear background with ttl">
  <p:cSld name="Linear background with ttl">
    <p:spTree>
      <p:nvGrpSpPr>
        <p:cNvPr id="1" name="Shape 98"/>
        <p:cNvGrpSpPr/>
        <p:nvPr/>
      </p:nvGrpSpPr>
      <p:grpSpPr>
        <a:xfrm>
          <a:off x="0" y="0"/>
          <a:ext cx="0" cy="0"/>
          <a:chOff x="0" y="0"/>
          <a:chExt cx="0" cy="0"/>
        </a:xfrm>
      </p:grpSpPr>
      <p:pic>
        <p:nvPicPr>
          <p:cNvPr id="99" name="Google Shape;99;g2fd5c5f6f66_0_838"/>
          <p:cNvPicPr preferRelativeResize="0"/>
          <p:nvPr/>
        </p:nvPicPr>
        <p:blipFill rotWithShape="1">
          <a:blip r:embed="rId2">
            <a:alphaModFix amt="11000"/>
          </a:blip>
          <a:srcRect/>
          <a:stretch/>
        </p:blipFill>
        <p:spPr>
          <a:xfrm>
            <a:off x="0" y="-1825966"/>
            <a:ext cx="13776850" cy="8678161"/>
          </a:xfrm>
          <a:prstGeom prst="rect">
            <a:avLst/>
          </a:prstGeom>
          <a:noFill/>
          <a:ln>
            <a:noFill/>
          </a:ln>
        </p:spPr>
      </p:pic>
      <p:sp>
        <p:nvSpPr>
          <p:cNvPr id="100" name="Google Shape;100;g2fd5c5f6f66_0_838"/>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1"/>
        <p:cNvGrpSpPr/>
        <p:nvPr/>
      </p:nvGrpSpPr>
      <p:grpSpPr>
        <a:xfrm>
          <a:off x="0" y="0"/>
          <a:ext cx="0" cy="0"/>
          <a:chOff x="0" y="0"/>
          <a:chExt cx="0" cy="0"/>
        </a:xfrm>
      </p:grpSpPr>
      <p:sp>
        <p:nvSpPr>
          <p:cNvPr id="102" name="Google Shape;102;g2fd5c5f6f66_0_841"/>
          <p:cNvSpPr/>
          <p:nvPr/>
        </p:nvSpPr>
        <p:spPr>
          <a:xfrm>
            <a:off x="0" y="404813"/>
            <a:ext cx="575700" cy="431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3" name="Google Shape;103;g2fd5c5f6f66_0_841"/>
          <p:cNvSpPr/>
          <p:nvPr/>
        </p:nvSpPr>
        <p:spPr>
          <a:xfrm>
            <a:off x="0" y="4292600"/>
            <a:ext cx="12192000" cy="256530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4" name="Google Shape;104;g2fd5c5f6f66_0_841"/>
          <p:cNvSpPr txBox="1">
            <a:spLocks noGrp="1"/>
          </p:cNvSpPr>
          <p:nvPr>
            <p:ph type="ctrTitle"/>
          </p:nvPr>
        </p:nvSpPr>
        <p:spPr>
          <a:xfrm>
            <a:off x="-48683" y="2852937"/>
            <a:ext cx="10363200" cy="1470000"/>
          </a:xfrm>
          <a:prstGeom prst="rect">
            <a:avLst/>
          </a:prstGeom>
          <a:noFill/>
          <a:ln>
            <a:noFill/>
          </a:ln>
        </p:spPr>
        <p:txBody>
          <a:bodyPr spcFirstLastPara="1" wrap="square" lIns="432000"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003366"/>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105" name="Google Shape;105;g2fd5c5f6f66_0_841"/>
          <p:cNvSpPr txBox="1">
            <a:spLocks noGrp="1"/>
          </p:cNvSpPr>
          <p:nvPr>
            <p:ph type="subTitle" idx="1"/>
          </p:nvPr>
        </p:nvSpPr>
        <p:spPr>
          <a:xfrm>
            <a:off x="2" y="4293099"/>
            <a:ext cx="9444600" cy="660000"/>
          </a:xfrm>
          <a:prstGeom prst="rect">
            <a:avLst/>
          </a:prstGeom>
          <a:solidFill>
            <a:srgbClr val="002A54"/>
          </a:solidFill>
          <a:ln>
            <a:noFill/>
          </a:ln>
        </p:spPr>
        <p:txBody>
          <a:bodyPr spcFirstLastPara="1" wrap="square" lIns="432000" tIns="45700" rIns="91425" bIns="45700" anchor="ctr" anchorCtr="0">
            <a:noAutofit/>
          </a:bodyPr>
          <a:lstStyle>
            <a:lvl1pPr marR="0" lvl="0" algn="l" rtl="0">
              <a:lnSpc>
                <a:spcPct val="100000"/>
              </a:lnSpc>
              <a:spcBef>
                <a:spcPts val="200"/>
              </a:spcBef>
              <a:spcAft>
                <a:spcPts val="0"/>
              </a:spcAft>
              <a:buClr>
                <a:srgbClr val="3399CC"/>
              </a:buClr>
              <a:buSzPts val="2200"/>
              <a:buFont typeface="Noto Sans Symbols"/>
              <a:buNone/>
              <a:defRPr sz="2200" b="0" i="0" u="none" strike="noStrike" cap="none">
                <a:solidFill>
                  <a:schemeClr val="lt1"/>
                </a:solidFill>
                <a:latin typeface="Open Sans"/>
                <a:ea typeface="Open Sans"/>
                <a:cs typeface="Open Sans"/>
                <a:sym typeface="Open Sans"/>
              </a:defRPr>
            </a:lvl1pPr>
            <a:lvl2pPr marR="0" lvl="1"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R="0" lvl="2"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R="0" lvl="3"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R="0" lvl="4"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R="0" lvl="5"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R="0" lvl="6"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R="0" lvl="7"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R="0" lvl="8"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Section Header_single row text">
  <p:cSld name="2_Section Header_single row text">
    <p:spTree>
      <p:nvGrpSpPr>
        <p:cNvPr id="1" name="Shape 106"/>
        <p:cNvGrpSpPr/>
        <p:nvPr/>
      </p:nvGrpSpPr>
      <p:grpSpPr>
        <a:xfrm>
          <a:off x="0" y="0"/>
          <a:ext cx="0" cy="0"/>
          <a:chOff x="0" y="0"/>
          <a:chExt cx="0" cy="0"/>
        </a:xfrm>
      </p:grpSpPr>
      <p:sp>
        <p:nvSpPr>
          <p:cNvPr id="107" name="Google Shape;107;g2fd5c5f6f66_0_846"/>
          <p:cNvSpPr/>
          <p:nvPr/>
        </p:nvSpPr>
        <p:spPr>
          <a:xfrm>
            <a:off x="0" y="404813"/>
            <a:ext cx="575700" cy="431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cxnSp>
        <p:nvCxnSpPr>
          <p:cNvPr id="108" name="Google Shape;108;g2fd5c5f6f66_0_846"/>
          <p:cNvCxnSpPr/>
          <p:nvPr/>
        </p:nvCxnSpPr>
        <p:spPr>
          <a:xfrm>
            <a:off x="0" y="2724150"/>
            <a:ext cx="12192000" cy="0"/>
          </a:xfrm>
          <a:prstGeom prst="straightConnector1">
            <a:avLst/>
          </a:prstGeom>
          <a:noFill/>
          <a:ln w="19050" cap="flat" cmpd="sng">
            <a:solidFill>
              <a:schemeClr val="accent2"/>
            </a:solidFill>
            <a:prstDash val="solid"/>
            <a:round/>
            <a:headEnd type="none" w="sm" len="sm"/>
            <a:tailEnd type="none" w="sm" len="sm"/>
          </a:ln>
        </p:spPr>
      </p:cxnSp>
      <p:cxnSp>
        <p:nvCxnSpPr>
          <p:cNvPr id="109" name="Google Shape;109;g2fd5c5f6f66_0_846"/>
          <p:cNvCxnSpPr/>
          <p:nvPr/>
        </p:nvCxnSpPr>
        <p:spPr>
          <a:xfrm>
            <a:off x="0" y="4219575"/>
            <a:ext cx="12192000" cy="0"/>
          </a:xfrm>
          <a:prstGeom prst="straightConnector1">
            <a:avLst/>
          </a:prstGeom>
          <a:noFill/>
          <a:ln w="19050" cap="flat" cmpd="sng">
            <a:solidFill>
              <a:schemeClr val="accent2"/>
            </a:solidFill>
            <a:prstDash val="solid"/>
            <a:round/>
            <a:headEnd type="none" w="sm" len="sm"/>
            <a:tailEnd type="none" w="sm" len="sm"/>
          </a:ln>
        </p:spPr>
      </p:cxn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Section Header_double row Text">
  <p:cSld name="3_Section Header_double row Text">
    <p:spTree>
      <p:nvGrpSpPr>
        <p:cNvPr id="1" name="Shape 110"/>
        <p:cNvGrpSpPr/>
        <p:nvPr/>
      </p:nvGrpSpPr>
      <p:grpSpPr>
        <a:xfrm>
          <a:off x="0" y="0"/>
          <a:ext cx="0" cy="0"/>
          <a:chOff x="0" y="0"/>
          <a:chExt cx="0" cy="0"/>
        </a:xfrm>
      </p:grpSpPr>
      <p:sp>
        <p:nvSpPr>
          <p:cNvPr id="111" name="Google Shape;111;g2fd5c5f6f66_0_850"/>
          <p:cNvSpPr/>
          <p:nvPr/>
        </p:nvSpPr>
        <p:spPr>
          <a:xfrm>
            <a:off x="0" y="404813"/>
            <a:ext cx="575700" cy="431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cxnSp>
        <p:nvCxnSpPr>
          <p:cNvPr id="112" name="Google Shape;112;g2fd5c5f6f66_0_850"/>
          <p:cNvCxnSpPr/>
          <p:nvPr/>
        </p:nvCxnSpPr>
        <p:spPr>
          <a:xfrm>
            <a:off x="0" y="2724150"/>
            <a:ext cx="12192000" cy="0"/>
          </a:xfrm>
          <a:prstGeom prst="straightConnector1">
            <a:avLst/>
          </a:prstGeom>
          <a:noFill/>
          <a:ln w="19050" cap="flat" cmpd="sng">
            <a:solidFill>
              <a:schemeClr val="accent2"/>
            </a:solidFill>
            <a:prstDash val="solid"/>
            <a:round/>
            <a:headEnd type="none" w="sm" len="sm"/>
            <a:tailEnd type="none" w="sm" len="sm"/>
          </a:ln>
        </p:spPr>
      </p:cxnSp>
      <p:cxnSp>
        <p:nvCxnSpPr>
          <p:cNvPr id="113" name="Google Shape;113;g2fd5c5f6f66_0_850"/>
          <p:cNvCxnSpPr/>
          <p:nvPr/>
        </p:nvCxnSpPr>
        <p:spPr>
          <a:xfrm>
            <a:off x="0" y="4219575"/>
            <a:ext cx="12192000" cy="0"/>
          </a:xfrm>
          <a:prstGeom prst="straightConnector1">
            <a:avLst/>
          </a:prstGeom>
          <a:noFill/>
          <a:ln w="19050" cap="flat" cmpd="sng">
            <a:solidFill>
              <a:schemeClr val="accent2"/>
            </a:solidFill>
            <a:prstDash val="solid"/>
            <a:round/>
            <a:headEnd type="none" w="sm" len="sm"/>
            <a:tailEnd type="none" w="sm" len="sm"/>
          </a:ln>
        </p:spPr>
      </p:cxnSp>
      <p:sp>
        <p:nvSpPr>
          <p:cNvPr id="114" name="Google Shape;114;g2fd5c5f6f66_0_850"/>
          <p:cNvSpPr txBox="1">
            <a:spLocks noGrp="1"/>
          </p:cNvSpPr>
          <p:nvPr>
            <p:ph type="title"/>
          </p:nvPr>
        </p:nvSpPr>
        <p:spPr>
          <a:xfrm>
            <a:off x="304800" y="3068960"/>
            <a:ext cx="11112600" cy="108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15"/>
        <p:cNvGrpSpPr/>
        <p:nvPr/>
      </p:nvGrpSpPr>
      <p:grpSpPr>
        <a:xfrm>
          <a:off x="0" y="0"/>
          <a:ext cx="0" cy="0"/>
          <a:chOff x="0" y="0"/>
          <a:chExt cx="0" cy="0"/>
        </a:xfrm>
      </p:grpSpPr>
      <p:sp>
        <p:nvSpPr>
          <p:cNvPr id="116" name="Google Shape;116;g2fd5c5f6f66_0_855"/>
          <p:cNvSpPr txBox="1">
            <a:spLocks noGrp="1"/>
          </p:cNvSpPr>
          <p:nvPr>
            <p:ph type="body" idx="1"/>
          </p:nvPr>
        </p:nvSpPr>
        <p:spPr>
          <a:xfrm>
            <a:off x="609600" y="1614488"/>
            <a:ext cx="5384700" cy="4503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Open Sans"/>
                <a:ea typeface="Open Sans"/>
                <a:cs typeface="Open Sans"/>
                <a:sym typeface="Open Sans"/>
              </a:defRPr>
            </a:lvl1pPr>
            <a:lvl2pPr marL="914400" marR="0" lvl="1" indent="-342900" algn="l" rtl="0">
              <a:lnSpc>
                <a:spcPct val="100000"/>
              </a:lnSpc>
              <a:spcBef>
                <a:spcPts val="200"/>
              </a:spcBef>
              <a:spcAft>
                <a:spcPts val="0"/>
              </a:spcAft>
              <a:buClr>
                <a:schemeClr val="accent2"/>
              </a:buClr>
              <a:buSzPts val="1800"/>
              <a:buFont typeface="Arial"/>
              <a:buChar char="•"/>
              <a:defRPr sz="1800" b="0" i="0" u="none" strike="noStrike" cap="none">
                <a:solidFill>
                  <a:schemeClr val="dk1"/>
                </a:solidFill>
                <a:latin typeface="Open Sans"/>
                <a:ea typeface="Open Sans"/>
                <a:cs typeface="Open Sans"/>
                <a:sym typeface="Open Sans"/>
              </a:defRPr>
            </a:lvl2pPr>
            <a:lvl3pPr marL="1371600" marR="0" lvl="2" indent="-330200" algn="l" rtl="0">
              <a:lnSpc>
                <a:spcPct val="100000"/>
              </a:lnSpc>
              <a:spcBef>
                <a:spcPts val="200"/>
              </a:spcBef>
              <a:spcAft>
                <a:spcPts val="0"/>
              </a:spcAft>
              <a:buClr>
                <a:schemeClr val="dk1"/>
              </a:buClr>
              <a:buSzPts val="1600"/>
              <a:buFont typeface="Open Sans"/>
              <a:buChar char="–"/>
              <a:defRPr sz="16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200"/>
              </a:spcBef>
              <a:spcAft>
                <a:spcPts val="0"/>
              </a:spcAft>
              <a:buClr>
                <a:schemeClr val="dk1"/>
              </a:buClr>
              <a:buSzPts val="1400"/>
              <a:buFont typeface="Courier New"/>
              <a:buChar char="o"/>
              <a:defRPr sz="1400" b="0"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2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5pPr>
            <a:lvl6pPr marL="2743200" marR="0" lvl="5"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117" name="Google Shape;117;g2fd5c5f6f66_0_855"/>
          <p:cNvSpPr txBox="1">
            <a:spLocks noGrp="1"/>
          </p:cNvSpPr>
          <p:nvPr>
            <p:ph type="body" idx="2"/>
          </p:nvPr>
        </p:nvSpPr>
        <p:spPr>
          <a:xfrm>
            <a:off x="6197600" y="1614488"/>
            <a:ext cx="5384700" cy="4503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Open Sans"/>
                <a:ea typeface="Open Sans"/>
                <a:cs typeface="Open Sans"/>
                <a:sym typeface="Open Sans"/>
              </a:defRPr>
            </a:lvl1pPr>
            <a:lvl2pPr marL="914400" marR="0" lvl="1" indent="-342900" algn="l" rtl="0">
              <a:lnSpc>
                <a:spcPct val="100000"/>
              </a:lnSpc>
              <a:spcBef>
                <a:spcPts val="200"/>
              </a:spcBef>
              <a:spcAft>
                <a:spcPts val="0"/>
              </a:spcAft>
              <a:buClr>
                <a:schemeClr val="accent2"/>
              </a:buClr>
              <a:buSzPts val="1800"/>
              <a:buFont typeface="Arial"/>
              <a:buChar char="•"/>
              <a:defRPr sz="1800" b="0" i="0" u="none" strike="noStrike" cap="none">
                <a:solidFill>
                  <a:schemeClr val="dk1"/>
                </a:solidFill>
                <a:latin typeface="Open Sans"/>
                <a:ea typeface="Open Sans"/>
                <a:cs typeface="Open Sans"/>
                <a:sym typeface="Open Sans"/>
              </a:defRPr>
            </a:lvl2pPr>
            <a:lvl3pPr marL="1371600" marR="0" lvl="2" indent="-330200" algn="l" rtl="0">
              <a:lnSpc>
                <a:spcPct val="100000"/>
              </a:lnSpc>
              <a:spcBef>
                <a:spcPts val="200"/>
              </a:spcBef>
              <a:spcAft>
                <a:spcPts val="0"/>
              </a:spcAft>
              <a:buClr>
                <a:schemeClr val="dk1"/>
              </a:buClr>
              <a:buSzPts val="1600"/>
              <a:buFont typeface="Open Sans"/>
              <a:buChar char="–"/>
              <a:defRPr sz="16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200"/>
              </a:spcBef>
              <a:spcAft>
                <a:spcPts val="0"/>
              </a:spcAft>
              <a:buClr>
                <a:schemeClr val="dk1"/>
              </a:buClr>
              <a:buSzPts val="1400"/>
              <a:buFont typeface="Courier New"/>
              <a:buChar char="o"/>
              <a:defRPr sz="1400" b="0" i="0" u="none" strike="noStrike" cap="none">
                <a:solidFill>
                  <a:schemeClr val="dk1"/>
                </a:solidFill>
                <a:latin typeface="Open Sans"/>
                <a:ea typeface="Open Sans"/>
                <a:cs typeface="Open Sans"/>
                <a:sym typeface="Open Sans"/>
              </a:defRPr>
            </a:lvl4pPr>
            <a:lvl5pPr marL="2286000" marR="0" lvl="4" indent="-298450" algn="l" rtl="0">
              <a:lnSpc>
                <a:spcPct val="100000"/>
              </a:lnSpc>
              <a:spcBef>
                <a:spcPts val="200"/>
              </a:spcBef>
              <a:spcAft>
                <a:spcPts val="0"/>
              </a:spcAft>
              <a:buClr>
                <a:schemeClr val="dk1"/>
              </a:buClr>
              <a:buSzPts val="1100"/>
              <a:buFont typeface="Open Sans"/>
              <a:buChar char="»"/>
              <a:defRPr sz="1100" b="0" i="0" u="none" strike="noStrike" cap="none">
                <a:solidFill>
                  <a:schemeClr val="dk1"/>
                </a:solidFill>
                <a:latin typeface="Open Sans"/>
                <a:ea typeface="Open Sans"/>
                <a:cs typeface="Open Sans"/>
                <a:sym typeface="Open Sans"/>
              </a:defRPr>
            </a:lvl5pPr>
            <a:lvl6pPr marL="2743200" marR="0" lvl="5"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118" name="Google Shape;118;g2fd5c5f6f66_0_855"/>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b_Two Content_with GRID">
  <p:cSld name="1b_Two Content_with GRID">
    <p:spTree>
      <p:nvGrpSpPr>
        <p:cNvPr id="1" name="Shape 119"/>
        <p:cNvGrpSpPr/>
        <p:nvPr/>
      </p:nvGrpSpPr>
      <p:grpSpPr>
        <a:xfrm>
          <a:off x="0" y="0"/>
          <a:ext cx="0" cy="0"/>
          <a:chOff x="0" y="0"/>
          <a:chExt cx="0" cy="0"/>
        </a:xfrm>
      </p:grpSpPr>
      <p:pic>
        <p:nvPicPr>
          <p:cNvPr id="120" name="Google Shape;120;g2fd5c5f6f66_0_859"/>
          <p:cNvPicPr preferRelativeResize="0"/>
          <p:nvPr/>
        </p:nvPicPr>
        <p:blipFill rotWithShape="1">
          <a:blip r:embed="rId2">
            <a:alphaModFix/>
          </a:blip>
          <a:srcRect/>
          <a:stretch/>
        </p:blipFill>
        <p:spPr>
          <a:xfrm>
            <a:off x="0" y="1116013"/>
            <a:ext cx="12192000" cy="5745162"/>
          </a:xfrm>
          <a:prstGeom prst="rect">
            <a:avLst/>
          </a:prstGeom>
          <a:noFill/>
          <a:ln>
            <a:noFill/>
          </a:ln>
        </p:spPr>
      </p:pic>
      <p:sp>
        <p:nvSpPr>
          <p:cNvPr id="121" name="Google Shape;121;g2fd5c5f6f66_0_859"/>
          <p:cNvSpPr txBox="1">
            <a:spLocks noGrp="1"/>
          </p:cNvSpPr>
          <p:nvPr>
            <p:ph type="body" idx="1"/>
          </p:nvPr>
        </p:nvSpPr>
        <p:spPr>
          <a:xfrm>
            <a:off x="609600" y="1614488"/>
            <a:ext cx="5384700" cy="4503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Open Sans"/>
                <a:ea typeface="Open Sans"/>
                <a:cs typeface="Open Sans"/>
                <a:sym typeface="Open Sans"/>
              </a:defRPr>
            </a:lvl1pPr>
            <a:lvl2pPr marL="914400" marR="0" lvl="1" indent="-342900" algn="l" rtl="0">
              <a:lnSpc>
                <a:spcPct val="100000"/>
              </a:lnSpc>
              <a:spcBef>
                <a:spcPts val="200"/>
              </a:spcBef>
              <a:spcAft>
                <a:spcPts val="0"/>
              </a:spcAft>
              <a:buClr>
                <a:schemeClr val="accent2"/>
              </a:buClr>
              <a:buSzPts val="1800"/>
              <a:buFont typeface="Arial"/>
              <a:buChar char="•"/>
              <a:defRPr sz="1800" b="0" i="0" u="none" strike="noStrike" cap="none">
                <a:solidFill>
                  <a:schemeClr val="dk1"/>
                </a:solidFill>
                <a:latin typeface="Open Sans"/>
                <a:ea typeface="Open Sans"/>
                <a:cs typeface="Open Sans"/>
                <a:sym typeface="Open Sans"/>
              </a:defRPr>
            </a:lvl2pPr>
            <a:lvl3pPr marL="1371600" marR="0" lvl="2" indent="-330200" algn="l" rtl="0">
              <a:lnSpc>
                <a:spcPct val="100000"/>
              </a:lnSpc>
              <a:spcBef>
                <a:spcPts val="200"/>
              </a:spcBef>
              <a:spcAft>
                <a:spcPts val="0"/>
              </a:spcAft>
              <a:buClr>
                <a:schemeClr val="dk1"/>
              </a:buClr>
              <a:buSzPts val="1600"/>
              <a:buFont typeface="Open Sans"/>
              <a:buChar char="–"/>
              <a:defRPr sz="16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200"/>
              </a:spcBef>
              <a:spcAft>
                <a:spcPts val="0"/>
              </a:spcAft>
              <a:buClr>
                <a:schemeClr val="dk1"/>
              </a:buClr>
              <a:buSzPts val="1400"/>
              <a:buFont typeface="Courier New"/>
              <a:buChar char="o"/>
              <a:defRPr sz="1400" b="0"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2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5pPr>
            <a:lvl6pPr marL="2743200" marR="0" lvl="5"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122" name="Google Shape;122;g2fd5c5f6f66_0_859"/>
          <p:cNvSpPr txBox="1">
            <a:spLocks noGrp="1"/>
          </p:cNvSpPr>
          <p:nvPr>
            <p:ph type="body" idx="2"/>
          </p:nvPr>
        </p:nvSpPr>
        <p:spPr>
          <a:xfrm>
            <a:off x="6197600" y="1614488"/>
            <a:ext cx="5384700" cy="4503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Open Sans"/>
                <a:ea typeface="Open Sans"/>
                <a:cs typeface="Open Sans"/>
                <a:sym typeface="Open Sans"/>
              </a:defRPr>
            </a:lvl1pPr>
            <a:lvl2pPr marL="914400" marR="0" lvl="1" indent="-342900" algn="l" rtl="0">
              <a:lnSpc>
                <a:spcPct val="100000"/>
              </a:lnSpc>
              <a:spcBef>
                <a:spcPts val="200"/>
              </a:spcBef>
              <a:spcAft>
                <a:spcPts val="0"/>
              </a:spcAft>
              <a:buClr>
                <a:schemeClr val="accent2"/>
              </a:buClr>
              <a:buSzPts val="1800"/>
              <a:buFont typeface="Arial"/>
              <a:buChar char="•"/>
              <a:defRPr sz="1800" b="0" i="0" u="none" strike="noStrike" cap="none">
                <a:solidFill>
                  <a:schemeClr val="dk1"/>
                </a:solidFill>
                <a:latin typeface="Open Sans"/>
                <a:ea typeface="Open Sans"/>
                <a:cs typeface="Open Sans"/>
                <a:sym typeface="Open Sans"/>
              </a:defRPr>
            </a:lvl2pPr>
            <a:lvl3pPr marL="1371600" marR="0" lvl="2" indent="-330200" algn="l" rtl="0">
              <a:lnSpc>
                <a:spcPct val="100000"/>
              </a:lnSpc>
              <a:spcBef>
                <a:spcPts val="200"/>
              </a:spcBef>
              <a:spcAft>
                <a:spcPts val="0"/>
              </a:spcAft>
              <a:buClr>
                <a:schemeClr val="dk1"/>
              </a:buClr>
              <a:buSzPts val="1600"/>
              <a:buFont typeface="Open Sans"/>
              <a:buChar char="–"/>
              <a:defRPr sz="16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200"/>
              </a:spcBef>
              <a:spcAft>
                <a:spcPts val="0"/>
              </a:spcAft>
              <a:buClr>
                <a:schemeClr val="dk1"/>
              </a:buClr>
              <a:buSzPts val="1400"/>
              <a:buFont typeface="Courier New"/>
              <a:buChar char="o"/>
              <a:defRPr sz="1400" b="0" i="0" u="none" strike="noStrike" cap="none">
                <a:solidFill>
                  <a:schemeClr val="dk1"/>
                </a:solidFill>
                <a:latin typeface="Open Sans"/>
                <a:ea typeface="Open Sans"/>
                <a:cs typeface="Open Sans"/>
                <a:sym typeface="Open Sans"/>
              </a:defRPr>
            </a:lvl4pPr>
            <a:lvl5pPr marL="2286000" marR="0" lvl="4" indent="-298450" algn="l" rtl="0">
              <a:lnSpc>
                <a:spcPct val="100000"/>
              </a:lnSpc>
              <a:spcBef>
                <a:spcPts val="200"/>
              </a:spcBef>
              <a:spcAft>
                <a:spcPts val="0"/>
              </a:spcAft>
              <a:buClr>
                <a:schemeClr val="dk1"/>
              </a:buClr>
              <a:buSzPts val="1100"/>
              <a:buFont typeface="Open Sans"/>
              <a:buChar char="»"/>
              <a:defRPr sz="1100" b="0" i="0" u="none" strike="noStrike" cap="none">
                <a:solidFill>
                  <a:schemeClr val="dk1"/>
                </a:solidFill>
                <a:latin typeface="Open Sans"/>
                <a:ea typeface="Open Sans"/>
                <a:cs typeface="Open Sans"/>
                <a:sym typeface="Open Sans"/>
              </a:defRPr>
            </a:lvl5pPr>
            <a:lvl6pPr marL="2743200" marR="0" lvl="5"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rgbClr val="3399CC"/>
              </a:buClr>
              <a:buSzPts val="18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123" name="Google Shape;123;g2fd5c5f6f66_0_859"/>
          <p:cNvSpPr txBox="1">
            <a:spLocks noGrp="1"/>
          </p:cNvSpPr>
          <p:nvPr>
            <p:ph type="sldNum" idx="12"/>
          </p:nvPr>
        </p:nvSpPr>
        <p:spPr>
          <a:xfrm>
            <a:off x="10947400" y="6572253"/>
            <a:ext cx="635100" cy="27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Open Sans"/>
                <a:ea typeface="Open Sans"/>
                <a:cs typeface="Open Sans"/>
                <a:sym typeface="Open Sans"/>
              </a:defRPr>
            </a:lvl9pPr>
          </a:lstStyle>
          <a:p>
            <a:pPr marL="0" lvl="0" indent="0" algn="l" rtl="0">
              <a:spcBef>
                <a:spcPts val="0"/>
              </a:spcBef>
              <a:spcAft>
                <a:spcPts val="0"/>
              </a:spcAft>
              <a:buNone/>
            </a:pPr>
            <a:fld id="{00000000-1234-1234-1234-123412341234}" type="slidenum">
              <a:rPr lang="en-GB"/>
              <a:t>‹#›</a:t>
            </a:fld>
            <a:endParaRPr/>
          </a:p>
        </p:txBody>
      </p:sp>
      <p:sp>
        <p:nvSpPr>
          <p:cNvPr id="124" name="Google Shape;124;g2fd5c5f6f66_0_859"/>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Content, and 2 Content">
  <p:cSld name="Title, Content, and 2 Content">
    <p:spTree>
      <p:nvGrpSpPr>
        <p:cNvPr id="1" name="Shape 125"/>
        <p:cNvGrpSpPr/>
        <p:nvPr/>
      </p:nvGrpSpPr>
      <p:grpSpPr>
        <a:xfrm>
          <a:off x="0" y="0"/>
          <a:ext cx="0" cy="0"/>
          <a:chOff x="0" y="0"/>
          <a:chExt cx="0" cy="0"/>
        </a:xfrm>
      </p:grpSpPr>
      <p:sp>
        <p:nvSpPr>
          <p:cNvPr id="126" name="Google Shape;126;g2fd5c5f6f66_0_865"/>
          <p:cNvSpPr txBox="1">
            <a:spLocks noGrp="1"/>
          </p:cNvSpPr>
          <p:nvPr>
            <p:ph type="body" idx="1"/>
          </p:nvPr>
        </p:nvSpPr>
        <p:spPr>
          <a:xfrm>
            <a:off x="914402" y="1628775"/>
            <a:ext cx="5187900" cy="4876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27" name="Google Shape;127;g2fd5c5f6f66_0_865"/>
          <p:cNvSpPr txBox="1">
            <a:spLocks noGrp="1"/>
          </p:cNvSpPr>
          <p:nvPr>
            <p:ph type="body" idx="2"/>
          </p:nvPr>
        </p:nvSpPr>
        <p:spPr>
          <a:xfrm>
            <a:off x="6305552" y="1628775"/>
            <a:ext cx="5187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28" name="Google Shape;128;g2fd5c5f6f66_0_865"/>
          <p:cNvSpPr txBox="1">
            <a:spLocks noGrp="1"/>
          </p:cNvSpPr>
          <p:nvPr>
            <p:ph type="body" idx="3"/>
          </p:nvPr>
        </p:nvSpPr>
        <p:spPr>
          <a:xfrm>
            <a:off x="6305552" y="4143375"/>
            <a:ext cx="5187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29" name="Google Shape;129;g2fd5c5f6f66_0_865"/>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4 Content">
  <p:cSld name="Title and 4 Content">
    <p:spTree>
      <p:nvGrpSpPr>
        <p:cNvPr id="1" name="Shape 130"/>
        <p:cNvGrpSpPr/>
        <p:nvPr/>
      </p:nvGrpSpPr>
      <p:grpSpPr>
        <a:xfrm>
          <a:off x="0" y="0"/>
          <a:ext cx="0" cy="0"/>
          <a:chOff x="0" y="0"/>
          <a:chExt cx="0" cy="0"/>
        </a:xfrm>
      </p:grpSpPr>
      <p:sp>
        <p:nvSpPr>
          <p:cNvPr id="131" name="Google Shape;131;g2fd5c5f6f66_0_870"/>
          <p:cNvSpPr txBox="1">
            <a:spLocks noGrp="1"/>
          </p:cNvSpPr>
          <p:nvPr>
            <p:ph type="body" idx="1"/>
          </p:nvPr>
        </p:nvSpPr>
        <p:spPr>
          <a:xfrm>
            <a:off x="914402" y="1628775"/>
            <a:ext cx="5187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32" name="Google Shape;132;g2fd5c5f6f66_0_870"/>
          <p:cNvSpPr txBox="1">
            <a:spLocks noGrp="1"/>
          </p:cNvSpPr>
          <p:nvPr>
            <p:ph type="body" idx="2"/>
          </p:nvPr>
        </p:nvSpPr>
        <p:spPr>
          <a:xfrm>
            <a:off x="6305552" y="1628775"/>
            <a:ext cx="5187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33" name="Google Shape;133;g2fd5c5f6f66_0_870"/>
          <p:cNvSpPr txBox="1">
            <a:spLocks noGrp="1"/>
          </p:cNvSpPr>
          <p:nvPr>
            <p:ph type="body" idx="3"/>
          </p:nvPr>
        </p:nvSpPr>
        <p:spPr>
          <a:xfrm>
            <a:off x="914402" y="4143375"/>
            <a:ext cx="5187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34" name="Google Shape;134;g2fd5c5f6f66_0_870"/>
          <p:cNvSpPr txBox="1">
            <a:spLocks noGrp="1"/>
          </p:cNvSpPr>
          <p:nvPr>
            <p:ph type="body" idx="4"/>
          </p:nvPr>
        </p:nvSpPr>
        <p:spPr>
          <a:xfrm>
            <a:off x="6305552" y="4143375"/>
            <a:ext cx="5187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35" name="Google Shape;135;g2fd5c5f6f66_0_870"/>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6"/>
        <p:cNvGrpSpPr/>
        <p:nvPr/>
      </p:nvGrpSpPr>
      <p:grpSpPr>
        <a:xfrm>
          <a:off x="0" y="0"/>
          <a:ext cx="0" cy="0"/>
          <a:chOff x="0" y="0"/>
          <a:chExt cx="0" cy="0"/>
        </a:xfrm>
      </p:grpSpPr>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137"/>
        <p:cNvGrpSpPr/>
        <p:nvPr/>
      </p:nvGrpSpPr>
      <p:grpSpPr>
        <a:xfrm>
          <a:off x="0" y="0"/>
          <a:ext cx="0" cy="0"/>
          <a:chOff x="0" y="0"/>
          <a:chExt cx="0" cy="0"/>
        </a:xfrm>
      </p:grpSpPr>
      <p:sp>
        <p:nvSpPr>
          <p:cNvPr id="138" name="Google Shape;138;g2fd5c5f6f66_0_877"/>
          <p:cNvSpPr>
            <a:spLocks noGrp="1"/>
          </p:cNvSpPr>
          <p:nvPr>
            <p:ph type="tbl" idx="2"/>
          </p:nvPr>
        </p:nvSpPr>
        <p:spPr>
          <a:xfrm>
            <a:off x="914402" y="1628775"/>
            <a:ext cx="10579200" cy="4876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9" name="Google Shape;139;g2fd5c5f6f66_0_877"/>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Clip Art and Text">
  <p:cSld name="Title, Clip Art and Text">
    <p:spTree>
      <p:nvGrpSpPr>
        <p:cNvPr id="1" name="Shape 140"/>
        <p:cNvGrpSpPr/>
        <p:nvPr/>
      </p:nvGrpSpPr>
      <p:grpSpPr>
        <a:xfrm>
          <a:off x="0" y="0"/>
          <a:ext cx="0" cy="0"/>
          <a:chOff x="0" y="0"/>
          <a:chExt cx="0" cy="0"/>
        </a:xfrm>
      </p:grpSpPr>
      <p:sp>
        <p:nvSpPr>
          <p:cNvPr id="141" name="Google Shape;141;g2fd5c5f6f66_0_880"/>
          <p:cNvSpPr/>
          <p:nvPr/>
        </p:nvSpPr>
        <p:spPr>
          <a:xfrm>
            <a:off x="0" y="6318250"/>
            <a:ext cx="12192000" cy="539700"/>
          </a:xfrm>
          <a:prstGeom prst="rect">
            <a:avLst/>
          </a:prstGeom>
          <a:solidFill>
            <a:srgbClr val="F8F8F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g2fd5c5f6f66_0_880"/>
          <p:cNvSpPr>
            <a:spLocks noGrp="1"/>
          </p:cNvSpPr>
          <p:nvPr>
            <p:ph type="clipArt" idx="2"/>
          </p:nvPr>
        </p:nvSpPr>
        <p:spPr>
          <a:xfrm>
            <a:off x="914400" y="2971800"/>
            <a:ext cx="5079900" cy="2362200"/>
          </a:xfrm>
          <a:prstGeom prst="rect">
            <a:avLst/>
          </a:prstGeom>
          <a:noFill/>
          <a:ln>
            <a:noFill/>
          </a:ln>
        </p:spPr>
      </p:sp>
      <p:sp>
        <p:nvSpPr>
          <p:cNvPr id="143" name="Google Shape;143;g2fd5c5f6f66_0_880"/>
          <p:cNvSpPr txBox="1">
            <a:spLocks noGrp="1"/>
          </p:cNvSpPr>
          <p:nvPr>
            <p:ph type="body" idx="1"/>
          </p:nvPr>
        </p:nvSpPr>
        <p:spPr>
          <a:xfrm>
            <a:off x="6197600" y="2971800"/>
            <a:ext cx="5079900" cy="23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000000"/>
              </a:buClr>
              <a:buSzPts val="1400"/>
              <a:buFont typeface="Arial"/>
              <a:buNone/>
              <a:defRPr sz="2200" b="0" i="0" u="none" strike="noStrike" cap="none">
                <a:solidFill>
                  <a:schemeClr val="dk1"/>
                </a:solidFill>
                <a:latin typeface="Open Sans"/>
                <a:ea typeface="Open Sans"/>
                <a:cs typeface="Open Sans"/>
                <a:sym typeface="Open Sans"/>
              </a:defRPr>
            </a:lvl1pPr>
            <a:lvl2pPr marL="914400" marR="0" lvl="1" indent="-355600" algn="l" rtl="0">
              <a:lnSpc>
                <a:spcPct val="100000"/>
              </a:lnSpc>
              <a:spcBef>
                <a:spcPts val="200"/>
              </a:spcBef>
              <a:spcAft>
                <a:spcPts val="0"/>
              </a:spcAft>
              <a:buClr>
                <a:schemeClr val="accent2"/>
              </a:buClr>
              <a:buSzPts val="2000"/>
              <a:buFont typeface="Arial"/>
              <a:buChar char="•"/>
              <a:defRPr sz="2000" b="0" i="0" u="none" strike="noStrike" cap="none">
                <a:solidFill>
                  <a:schemeClr val="dk1"/>
                </a:solidFill>
                <a:latin typeface="Open Sans"/>
                <a:ea typeface="Open Sans"/>
                <a:cs typeface="Open Sans"/>
                <a:sym typeface="Open Sans"/>
              </a:defRPr>
            </a:lvl2pPr>
            <a:lvl3pPr marL="1371600" marR="0" lvl="2" indent="-342900" algn="l" rtl="0">
              <a:lnSpc>
                <a:spcPct val="100000"/>
              </a:lnSpc>
              <a:spcBef>
                <a:spcPts val="2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200"/>
              </a:spcBef>
              <a:spcAft>
                <a:spcPts val="0"/>
              </a:spcAft>
              <a:buClr>
                <a:schemeClr val="dk1"/>
              </a:buClr>
              <a:buSzPts val="1600"/>
              <a:buFont typeface="Courier New"/>
              <a:buChar char="o"/>
              <a:defRPr sz="16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2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240"/>
              </a:spcBef>
              <a:spcAft>
                <a:spcPts val="0"/>
              </a:spcAft>
              <a:buClr>
                <a:srgbClr val="3399CC"/>
              </a:buClr>
              <a:buSzPts val="1200"/>
              <a:buFont typeface="Noto Sans Symbols"/>
              <a:buChar char="▪"/>
              <a:defRPr sz="1200" b="0" i="0" u="none" strike="noStrike" cap="none">
                <a:solidFill>
                  <a:schemeClr val="dk1"/>
                </a:solidFill>
                <a:latin typeface="Arial"/>
                <a:ea typeface="Arial"/>
                <a:cs typeface="Arial"/>
                <a:sym typeface="Arial"/>
              </a:defRPr>
            </a:lvl9pPr>
          </a:lstStyle>
          <a:p>
            <a:endParaRPr/>
          </a:p>
        </p:txBody>
      </p:sp>
      <p:sp>
        <p:nvSpPr>
          <p:cNvPr id="144" name="Google Shape;144;g2fd5c5f6f66_0_880"/>
          <p:cNvSpPr txBox="1">
            <a:spLocks noGrp="1"/>
          </p:cNvSpPr>
          <p:nvPr>
            <p:ph type="sldNum" idx="12"/>
          </p:nvPr>
        </p:nvSpPr>
        <p:spPr>
          <a:xfrm>
            <a:off x="11377084" y="6591303"/>
            <a:ext cx="635100" cy="2700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80808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45" name="Google Shape;145;g2fd5c5f6f66_0_880"/>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5081B5"/>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6"/>
        <p:cNvGrpSpPr/>
        <p:nvPr/>
      </p:nvGrpSpPr>
      <p:grpSpPr>
        <a:xfrm>
          <a:off x="0" y="0"/>
          <a:ext cx="0" cy="0"/>
          <a:chOff x="0" y="0"/>
          <a:chExt cx="0" cy="0"/>
        </a:xfrm>
      </p:grpSpPr>
      <p:sp>
        <p:nvSpPr>
          <p:cNvPr id="147" name="Google Shape;147;g2fd5c5f6f66_0_890"/>
          <p:cNvSpPr txBox="1">
            <a:spLocks noGrp="1"/>
          </p:cNvSpPr>
          <p:nvPr>
            <p:ph type="title"/>
          </p:nvPr>
        </p:nvSpPr>
        <p:spPr>
          <a:xfrm>
            <a:off x="469900" y="400052"/>
            <a:ext cx="9118500" cy="776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sp>
        <p:nvSpPr>
          <p:cNvPr id="148" name="Google Shape;148;g2fd5c5f6f66_0_890"/>
          <p:cNvSpPr txBox="1">
            <a:spLocks noGrp="1"/>
          </p:cNvSpPr>
          <p:nvPr>
            <p:ph type="ftr" idx="11"/>
          </p:nvPr>
        </p:nvSpPr>
        <p:spPr>
          <a:xfrm>
            <a:off x="3308351" y="6572251"/>
            <a:ext cx="5562600" cy="27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9" name="Google Shape;149;g2fd5c5f6f66_0_890"/>
          <p:cNvSpPr txBox="1">
            <a:spLocks noGrp="1"/>
          </p:cNvSpPr>
          <p:nvPr>
            <p:ph type="sldNum" idx="12"/>
          </p:nvPr>
        </p:nvSpPr>
        <p:spPr>
          <a:xfrm>
            <a:off x="10947400" y="6572251"/>
            <a:ext cx="635100" cy="27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7328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b_Title Content_1lineTTL">
  <p:cSld name="1b_Title Content_1lineTTL">
    <p:spTree>
      <p:nvGrpSpPr>
        <p:cNvPr id="1" name="Shape 297"/>
        <p:cNvGrpSpPr/>
        <p:nvPr/>
      </p:nvGrpSpPr>
      <p:grpSpPr>
        <a:xfrm>
          <a:off x="0" y="0"/>
          <a:ext cx="0" cy="0"/>
          <a:chOff x="0" y="0"/>
          <a:chExt cx="0" cy="0"/>
        </a:xfrm>
      </p:grpSpPr>
      <p:pic>
        <p:nvPicPr>
          <p:cNvPr id="298" name="Google Shape;298;g2fb91728ee6_0_246"/>
          <p:cNvPicPr preferRelativeResize="0"/>
          <p:nvPr/>
        </p:nvPicPr>
        <p:blipFill rotWithShape="1">
          <a:blip r:embed="rId2">
            <a:alphaModFix/>
          </a:blip>
          <a:srcRect/>
          <a:stretch/>
        </p:blipFill>
        <p:spPr>
          <a:xfrm>
            <a:off x="11905795" y="6671584"/>
            <a:ext cx="231775" cy="133350"/>
          </a:xfrm>
          <a:prstGeom prst="rect">
            <a:avLst/>
          </a:prstGeom>
          <a:noFill/>
          <a:ln>
            <a:noFill/>
          </a:ln>
        </p:spPr>
      </p:pic>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299"/>
        <p:cNvGrpSpPr/>
        <p:nvPr/>
      </p:nvGrpSpPr>
      <p:grpSpPr>
        <a:xfrm>
          <a:off x="0" y="0"/>
          <a:ext cx="0" cy="0"/>
          <a:chOff x="0" y="0"/>
          <a:chExt cx="0" cy="0"/>
        </a:xfrm>
      </p:grpSpPr>
      <p:sp>
        <p:nvSpPr>
          <p:cNvPr id="300" name="Google Shape;300;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1" name="Google Shape;301;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2" name="Google Shape;30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3" name="Google Shape;30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05"/>
        <p:cNvGrpSpPr/>
        <p:nvPr/>
      </p:nvGrpSpPr>
      <p:grpSpPr>
        <a:xfrm>
          <a:off x="0" y="0"/>
          <a:ext cx="0" cy="0"/>
          <a:chOff x="0" y="0"/>
          <a:chExt cx="0" cy="0"/>
        </a:xfrm>
      </p:grpSpPr>
      <p:sp>
        <p:nvSpPr>
          <p:cNvPr id="306" name="Google Shape;30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8" name="Google Shape;30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9" name="Google Shape;30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0" name="Google Shape;31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4_Content+image" type="tx">
  <p:cSld name="TITLE_AND_BODY">
    <p:bg>
      <p:bgPr>
        <a:solidFill>
          <a:srgbClr val="FFFFFF"/>
        </a:solidFill>
        <a:effectLst/>
      </p:bgPr>
    </p:bg>
    <p:spTree>
      <p:nvGrpSpPr>
        <p:cNvPr id="1" name="Shape 311"/>
        <p:cNvGrpSpPr/>
        <p:nvPr/>
      </p:nvGrpSpPr>
      <p:grpSpPr>
        <a:xfrm>
          <a:off x="0" y="0"/>
          <a:ext cx="0" cy="0"/>
          <a:chOff x="0" y="0"/>
          <a:chExt cx="0" cy="0"/>
        </a:xfrm>
      </p:grpSpPr>
      <p:sp>
        <p:nvSpPr>
          <p:cNvPr id="312" name="Google Shape;312;p27"/>
          <p:cNvSpPr/>
          <p:nvPr/>
        </p:nvSpPr>
        <p:spPr>
          <a:xfrm>
            <a:off x="-1" y="0"/>
            <a:ext cx="6192013" cy="6858000"/>
          </a:xfrm>
          <a:prstGeom prst="rect">
            <a:avLst/>
          </a:prstGeom>
          <a:gradFill>
            <a:gsLst>
              <a:gs pos="0">
                <a:srgbClr val="3470A3"/>
              </a:gs>
              <a:gs pos="97000">
                <a:srgbClr val="0A3041"/>
              </a:gs>
              <a:gs pos="99917">
                <a:srgbClr val="118ACB"/>
              </a:gs>
              <a:gs pos="100000">
                <a:srgbClr val="118ACB"/>
              </a:gs>
            </a:gsLst>
            <a:path path="circle">
              <a:fillToRect l="100000" t="100000"/>
            </a:path>
            <a:tileRect r="-100000" b="-100000"/>
          </a:gradFill>
          <a:ln w="12700" cap="flat" cmpd="sng">
            <a:solidFill>
              <a:srgbClr val="32538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3" name="Google Shape;313;p27"/>
          <p:cNvSpPr txBox="1">
            <a:spLocks noGrp="1"/>
          </p:cNvSpPr>
          <p:nvPr>
            <p:ph type="title"/>
          </p:nvPr>
        </p:nvSpPr>
        <p:spPr>
          <a:xfrm>
            <a:off x="6338613" y="979711"/>
            <a:ext cx="5737855" cy="132556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18ACB"/>
              </a:buClr>
              <a:buSzPts val="4400"/>
              <a:buFont typeface="Play"/>
              <a:buNone/>
              <a:defRPr sz="4400">
                <a:solidFill>
                  <a:srgbClr val="118A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p27"/>
          <p:cNvSpPr txBox="1">
            <a:spLocks noGrp="1"/>
          </p:cNvSpPr>
          <p:nvPr>
            <p:ph type="body" idx="1"/>
          </p:nvPr>
        </p:nvSpPr>
        <p:spPr>
          <a:xfrm>
            <a:off x="431370" y="260647"/>
            <a:ext cx="5280589" cy="6408714"/>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FFFFFF"/>
              </a:buClr>
              <a:buSzPts val="2800"/>
              <a:buChar char="•"/>
              <a:defRPr sz="2800">
                <a:solidFill>
                  <a:srgbClr val="FFFFFF"/>
                </a:solidFill>
                <a:latin typeface="Arial"/>
                <a:ea typeface="Arial"/>
                <a:cs typeface="Arial"/>
                <a:sym typeface="Arial"/>
              </a:defRPr>
            </a:lvl1pPr>
            <a:lvl2pPr marL="914400" lvl="1" indent="-406400" algn="l">
              <a:lnSpc>
                <a:spcPct val="90000"/>
              </a:lnSpc>
              <a:spcBef>
                <a:spcPts val="1000"/>
              </a:spcBef>
              <a:spcAft>
                <a:spcPts val="0"/>
              </a:spcAft>
              <a:buClr>
                <a:srgbClr val="FFFFFF"/>
              </a:buClr>
              <a:buSzPts val="2800"/>
              <a:buChar char="•"/>
              <a:defRPr sz="2800">
                <a:solidFill>
                  <a:srgbClr val="FFFFFF"/>
                </a:solidFill>
                <a:latin typeface="Arial"/>
                <a:ea typeface="Arial"/>
                <a:cs typeface="Arial"/>
                <a:sym typeface="Arial"/>
              </a:defRPr>
            </a:lvl2pPr>
            <a:lvl3pPr marL="1371600" lvl="2" indent="-406400" algn="l">
              <a:lnSpc>
                <a:spcPct val="90000"/>
              </a:lnSpc>
              <a:spcBef>
                <a:spcPts val="1000"/>
              </a:spcBef>
              <a:spcAft>
                <a:spcPts val="0"/>
              </a:spcAft>
              <a:buClr>
                <a:srgbClr val="FFFFFF"/>
              </a:buClr>
              <a:buSzPts val="2800"/>
              <a:buChar char="•"/>
              <a:defRPr sz="2800">
                <a:solidFill>
                  <a:srgbClr val="FFFFFF"/>
                </a:solidFill>
                <a:latin typeface="Arial"/>
                <a:ea typeface="Arial"/>
                <a:cs typeface="Arial"/>
                <a:sym typeface="Arial"/>
              </a:defRPr>
            </a:lvl3pPr>
            <a:lvl4pPr marL="1828800" lvl="3" indent="-406400" algn="l">
              <a:lnSpc>
                <a:spcPct val="90000"/>
              </a:lnSpc>
              <a:spcBef>
                <a:spcPts val="1000"/>
              </a:spcBef>
              <a:spcAft>
                <a:spcPts val="0"/>
              </a:spcAft>
              <a:buClr>
                <a:srgbClr val="FFFFFF"/>
              </a:buClr>
              <a:buSzPts val="2800"/>
              <a:buChar char="•"/>
              <a:defRPr sz="2800">
                <a:solidFill>
                  <a:srgbClr val="FFFFFF"/>
                </a:solidFill>
                <a:latin typeface="Arial"/>
                <a:ea typeface="Arial"/>
                <a:cs typeface="Arial"/>
                <a:sym typeface="Arial"/>
              </a:defRPr>
            </a:lvl4pPr>
            <a:lvl5pPr marL="2286000" lvl="4" indent="-406400" algn="l">
              <a:lnSpc>
                <a:spcPct val="90000"/>
              </a:lnSpc>
              <a:spcBef>
                <a:spcPts val="1000"/>
              </a:spcBef>
              <a:spcAft>
                <a:spcPts val="0"/>
              </a:spcAft>
              <a:buClr>
                <a:srgbClr val="FFFFFF"/>
              </a:buClr>
              <a:buSzPts val="2800"/>
              <a:buChar char="•"/>
              <a:defRPr sz="2800">
                <a:solidFill>
                  <a:srgbClr val="FFFFFF"/>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5" name="Google Shape;315;p27"/>
          <p:cNvSpPr>
            <a:spLocks noGrp="1"/>
          </p:cNvSpPr>
          <p:nvPr>
            <p:ph type="pic" idx="2"/>
          </p:nvPr>
        </p:nvSpPr>
        <p:spPr>
          <a:xfrm>
            <a:off x="6192011" y="3284982"/>
            <a:ext cx="5999989" cy="3573018"/>
          </a:xfrm>
          <a:prstGeom prst="rect">
            <a:avLst/>
          </a:prstGeom>
          <a:noFill/>
          <a:ln>
            <a:noFill/>
          </a:ln>
        </p:spPr>
      </p:sp>
      <p:sp>
        <p:nvSpPr>
          <p:cNvPr id="316" name="Google Shape;31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317"/>
        <p:cNvGrpSpPr/>
        <p:nvPr/>
      </p:nvGrpSpPr>
      <p:grpSpPr>
        <a:xfrm>
          <a:off x="0" y="0"/>
          <a:ext cx="0" cy="0"/>
          <a:chOff x="0" y="0"/>
          <a:chExt cx="0" cy="0"/>
        </a:xfrm>
      </p:grpSpPr>
      <p:sp>
        <p:nvSpPr>
          <p:cNvPr id="318" name="Google Shape;318;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20" name="Google Shape;32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 name="Google Shape;32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323"/>
        <p:cNvGrpSpPr/>
        <p:nvPr/>
      </p:nvGrpSpPr>
      <p:grpSpPr>
        <a:xfrm>
          <a:off x="0" y="0"/>
          <a:ext cx="0" cy="0"/>
          <a:chOff x="0" y="0"/>
          <a:chExt cx="0" cy="0"/>
        </a:xfrm>
      </p:grpSpPr>
      <p:sp>
        <p:nvSpPr>
          <p:cNvPr id="324" name="Google Shape;324;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5" name="Google Shape;325;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6" name="Google Shape;326;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7" name="Google Shape;327;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8" name="Google Shape;328;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330"/>
        <p:cNvGrpSpPr/>
        <p:nvPr/>
      </p:nvGrpSpPr>
      <p:grpSpPr>
        <a:xfrm>
          <a:off x="0" y="0"/>
          <a:ext cx="0" cy="0"/>
          <a:chOff x="0" y="0"/>
          <a:chExt cx="0" cy="0"/>
        </a:xfrm>
      </p:grpSpPr>
      <p:sp>
        <p:nvSpPr>
          <p:cNvPr id="331" name="Google Shape;331;p3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2" name="Google Shape;332;p3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3" name="Google Shape;333;p3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4" name="Google Shape;334;p3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5" name="Google Shape;335;p3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6" name="Google Shape;336;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7" name="Google Shape;337;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8" name="Google Shape;338;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339"/>
        <p:cNvGrpSpPr/>
        <p:nvPr/>
      </p:nvGrpSpPr>
      <p:grpSpPr>
        <a:xfrm>
          <a:off x="0" y="0"/>
          <a:ext cx="0" cy="0"/>
          <a:chOff x="0" y="0"/>
          <a:chExt cx="0" cy="0"/>
        </a:xfrm>
      </p:grpSpPr>
      <p:sp>
        <p:nvSpPr>
          <p:cNvPr id="340" name="Google Shape;340;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1" name="Google Shape;34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2" name="Google Shape;34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3" name="Google Shape;34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344"/>
        <p:cNvGrpSpPr/>
        <p:nvPr/>
      </p:nvGrpSpPr>
      <p:grpSpPr>
        <a:xfrm>
          <a:off x="0" y="0"/>
          <a:ext cx="0" cy="0"/>
          <a:chOff x="0" y="0"/>
          <a:chExt cx="0" cy="0"/>
        </a:xfrm>
      </p:grpSpPr>
      <p:sp>
        <p:nvSpPr>
          <p:cNvPr id="345" name="Google Shape;34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6" name="Google Shape;34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7" name="Google Shape;34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348"/>
        <p:cNvGrpSpPr/>
        <p:nvPr/>
      </p:nvGrpSpPr>
      <p:grpSpPr>
        <a:xfrm>
          <a:off x="0" y="0"/>
          <a:ext cx="0" cy="0"/>
          <a:chOff x="0" y="0"/>
          <a:chExt cx="0" cy="0"/>
        </a:xfrm>
      </p:grpSpPr>
      <p:sp>
        <p:nvSpPr>
          <p:cNvPr id="349" name="Google Shape;34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0" name="Google Shape;350;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51" name="Google Shape;351;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52" name="Google Shape;35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3" name="Google Shape;35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4" name="Google Shape;35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355"/>
        <p:cNvGrpSpPr/>
        <p:nvPr/>
      </p:nvGrpSpPr>
      <p:grpSpPr>
        <a:xfrm>
          <a:off x="0" y="0"/>
          <a:ext cx="0" cy="0"/>
          <a:chOff x="0" y="0"/>
          <a:chExt cx="0" cy="0"/>
        </a:xfrm>
      </p:grpSpPr>
      <p:sp>
        <p:nvSpPr>
          <p:cNvPr id="356" name="Google Shape;356;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34"/>
          <p:cNvSpPr>
            <a:spLocks noGrp="1"/>
          </p:cNvSpPr>
          <p:nvPr>
            <p:ph type="pic" idx="2"/>
          </p:nvPr>
        </p:nvSpPr>
        <p:spPr>
          <a:xfrm>
            <a:off x="5183188" y="987425"/>
            <a:ext cx="6172200" cy="4873625"/>
          </a:xfrm>
          <a:prstGeom prst="rect">
            <a:avLst/>
          </a:prstGeom>
          <a:noFill/>
          <a:ln>
            <a:noFill/>
          </a:ln>
        </p:spPr>
      </p:sp>
      <p:sp>
        <p:nvSpPr>
          <p:cNvPr id="358" name="Google Shape;35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59" name="Google Shape;359;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0" name="Google Shape;360;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1" name="Google Shape;36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362"/>
        <p:cNvGrpSpPr/>
        <p:nvPr/>
      </p:nvGrpSpPr>
      <p:grpSpPr>
        <a:xfrm>
          <a:off x="0" y="0"/>
          <a:ext cx="0" cy="0"/>
          <a:chOff x="0" y="0"/>
          <a:chExt cx="0" cy="0"/>
        </a:xfrm>
      </p:grpSpPr>
      <p:sp>
        <p:nvSpPr>
          <p:cNvPr id="363" name="Google Shape;36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4" name="Google Shape;364;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5" name="Google Shape;36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6" name="Google Shape;36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7" name="Google Shape;36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368"/>
        <p:cNvGrpSpPr/>
        <p:nvPr/>
      </p:nvGrpSpPr>
      <p:grpSpPr>
        <a:xfrm>
          <a:off x="0" y="0"/>
          <a:ext cx="0" cy="0"/>
          <a:chOff x="0" y="0"/>
          <a:chExt cx="0" cy="0"/>
        </a:xfrm>
      </p:grpSpPr>
      <p:sp>
        <p:nvSpPr>
          <p:cNvPr id="369" name="Google Shape;369;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0" name="Google Shape;370;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1" name="Google Shape;37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2" name="Google Shape;37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3" name="Google Shape;37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4_TitleONLY">
  <p:cSld name="4_TitleONLY">
    <p:spTree>
      <p:nvGrpSpPr>
        <p:cNvPr id="1" name="Shape 374"/>
        <p:cNvGrpSpPr/>
        <p:nvPr/>
      </p:nvGrpSpPr>
      <p:grpSpPr>
        <a:xfrm>
          <a:off x="0" y="0"/>
          <a:ext cx="0" cy="0"/>
          <a:chOff x="0" y="0"/>
          <a:chExt cx="0" cy="0"/>
        </a:xfrm>
      </p:grpSpPr>
      <p:sp>
        <p:nvSpPr>
          <p:cNvPr id="375" name="Google Shape;375;g2fb91728ee6_0_243"/>
          <p:cNvSpPr txBox="1">
            <a:spLocks noGrp="1"/>
          </p:cNvSpPr>
          <p:nvPr>
            <p:ph type="title"/>
          </p:nvPr>
        </p:nvSpPr>
        <p:spPr>
          <a:xfrm>
            <a:off x="326571" y="360000"/>
            <a:ext cx="10330500" cy="9222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2800" b="0" i="0" u="none" strike="noStrike" cap="none">
                <a:solidFill>
                  <a:srgbClr val="002060"/>
                </a:solidFill>
                <a:latin typeface="Open Sans"/>
                <a:ea typeface="Open Sans"/>
                <a:cs typeface="Open Sans"/>
                <a:sym typeface="Open Sans"/>
              </a:defRPr>
            </a:lvl1pPr>
            <a:lvl2pPr marR="0" lvl="1"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2400" b="0" i="0" u="none" strike="noStrike" cap="none">
                <a:solidFill>
                  <a:srgbClr val="003366"/>
                </a:solidFill>
                <a:latin typeface="Arial"/>
                <a:ea typeface="Arial"/>
                <a:cs typeface="Arial"/>
                <a:sym typeface="Arial"/>
              </a:defRPr>
            </a:lvl9pPr>
          </a:lstStyle>
          <a:p>
            <a:endParaRPr/>
          </a:p>
        </p:txBody>
      </p:sp>
      <p:pic>
        <p:nvPicPr>
          <p:cNvPr id="376" name="Google Shape;376;g2fb91728ee6_0_243"/>
          <p:cNvPicPr preferRelativeResize="0"/>
          <p:nvPr/>
        </p:nvPicPr>
        <p:blipFill rotWithShape="1">
          <a:blip r:embed="rId2">
            <a:alphaModFix/>
          </a:blip>
          <a:srcRect/>
          <a:stretch/>
        </p:blipFill>
        <p:spPr>
          <a:xfrm>
            <a:off x="11777209" y="6604454"/>
            <a:ext cx="261937" cy="158750"/>
          </a:xfrm>
          <a:prstGeom prst="rect">
            <a:avLst/>
          </a:prstGeom>
          <a:noFill/>
          <a:ln>
            <a:noFill/>
          </a:ln>
        </p:spPr>
      </p:pic>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2.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fd5c5f6f66_0_753"/>
          <p:cNvSpPr/>
          <p:nvPr/>
        </p:nvSpPr>
        <p:spPr>
          <a:xfrm>
            <a:off x="0" y="3"/>
            <a:ext cx="12192000" cy="207900"/>
          </a:xfrm>
          <a:prstGeom prst="rect">
            <a:avLst/>
          </a:prstGeom>
          <a:solidFill>
            <a:srgbClr val="0C3D6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1" name="Google Shape;11;g2fd5c5f6f66_0_753"/>
          <p:cNvSpPr txBox="1"/>
          <p:nvPr/>
        </p:nvSpPr>
        <p:spPr>
          <a:xfrm>
            <a:off x="476252" y="360366"/>
            <a:ext cx="10369500" cy="765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3399CC"/>
              </a:solidFill>
              <a:latin typeface="Open Sans"/>
              <a:ea typeface="Open Sans"/>
              <a:cs typeface="Open Sans"/>
              <a:sym typeface="Open Sans"/>
            </a:endParaRPr>
          </a:p>
        </p:txBody>
      </p:sp>
      <p:sp>
        <p:nvSpPr>
          <p:cNvPr id="12" name="Google Shape;12;g2fd5c5f6f66_0_753"/>
          <p:cNvSpPr txBox="1"/>
          <p:nvPr/>
        </p:nvSpPr>
        <p:spPr>
          <a:xfrm>
            <a:off x="10967720" y="6557013"/>
            <a:ext cx="635100" cy="2700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rgbClr val="808080"/>
                </a:solidFill>
                <a:latin typeface="Open Sans"/>
                <a:ea typeface="Open Sans"/>
                <a:cs typeface="Open Sans"/>
                <a:sym typeface="Open Sans"/>
              </a:rPr>
              <a:t>‹#›</a:t>
            </a:fld>
            <a:endParaRPr sz="1000" b="0" i="0" u="none" strike="noStrike" cap="none">
              <a:solidFill>
                <a:srgbClr val="808080"/>
              </a:solidFill>
              <a:latin typeface="Open Sans"/>
              <a:ea typeface="Open Sans"/>
              <a:cs typeface="Open Sans"/>
              <a:sym typeface="Open Sans"/>
            </a:endParaRPr>
          </a:p>
        </p:txBody>
      </p:sp>
      <p:pic>
        <p:nvPicPr>
          <p:cNvPr id="13" name="Google Shape;13;g2fd5c5f6f66_0_753" descr="ecl-logo-1"/>
          <p:cNvPicPr preferRelativeResize="0"/>
          <p:nvPr/>
        </p:nvPicPr>
        <p:blipFill rotWithShape="1">
          <a:blip r:embed="rId31">
            <a:alphaModFix/>
          </a:blip>
          <a:srcRect/>
          <a:stretch/>
        </p:blipFill>
        <p:spPr>
          <a:xfrm>
            <a:off x="10808970" y="-447"/>
            <a:ext cx="952500" cy="1047750"/>
          </a:xfrm>
          <a:prstGeom prst="rect">
            <a:avLst/>
          </a:prstGeom>
          <a:noFill/>
          <a:ln>
            <a:noFill/>
          </a:ln>
        </p:spPr>
      </p:pic>
      <p:sp>
        <p:nvSpPr>
          <p:cNvPr id="14" name="Google Shape;14;g2fd5c5f6f66_0_753"/>
          <p:cNvSpPr/>
          <p:nvPr/>
        </p:nvSpPr>
        <p:spPr>
          <a:xfrm>
            <a:off x="-16328" y="503238"/>
            <a:ext cx="294000" cy="271500"/>
          </a:xfrm>
          <a:prstGeom prst="rect">
            <a:avLst/>
          </a:prstGeom>
          <a:solidFill>
            <a:srgbClr val="5081B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399CC"/>
              </a:solidFill>
              <a:latin typeface="Open Sans"/>
              <a:ea typeface="Open Sans"/>
              <a:cs typeface="Open Sans"/>
              <a:sym typeface="Open Sans"/>
            </a:endParaRPr>
          </a:p>
        </p:txBody>
      </p:sp>
      <p:sp>
        <p:nvSpPr>
          <p:cNvPr id="15" name="Google Shape;15;g2fd5c5f6f66_0_753"/>
          <p:cNvSpPr txBox="1"/>
          <p:nvPr/>
        </p:nvSpPr>
        <p:spPr>
          <a:xfrm>
            <a:off x="326571" y="1513114"/>
            <a:ext cx="11375700" cy="4909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Open Sans"/>
              <a:ea typeface="Open Sans"/>
              <a:cs typeface="Open Sans"/>
              <a:sym typeface="Open Sans"/>
            </a:endParaRPr>
          </a:p>
        </p:txBody>
      </p:sp>
      <p:sp>
        <p:nvSpPr>
          <p:cNvPr id="16" name="Google Shape;16;g2fd5c5f6f66_0_753"/>
          <p:cNvSpPr txBox="1"/>
          <p:nvPr/>
        </p:nvSpPr>
        <p:spPr>
          <a:xfrm>
            <a:off x="326571" y="360000"/>
            <a:ext cx="10330500" cy="922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5081B5"/>
              </a:solidFill>
              <a:latin typeface="Open Sans"/>
              <a:ea typeface="Open Sans"/>
              <a:cs typeface="Open Sans"/>
              <a:sym typeface="Open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723" r:id="rId29"/>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1"/>
        <p:cNvGrpSpPr/>
        <p:nvPr/>
      </p:nvGrpSpPr>
      <p:grpSpPr>
        <a:xfrm>
          <a:off x="0" y="0"/>
          <a:ext cx="0" cy="0"/>
          <a:chOff x="0" y="0"/>
          <a:chExt cx="0" cy="0"/>
        </a:xfrm>
      </p:grpSpPr>
      <p:sp>
        <p:nvSpPr>
          <p:cNvPr id="292" name="Google Shape;29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3" name="Google Shape;293;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4" name="Google Shape;29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95" name="Google Shape;29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96" name="Google Shape;29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karpathy.ai/zero-to-hero.html" TargetMode="External"/><Relationship Id="rId2" Type="http://schemas.openxmlformats.org/officeDocument/2006/relationships/hyperlink" Target="https://docs.pytorch.org/tutorials/beginner/nn_tutorial.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huggingface.co/models" TargetMode="External"/><Relationship Id="rId13" Type="http://schemas.openxmlformats.org/officeDocument/2006/relationships/hyperlink" Target="https://opensky-network.org/" TargetMode="External"/><Relationship Id="rId3" Type="http://schemas.openxmlformats.org/officeDocument/2006/relationships/hyperlink" Target="https://www.learnpytorch.io/" TargetMode="External"/><Relationship Id="rId7" Type="http://schemas.openxmlformats.org/officeDocument/2006/relationships/hyperlink" Target="https://www.kaggle.com/datasets" TargetMode="External"/><Relationship Id="rId12" Type="http://schemas.openxmlformats.org/officeDocument/2006/relationships/hyperlink" Target="https://mesonet.agron.iastate.edu/request/download.phtml" TargetMode="External"/><Relationship Id="rId2" Type="http://schemas.openxmlformats.org/officeDocument/2006/relationships/hyperlink" Target="https://pytorch.org/tutorials/" TargetMode="External"/><Relationship Id="rId1" Type="http://schemas.openxmlformats.org/officeDocument/2006/relationships/slideLayout" Target="../slideLayouts/slideLayout2.xml"/><Relationship Id="rId6" Type="http://schemas.openxmlformats.org/officeDocument/2006/relationships/hyperlink" Target="https://docs.pytorch.org/vision/stable/datasets.html" TargetMode="External"/><Relationship Id="rId11" Type="http://schemas.openxmlformats.org/officeDocument/2006/relationships/hyperlink" Target="https://ansperformance.eu/" TargetMode="External"/><Relationship Id="rId5" Type="http://schemas.openxmlformats.org/officeDocument/2006/relationships/hyperlink" Target="https://huggingface.co/datasets" TargetMode="External"/><Relationship Id="rId10" Type="http://schemas.openxmlformats.org/officeDocument/2006/relationships/hyperlink" Target="https://pytorch.org/hub/" TargetMode="External"/><Relationship Id="rId4" Type="http://schemas.openxmlformats.org/officeDocument/2006/relationships/hyperlink" Target="https://d2l.ai/" TargetMode="External"/><Relationship Id="rId9" Type="http://schemas.openxmlformats.org/officeDocument/2006/relationships/hyperlink" Target="https://huggingface.co/le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g2fd5c5f6f66_0_147"/>
          <p:cNvSpPr txBox="1"/>
          <p:nvPr/>
        </p:nvSpPr>
        <p:spPr>
          <a:xfrm>
            <a:off x="695325" y="2233750"/>
            <a:ext cx="9616200" cy="6618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0" i="0" u="none" strike="noStrike" cap="none" dirty="0">
                <a:solidFill>
                  <a:srgbClr val="FFFFFF"/>
                </a:solidFill>
                <a:latin typeface="Arial"/>
                <a:ea typeface="Arial"/>
                <a:cs typeface="Arial"/>
                <a:sym typeface="Arial"/>
              </a:rPr>
              <a:t>AI Lab: the exercises in context</a:t>
            </a:r>
            <a:endParaRPr sz="4000" b="0" i="0" u="none" strike="noStrike" cap="none" dirty="0">
              <a:solidFill>
                <a:srgbClr val="FFFFFF"/>
              </a:solidFill>
              <a:latin typeface="Arial"/>
              <a:ea typeface="Arial"/>
              <a:cs typeface="Arial"/>
              <a:sym typeface="Arial"/>
            </a:endParaRPr>
          </a:p>
        </p:txBody>
      </p:sp>
      <p:sp>
        <p:nvSpPr>
          <p:cNvPr id="382" name="Google Shape;382;g2fd5c5f6f66_0_147"/>
          <p:cNvSpPr txBox="1"/>
          <p:nvPr/>
        </p:nvSpPr>
        <p:spPr>
          <a:xfrm>
            <a:off x="695324" y="3678751"/>
            <a:ext cx="8749200" cy="900000"/>
          </a:xfrm>
          <a:prstGeom prst="rect">
            <a:avLst/>
          </a:prstGeom>
          <a:noFill/>
          <a:ln>
            <a:noFill/>
          </a:ln>
        </p:spPr>
        <p:txBody>
          <a:bodyPr spcFirstLastPara="1" wrap="square" lIns="0" tIns="7200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GB" sz="3200" b="0" i="0" u="none" strike="noStrike" cap="none">
                <a:solidFill>
                  <a:srgbClr val="FFFFFF"/>
                </a:solidFill>
                <a:latin typeface="Arial"/>
                <a:ea typeface="Arial"/>
                <a:cs typeface="Arial"/>
                <a:sym typeface="Arial"/>
              </a:rPr>
              <a:t>Companion slides for the AI Lab</a:t>
            </a:r>
            <a:endParaRPr sz="3200" b="0" i="0" u="none" strike="noStrike" cap="none">
              <a:solidFill>
                <a:srgbClr val="FFFFFF"/>
              </a:solidFill>
              <a:latin typeface="Arial"/>
              <a:ea typeface="Arial"/>
              <a:cs typeface="Arial"/>
              <a:sym typeface="Arial"/>
            </a:endParaRPr>
          </a:p>
        </p:txBody>
      </p:sp>
      <p:sp>
        <p:nvSpPr>
          <p:cNvPr id="383" name="Google Shape;383;g2fd5c5f6f66_0_147"/>
          <p:cNvSpPr txBox="1"/>
          <p:nvPr/>
        </p:nvSpPr>
        <p:spPr>
          <a:xfrm>
            <a:off x="695324" y="4828540"/>
            <a:ext cx="6117000" cy="1092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GB" sz="1400" b="0" i="0" u="none" strike="noStrike" cap="none" dirty="0">
                <a:solidFill>
                  <a:schemeClr val="lt1"/>
                </a:solidFill>
                <a:latin typeface="Arial"/>
                <a:ea typeface="Arial"/>
                <a:cs typeface="Arial"/>
                <a:sym typeface="Arial"/>
              </a:rPr>
              <a:t>Dr. Giuseppe Frau</a:t>
            </a: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300"/>
              </a:spcBef>
              <a:spcAft>
                <a:spcPts val="0"/>
              </a:spcAft>
              <a:buClr>
                <a:schemeClr val="dk1"/>
              </a:buClr>
              <a:buSzPts val="1200"/>
              <a:buFont typeface="Arial"/>
              <a:buNone/>
            </a:pPr>
            <a:r>
              <a:rPr lang="en-GB" sz="1200" b="0" i="0" u="none" strike="noStrike" cap="none" dirty="0">
                <a:solidFill>
                  <a:schemeClr val="accent2"/>
                </a:solidFill>
                <a:latin typeface="Arial"/>
                <a:ea typeface="Arial"/>
                <a:cs typeface="Arial"/>
                <a:sym typeface="Arial"/>
              </a:rPr>
              <a:t>© 2026</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300"/>
              </a:spcBef>
              <a:spcAft>
                <a:spcPts val="0"/>
              </a:spcAft>
              <a:buClr>
                <a:schemeClr val="dk1"/>
              </a:buClr>
              <a:buSzPts val="1200"/>
              <a:buFont typeface="Arial"/>
              <a:buNone/>
            </a:pPr>
            <a:endParaRPr sz="1400" b="0" i="0" u="none" strike="noStrike" cap="none" dirty="0">
              <a:solidFill>
                <a:srgbClr val="FFFFFF"/>
              </a:solidFill>
              <a:latin typeface="Arial"/>
              <a:ea typeface="Arial"/>
              <a:cs typeface="Arial"/>
              <a:sym typeface="Aria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PyTorch does for you</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The training loop of Exercise 1, and what each line hides</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PyTorch automates the calculus and the bookkeeping. Every modelling decision stays with you.</a:t>
            </a:r>
          </a:p>
        </p:txBody>
      </p:sp>
      <p:sp>
        <p:nvSpPr>
          <p:cNvPr id="6" name="TextBox 5"/>
          <p:cNvSpPr txBox="1"/>
          <p:nvPr/>
        </p:nvSpPr>
        <p:spPr>
          <a:xfrm>
            <a:off x="457200" y="1371600"/>
            <a:ext cx="5943600" cy="274320"/>
          </a:xfrm>
          <a:prstGeom prst="rect">
            <a:avLst/>
          </a:prstGeom>
          <a:noFill/>
        </p:spPr>
        <p:txBody>
          <a:bodyPr wrap="square" lIns="0" tIns="0" rIns="0" bIns="0" anchor="t">
            <a:noAutofit/>
          </a:bodyPr>
          <a:lstStyle/>
          <a:p>
            <a:pPr algn="l"/>
            <a:r>
              <a:rPr sz="1100" b="1" i="0">
                <a:solidFill>
                  <a:srgbClr val="6B7B8D"/>
                </a:solidFill>
                <a:latin typeface="Open Sans"/>
              </a:rPr>
              <a:t>FROM EXERCISE 1, SLIGHTLY SHORTENED</a:t>
            </a:r>
          </a:p>
        </p:txBody>
      </p:sp>
      <p:sp>
        <p:nvSpPr>
          <p:cNvPr id="7" name="Rectangle 6"/>
          <p:cNvSpPr/>
          <p:nvPr/>
        </p:nvSpPr>
        <p:spPr>
          <a:xfrm>
            <a:off x="457200" y="1691640"/>
            <a:ext cx="6126480" cy="2971800"/>
          </a:xfrm>
          <a:prstGeom prst="rect">
            <a:avLst/>
          </a:prstGeom>
          <a:solidFill>
            <a:srgbClr val="F3F5F8"/>
          </a:solidFill>
          <a:ln>
            <a:noFill/>
          </a:ln>
          <a:effectLst/>
        </p:spPr>
        <p:txBody>
          <a:bodyPr rtlCol="0" anchor="ctr"/>
          <a:lstStyle/>
          <a:p>
            <a:pPr algn="ctr"/>
            <a:endParaRPr/>
          </a:p>
        </p:txBody>
      </p:sp>
      <p:sp>
        <p:nvSpPr>
          <p:cNvPr id="8" name="TextBox 7"/>
          <p:cNvSpPr txBox="1"/>
          <p:nvPr/>
        </p:nvSpPr>
        <p:spPr>
          <a:xfrm>
            <a:off x="640080" y="1810512"/>
            <a:ext cx="5394960" cy="274320"/>
          </a:xfrm>
          <a:prstGeom prst="rect">
            <a:avLst/>
          </a:prstGeom>
          <a:noFill/>
        </p:spPr>
        <p:txBody>
          <a:bodyPr wrap="square" lIns="0" tIns="0" rIns="0" bIns="0" anchor="t">
            <a:noAutofit/>
          </a:bodyPr>
          <a:lstStyle/>
          <a:p>
            <a:pPr algn="l"/>
            <a:r>
              <a:rPr sz="1200" b="0" i="0">
                <a:solidFill>
                  <a:srgbClr val="1A2733"/>
                </a:solidFill>
                <a:latin typeface="Courier New"/>
              </a:rPr>
              <a:t>model = TrafficMLP(n_inputs=21, hidden=32)</a:t>
            </a:r>
          </a:p>
        </p:txBody>
      </p:sp>
      <p:sp>
        <p:nvSpPr>
          <p:cNvPr id="9" name="Oval 8"/>
          <p:cNvSpPr/>
          <p:nvPr/>
        </p:nvSpPr>
        <p:spPr>
          <a:xfrm>
            <a:off x="6172200" y="1828800"/>
            <a:ext cx="237744" cy="237744"/>
          </a:xfrm>
          <a:prstGeom prst="ellipse">
            <a:avLst/>
          </a:prstGeom>
          <a:solidFill>
            <a:srgbClr val="3399CC"/>
          </a:solidFill>
          <a:ln>
            <a:noFill/>
          </a:ln>
          <a:effectLst/>
        </p:spPr>
        <p:txBody>
          <a:bodyPr rtlCol="0" anchor="ctr"/>
          <a:lstStyle/>
          <a:p>
            <a:pPr algn="ctr"/>
            <a:endParaRPr/>
          </a:p>
        </p:txBody>
      </p:sp>
      <p:sp>
        <p:nvSpPr>
          <p:cNvPr id="10" name="TextBox 9"/>
          <p:cNvSpPr txBox="1"/>
          <p:nvPr/>
        </p:nvSpPr>
        <p:spPr>
          <a:xfrm>
            <a:off x="6172200" y="1828800"/>
            <a:ext cx="237744" cy="237744"/>
          </a:xfrm>
          <a:prstGeom prst="rect">
            <a:avLst/>
          </a:prstGeom>
          <a:noFill/>
        </p:spPr>
        <p:txBody>
          <a:bodyPr wrap="square" lIns="0" tIns="0" rIns="0" bIns="0" anchor="ctr">
            <a:noAutofit/>
          </a:bodyPr>
          <a:lstStyle/>
          <a:p>
            <a:pPr algn="ctr"/>
            <a:r>
              <a:rPr sz="1000" b="1" i="0">
                <a:solidFill>
                  <a:srgbClr val="FFFFFF"/>
                </a:solidFill>
                <a:latin typeface="Open Sans"/>
              </a:rPr>
              <a:t>1</a:t>
            </a:r>
          </a:p>
        </p:txBody>
      </p:sp>
      <p:sp>
        <p:nvSpPr>
          <p:cNvPr id="11" name="TextBox 10"/>
          <p:cNvSpPr txBox="1"/>
          <p:nvPr/>
        </p:nvSpPr>
        <p:spPr>
          <a:xfrm>
            <a:off x="640080" y="208483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loss_function = nn.MSELoss()</a:t>
            </a:r>
          </a:p>
        </p:txBody>
      </p:sp>
      <p:sp>
        <p:nvSpPr>
          <p:cNvPr id="12" name="Oval 11"/>
          <p:cNvSpPr/>
          <p:nvPr/>
        </p:nvSpPr>
        <p:spPr>
          <a:xfrm>
            <a:off x="6172200" y="2103120"/>
            <a:ext cx="237744" cy="237744"/>
          </a:xfrm>
          <a:prstGeom prst="ellipse">
            <a:avLst/>
          </a:prstGeom>
          <a:solidFill>
            <a:srgbClr val="3399CC"/>
          </a:solidFill>
          <a:ln>
            <a:noFill/>
          </a:ln>
          <a:effectLst/>
        </p:spPr>
        <p:txBody>
          <a:bodyPr rtlCol="0" anchor="ctr"/>
          <a:lstStyle/>
          <a:p>
            <a:pPr algn="ctr"/>
            <a:endParaRPr/>
          </a:p>
        </p:txBody>
      </p:sp>
      <p:sp>
        <p:nvSpPr>
          <p:cNvPr id="13" name="TextBox 12"/>
          <p:cNvSpPr txBox="1"/>
          <p:nvPr/>
        </p:nvSpPr>
        <p:spPr>
          <a:xfrm>
            <a:off x="6172200" y="2103120"/>
            <a:ext cx="237744" cy="237744"/>
          </a:xfrm>
          <a:prstGeom prst="rect">
            <a:avLst/>
          </a:prstGeom>
          <a:noFill/>
        </p:spPr>
        <p:txBody>
          <a:bodyPr wrap="square" lIns="0" tIns="0" rIns="0" bIns="0" anchor="ctr">
            <a:noAutofit/>
          </a:bodyPr>
          <a:lstStyle/>
          <a:p>
            <a:pPr algn="ctr"/>
            <a:r>
              <a:rPr sz="1000" b="1" i="0">
                <a:solidFill>
                  <a:srgbClr val="FFFFFF"/>
                </a:solidFill>
                <a:latin typeface="Open Sans"/>
              </a:rPr>
              <a:t>2</a:t>
            </a:r>
          </a:p>
        </p:txBody>
      </p:sp>
      <p:sp>
        <p:nvSpPr>
          <p:cNvPr id="14" name="TextBox 13"/>
          <p:cNvSpPr txBox="1"/>
          <p:nvPr/>
        </p:nvSpPr>
        <p:spPr>
          <a:xfrm>
            <a:off x="640080" y="235915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optimizer = torch.optim.Adam(model.parameters(),</a:t>
            </a:r>
          </a:p>
        </p:txBody>
      </p:sp>
      <p:sp>
        <p:nvSpPr>
          <p:cNvPr id="15" name="Oval 14"/>
          <p:cNvSpPr/>
          <p:nvPr/>
        </p:nvSpPr>
        <p:spPr>
          <a:xfrm>
            <a:off x="6172200" y="2377439"/>
            <a:ext cx="237744" cy="237744"/>
          </a:xfrm>
          <a:prstGeom prst="ellipse">
            <a:avLst/>
          </a:prstGeom>
          <a:solidFill>
            <a:srgbClr val="3399CC"/>
          </a:solidFill>
          <a:ln>
            <a:noFill/>
          </a:ln>
          <a:effectLst/>
        </p:spPr>
        <p:txBody>
          <a:bodyPr rtlCol="0" anchor="ctr"/>
          <a:lstStyle/>
          <a:p>
            <a:pPr algn="ctr"/>
            <a:endParaRPr/>
          </a:p>
        </p:txBody>
      </p:sp>
      <p:sp>
        <p:nvSpPr>
          <p:cNvPr id="16" name="TextBox 15"/>
          <p:cNvSpPr txBox="1"/>
          <p:nvPr/>
        </p:nvSpPr>
        <p:spPr>
          <a:xfrm>
            <a:off x="6172200" y="2377439"/>
            <a:ext cx="237744" cy="237744"/>
          </a:xfrm>
          <a:prstGeom prst="rect">
            <a:avLst/>
          </a:prstGeom>
          <a:noFill/>
        </p:spPr>
        <p:txBody>
          <a:bodyPr wrap="square" lIns="0" tIns="0" rIns="0" bIns="0" anchor="ctr">
            <a:noAutofit/>
          </a:bodyPr>
          <a:lstStyle/>
          <a:p>
            <a:pPr algn="ctr"/>
            <a:r>
              <a:rPr sz="1000" b="1" i="0">
                <a:solidFill>
                  <a:srgbClr val="FFFFFF"/>
                </a:solidFill>
                <a:latin typeface="Open Sans"/>
              </a:rPr>
              <a:t>3</a:t>
            </a:r>
          </a:p>
        </p:txBody>
      </p:sp>
      <p:sp>
        <p:nvSpPr>
          <p:cNvPr id="17" name="TextBox 16"/>
          <p:cNvSpPr txBox="1"/>
          <p:nvPr/>
        </p:nvSpPr>
        <p:spPr>
          <a:xfrm>
            <a:off x="640080" y="263347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                             lr=0.001)</a:t>
            </a:r>
          </a:p>
        </p:txBody>
      </p:sp>
      <p:sp>
        <p:nvSpPr>
          <p:cNvPr id="18" name="TextBox 17"/>
          <p:cNvSpPr txBox="1"/>
          <p:nvPr/>
        </p:nvSpPr>
        <p:spPr>
          <a:xfrm>
            <a:off x="640080" y="290779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for inputs, answers in train_loader:</a:t>
            </a:r>
          </a:p>
        </p:txBody>
      </p:sp>
      <p:sp>
        <p:nvSpPr>
          <p:cNvPr id="19" name="Oval 18"/>
          <p:cNvSpPr/>
          <p:nvPr/>
        </p:nvSpPr>
        <p:spPr>
          <a:xfrm>
            <a:off x="6172200" y="2926079"/>
            <a:ext cx="237744" cy="237744"/>
          </a:xfrm>
          <a:prstGeom prst="ellipse">
            <a:avLst/>
          </a:prstGeom>
          <a:solidFill>
            <a:srgbClr val="3399CC"/>
          </a:solidFill>
          <a:ln>
            <a:noFill/>
          </a:ln>
          <a:effectLst/>
        </p:spPr>
        <p:txBody>
          <a:bodyPr rtlCol="0" anchor="ctr"/>
          <a:lstStyle/>
          <a:p>
            <a:pPr algn="ctr"/>
            <a:endParaRPr/>
          </a:p>
        </p:txBody>
      </p:sp>
      <p:sp>
        <p:nvSpPr>
          <p:cNvPr id="20" name="TextBox 19"/>
          <p:cNvSpPr txBox="1"/>
          <p:nvPr/>
        </p:nvSpPr>
        <p:spPr>
          <a:xfrm>
            <a:off x="6172200" y="2926079"/>
            <a:ext cx="237744" cy="237744"/>
          </a:xfrm>
          <a:prstGeom prst="rect">
            <a:avLst/>
          </a:prstGeom>
          <a:noFill/>
        </p:spPr>
        <p:txBody>
          <a:bodyPr wrap="square" lIns="0" tIns="0" rIns="0" bIns="0" anchor="ctr">
            <a:noAutofit/>
          </a:bodyPr>
          <a:lstStyle/>
          <a:p>
            <a:pPr algn="ctr"/>
            <a:r>
              <a:rPr sz="1000" b="1" i="0">
                <a:solidFill>
                  <a:srgbClr val="FFFFFF"/>
                </a:solidFill>
                <a:latin typeface="Open Sans"/>
              </a:rPr>
              <a:t>4</a:t>
            </a:r>
          </a:p>
        </p:txBody>
      </p:sp>
      <p:sp>
        <p:nvSpPr>
          <p:cNvPr id="21" name="TextBox 20"/>
          <p:cNvSpPr txBox="1"/>
          <p:nvPr/>
        </p:nvSpPr>
        <p:spPr>
          <a:xfrm>
            <a:off x="640080" y="318211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    optimizer.zero_grad()</a:t>
            </a:r>
          </a:p>
        </p:txBody>
      </p:sp>
      <p:sp>
        <p:nvSpPr>
          <p:cNvPr id="22" name="TextBox 21"/>
          <p:cNvSpPr txBox="1"/>
          <p:nvPr/>
        </p:nvSpPr>
        <p:spPr>
          <a:xfrm>
            <a:off x="640080" y="345643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    forecasts = model(inputs)</a:t>
            </a:r>
          </a:p>
        </p:txBody>
      </p:sp>
      <p:sp>
        <p:nvSpPr>
          <p:cNvPr id="23" name="Oval 22"/>
          <p:cNvSpPr/>
          <p:nvPr/>
        </p:nvSpPr>
        <p:spPr>
          <a:xfrm>
            <a:off x="6172200" y="3474719"/>
            <a:ext cx="237744" cy="237744"/>
          </a:xfrm>
          <a:prstGeom prst="ellipse">
            <a:avLst/>
          </a:prstGeom>
          <a:solidFill>
            <a:srgbClr val="3399CC"/>
          </a:solidFill>
          <a:ln>
            <a:noFill/>
          </a:ln>
          <a:effectLst/>
        </p:spPr>
        <p:txBody>
          <a:bodyPr rtlCol="0" anchor="ctr"/>
          <a:lstStyle/>
          <a:p>
            <a:pPr algn="ctr"/>
            <a:endParaRPr/>
          </a:p>
        </p:txBody>
      </p:sp>
      <p:sp>
        <p:nvSpPr>
          <p:cNvPr id="24" name="TextBox 23"/>
          <p:cNvSpPr txBox="1"/>
          <p:nvPr/>
        </p:nvSpPr>
        <p:spPr>
          <a:xfrm>
            <a:off x="6172200" y="3474719"/>
            <a:ext cx="237744" cy="237744"/>
          </a:xfrm>
          <a:prstGeom prst="rect">
            <a:avLst/>
          </a:prstGeom>
          <a:noFill/>
        </p:spPr>
        <p:txBody>
          <a:bodyPr wrap="square" lIns="0" tIns="0" rIns="0" bIns="0" anchor="ctr">
            <a:noAutofit/>
          </a:bodyPr>
          <a:lstStyle/>
          <a:p>
            <a:pPr algn="ctr"/>
            <a:r>
              <a:rPr sz="1000" b="1" i="0">
                <a:solidFill>
                  <a:srgbClr val="FFFFFF"/>
                </a:solidFill>
                <a:latin typeface="Open Sans"/>
              </a:rPr>
              <a:t>5</a:t>
            </a:r>
          </a:p>
        </p:txBody>
      </p:sp>
      <p:sp>
        <p:nvSpPr>
          <p:cNvPr id="25" name="TextBox 24"/>
          <p:cNvSpPr txBox="1"/>
          <p:nvPr/>
        </p:nvSpPr>
        <p:spPr>
          <a:xfrm>
            <a:off x="640080" y="373075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    loss = loss_function(forecasts, answers)</a:t>
            </a:r>
          </a:p>
        </p:txBody>
      </p:sp>
      <p:sp>
        <p:nvSpPr>
          <p:cNvPr id="26" name="TextBox 25"/>
          <p:cNvSpPr txBox="1"/>
          <p:nvPr/>
        </p:nvSpPr>
        <p:spPr>
          <a:xfrm>
            <a:off x="640080" y="400507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    loss.backward()</a:t>
            </a:r>
          </a:p>
        </p:txBody>
      </p:sp>
      <p:sp>
        <p:nvSpPr>
          <p:cNvPr id="27" name="Oval 26"/>
          <p:cNvSpPr/>
          <p:nvPr/>
        </p:nvSpPr>
        <p:spPr>
          <a:xfrm>
            <a:off x="6172200" y="4023359"/>
            <a:ext cx="237744" cy="237744"/>
          </a:xfrm>
          <a:prstGeom prst="ellipse">
            <a:avLst/>
          </a:prstGeom>
          <a:solidFill>
            <a:srgbClr val="3399CC"/>
          </a:solidFill>
          <a:ln>
            <a:noFill/>
          </a:ln>
          <a:effectLst/>
        </p:spPr>
        <p:txBody>
          <a:bodyPr rtlCol="0" anchor="ctr"/>
          <a:lstStyle/>
          <a:p>
            <a:pPr algn="ctr"/>
            <a:endParaRPr/>
          </a:p>
        </p:txBody>
      </p:sp>
      <p:sp>
        <p:nvSpPr>
          <p:cNvPr id="28" name="TextBox 27"/>
          <p:cNvSpPr txBox="1"/>
          <p:nvPr/>
        </p:nvSpPr>
        <p:spPr>
          <a:xfrm>
            <a:off x="6172200" y="4023359"/>
            <a:ext cx="237744" cy="237744"/>
          </a:xfrm>
          <a:prstGeom prst="rect">
            <a:avLst/>
          </a:prstGeom>
          <a:noFill/>
        </p:spPr>
        <p:txBody>
          <a:bodyPr wrap="square" lIns="0" tIns="0" rIns="0" bIns="0" anchor="ctr">
            <a:noAutofit/>
          </a:bodyPr>
          <a:lstStyle/>
          <a:p>
            <a:pPr algn="ctr"/>
            <a:r>
              <a:rPr sz="1000" b="1" i="0">
                <a:solidFill>
                  <a:srgbClr val="FFFFFF"/>
                </a:solidFill>
                <a:latin typeface="Open Sans"/>
              </a:rPr>
              <a:t>6</a:t>
            </a:r>
          </a:p>
        </p:txBody>
      </p:sp>
      <p:sp>
        <p:nvSpPr>
          <p:cNvPr id="29" name="TextBox 28"/>
          <p:cNvSpPr txBox="1"/>
          <p:nvPr/>
        </p:nvSpPr>
        <p:spPr>
          <a:xfrm>
            <a:off x="640080" y="4279391"/>
            <a:ext cx="5394960" cy="274320"/>
          </a:xfrm>
          <a:prstGeom prst="rect">
            <a:avLst/>
          </a:prstGeom>
          <a:noFill/>
        </p:spPr>
        <p:txBody>
          <a:bodyPr wrap="square" lIns="0" tIns="0" rIns="0" bIns="0" anchor="t">
            <a:noAutofit/>
          </a:bodyPr>
          <a:lstStyle/>
          <a:p>
            <a:pPr algn="l"/>
            <a:r>
              <a:rPr sz="1200" b="0" i="0">
                <a:solidFill>
                  <a:srgbClr val="1A2733"/>
                </a:solidFill>
                <a:latin typeface="Courier New"/>
              </a:rPr>
              <a:t>    optimizer.step()</a:t>
            </a:r>
          </a:p>
        </p:txBody>
      </p:sp>
      <p:sp>
        <p:nvSpPr>
          <p:cNvPr id="30" name="Oval 29"/>
          <p:cNvSpPr/>
          <p:nvPr/>
        </p:nvSpPr>
        <p:spPr>
          <a:xfrm>
            <a:off x="6949440" y="1728216"/>
            <a:ext cx="274320" cy="274320"/>
          </a:xfrm>
          <a:prstGeom prst="ellipse">
            <a:avLst/>
          </a:prstGeom>
          <a:solidFill>
            <a:srgbClr val="3399CC"/>
          </a:solidFill>
          <a:ln>
            <a:noFill/>
          </a:ln>
          <a:effectLst/>
        </p:spPr>
        <p:txBody>
          <a:bodyPr rtlCol="0" anchor="ctr"/>
          <a:lstStyle/>
          <a:p>
            <a:pPr algn="ctr"/>
            <a:endParaRPr/>
          </a:p>
        </p:txBody>
      </p:sp>
      <p:sp>
        <p:nvSpPr>
          <p:cNvPr id="31" name="TextBox 30"/>
          <p:cNvSpPr txBox="1"/>
          <p:nvPr/>
        </p:nvSpPr>
        <p:spPr>
          <a:xfrm>
            <a:off x="6949440" y="1728216"/>
            <a:ext cx="274320" cy="274320"/>
          </a:xfrm>
          <a:prstGeom prst="rect">
            <a:avLst/>
          </a:prstGeom>
          <a:noFill/>
        </p:spPr>
        <p:txBody>
          <a:bodyPr wrap="square" lIns="0" tIns="0" rIns="0" bIns="0" anchor="ctr">
            <a:noAutofit/>
          </a:bodyPr>
          <a:lstStyle/>
          <a:p>
            <a:pPr algn="ctr"/>
            <a:r>
              <a:rPr sz="1100" b="1" i="0">
                <a:solidFill>
                  <a:srgbClr val="FFFFFF"/>
                </a:solidFill>
                <a:latin typeface="Open Sans"/>
              </a:rPr>
              <a:t>1</a:t>
            </a:r>
          </a:p>
        </p:txBody>
      </p:sp>
      <p:sp>
        <p:nvSpPr>
          <p:cNvPr id="32" name="TextBox 31"/>
          <p:cNvSpPr txBox="1"/>
          <p:nvPr/>
        </p:nvSpPr>
        <p:spPr>
          <a:xfrm>
            <a:off x="7360920" y="1691640"/>
            <a:ext cx="4389120" cy="566928"/>
          </a:xfrm>
          <a:prstGeom prst="rect">
            <a:avLst/>
          </a:prstGeom>
          <a:noFill/>
        </p:spPr>
        <p:txBody>
          <a:bodyPr wrap="square" lIns="0" tIns="0" rIns="0" bIns="0" anchor="t">
            <a:noAutofit/>
          </a:bodyPr>
          <a:lstStyle/>
          <a:p>
            <a:pPr algn="l"/>
            <a:r>
              <a:rPr sz="1250" b="1" i="0">
                <a:solidFill>
                  <a:srgbClr val="0C3D6E"/>
                </a:solidFill>
                <a:latin typeface="Open Sans"/>
              </a:rPr>
              <a:t>nn.Module  </a:t>
            </a:r>
            <a:r>
              <a:rPr sz="1250" b="0" i="0">
                <a:solidFill>
                  <a:srgbClr val="1A2733"/>
                </a:solidFill>
                <a:latin typeface="Open Sans"/>
              </a:rPr>
              <a:t>Builds the layers and keeps track of all 1 793 weights: model.parameters() hands them over.</a:t>
            </a:r>
          </a:p>
        </p:txBody>
      </p:sp>
      <p:sp>
        <p:nvSpPr>
          <p:cNvPr id="33" name="Oval 32"/>
          <p:cNvSpPr/>
          <p:nvPr/>
        </p:nvSpPr>
        <p:spPr>
          <a:xfrm>
            <a:off x="6949440" y="2240280"/>
            <a:ext cx="274320" cy="274320"/>
          </a:xfrm>
          <a:prstGeom prst="ellipse">
            <a:avLst/>
          </a:prstGeom>
          <a:solidFill>
            <a:srgbClr val="3399CC"/>
          </a:solidFill>
          <a:ln>
            <a:noFill/>
          </a:ln>
          <a:effectLst/>
        </p:spPr>
        <p:txBody>
          <a:bodyPr rtlCol="0" anchor="ctr"/>
          <a:lstStyle/>
          <a:p>
            <a:pPr algn="ctr"/>
            <a:endParaRPr/>
          </a:p>
        </p:txBody>
      </p:sp>
      <p:sp>
        <p:nvSpPr>
          <p:cNvPr id="34" name="TextBox 33"/>
          <p:cNvSpPr txBox="1"/>
          <p:nvPr/>
        </p:nvSpPr>
        <p:spPr>
          <a:xfrm>
            <a:off x="6949440" y="2240280"/>
            <a:ext cx="274320" cy="274320"/>
          </a:xfrm>
          <a:prstGeom prst="rect">
            <a:avLst/>
          </a:prstGeom>
          <a:noFill/>
        </p:spPr>
        <p:txBody>
          <a:bodyPr wrap="square" lIns="0" tIns="0" rIns="0" bIns="0" anchor="ctr">
            <a:noAutofit/>
          </a:bodyPr>
          <a:lstStyle/>
          <a:p>
            <a:pPr algn="ctr"/>
            <a:r>
              <a:rPr sz="1100" b="1" i="0">
                <a:solidFill>
                  <a:srgbClr val="FFFFFF"/>
                </a:solidFill>
                <a:latin typeface="Open Sans"/>
              </a:rPr>
              <a:t>2</a:t>
            </a:r>
          </a:p>
        </p:txBody>
      </p:sp>
      <p:sp>
        <p:nvSpPr>
          <p:cNvPr id="35" name="TextBox 34"/>
          <p:cNvSpPr txBox="1"/>
          <p:nvPr/>
        </p:nvSpPr>
        <p:spPr>
          <a:xfrm>
            <a:off x="7360920" y="2203704"/>
            <a:ext cx="4389120" cy="566928"/>
          </a:xfrm>
          <a:prstGeom prst="rect">
            <a:avLst/>
          </a:prstGeom>
          <a:noFill/>
        </p:spPr>
        <p:txBody>
          <a:bodyPr wrap="square" lIns="0" tIns="0" rIns="0" bIns="0" anchor="t">
            <a:noAutofit/>
          </a:bodyPr>
          <a:lstStyle/>
          <a:p>
            <a:pPr algn="l"/>
            <a:r>
              <a:rPr sz="1250" b="1" i="0">
                <a:solidFill>
                  <a:srgbClr val="0C3D6E"/>
                </a:solidFill>
                <a:latin typeface="Open Sans"/>
              </a:rPr>
              <a:t>torch.nn  </a:t>
            </a:r>
            <a:r>
              <a:rPr sz="1250" b="0" i="0">
                <a:solidFill>
                  <a:srgbClr val="1A2733"/>
                </a:solidFill>
                <a:latin typeface="Open Sans"/>
              </a:rPr>
              <a:t>Ready-made, tested layers and losses: no formulas to code.</a:t>
            </a:r>
          </a:p>
        </p:txBody>
      </p:sp>
      <p:sp>
        <p:nvSpPr>
          <p:cNvPr id="36" name="Oval 35"/>
          <p:cNvSpPr/>
          <p:nvPr/>
        </p:nvSpPr>
        <p:spPr>
          <a:xfrm>
            <a:off x="6949440" y="2752344"/>
            <a:ext cx="274320" cy="274320"/>
          </a:xfrm>
          <a:prstGeom prst="ellipse">
            <a:avLst/>
          </a:prstGeom>
          <a:solidFill>
            <a:srgbClr val="3399CC"/>
          </a:solidFill>
          <a:ln>
            <a:noFill/>
          </a:ln>
          <a:effectLst/>
        </p:spPr>
        <p:txBody>
          <a:bodyPr rtlCol="0" anchor="ctr"/>
          <a:lstStyle/>
          <a:p>
            <a:pPr algn="ctr"/>
            <a:endParaRPr/>
          </a:p>
        </p:txBody>
      </p:sp>
      <p:sp>
        <p:nvSpPr>
          <p:cNvPr id="37" name="TextBox 36"/>
          <p:cNvSpPr txBox="1"/>
          <p:nvPr/>
        </p:nvSpPr>
        <p:spPr>
          <a:xfrm>
            <a:off x="6949440" y="2752344"/>
            <a:ext cx="274320" cy="274320"/>
          </a:xfrm>
          <a:prstGeom prst="rect">
            <a:avLst/>
          </a:prstGeom>
          <a:noFill/>
        </p:spPr>
        <p:txBody>
          <a:bodyPr wrap="square" lIns="0" tIns="0" rIns="0" bIns="0" anchor="ctr">
            <a:noAutofit/>
          </a:bodyPr>
          <a:lstStyle/>
          <a:p>
            <a:pPr algn="ctr"/>
            <a:r>
              <a:rPr sz="1100" b="1" i="0">
                <a:solidFill>
                  <a:srgbClr val="FFFFFF"/>
                </a:solidFill>
                <a:latin typeface="Open Sans"/>
              </a:rPr>
              <a:t>3</a:t>
            </a:r>
          </a:p>
        </p:txBody>
      </p:sp>
      <p:sp>
        <p:nvSpPr>
          <p:cNvPr id="38" name="TextBox 37"/>
          <p:cNvSpPr txBox="1"/>
          <p:nvPr/>
        </p:nvSpPr>
        <p:spPr>
          <a:xfrm>
            <a:off x="7360920" y="2715768"/>
            <a:ext cx="4389120" cy="566928"/>
          </a:xfrm>
          <a:prstGeom prst="rect">
            <a:avLst/>
          </a:prstGeom>
          <a:noFill/>
        </p:spPr>
        <p:txBody>
          <a:bodyPr wrap="square" lIns="0" tIns="0" rIns="0" bIns="0" anchor="t">
            <a:noAutofit/>
          </a:bodyPr>
          <a:lstStyle/>
          <a:p>
            <a:pPr algn="l"/>
            <a:r>
              <a:rPr sz="1250" b="1" i="0">
                <a:solidFill>
                  <a:srgbClr val="0C3D6E"/>
                </a:solidFill>
                <a:latin typeface="Open Sans"/>
              </a:rPr>
              <a:t>torch.optim  </a:t>
            </a:r>
            <a:r>
              <a:rPr sz="1250" b="0" i="0">
                <a:solidFill>
                  <a:srgbClr val="1A2733"/>
                </a:solidFill>
                <a:latin typeface="Open Sans"/>
              </a:rPr>
              <a:t>The update rule (Adam, SGD…) applied to every weight at once.</a:t>
            </a:r>
          </a:p>
        </p:txBody>
      </p:sp>
      <p:sp>
        <p:nvSpPr>
          <p:cNvPr id="39" name="Oval 38"/>
          <p:cNvSpPr/>
          <p:nvPr/>
        </p:nvSpPr>
        <p:spPr>
          <a:xfrm>
            <a:off x="6949440" y="3264408"/>
            <a:ext cx="274320" cy="274320"/>
          </a:xfrm>
          <a:prstGeom prst="ellipse">
            <a:avLst/>
          </a:prstGeom>
          <a:solidFill>
            <a:srgbClr val="3399CC"/>
          </a:solidFill>
          <a:ln>
            <a:noFill/>
          </a:ln>
          <a:effectLst/>
        </p:spPr>
        <p:txBody>
          <a:bodyPr rtlCol="0" anchor="ctr"/>
          <a:lstStyle/>
          <a:p>
            <a:pPr algn="ctr"/>
            <a:endParaRPr/>
          </a:p>
        </p:txBody>
      </p:sp>
      <p:sp>
        <p:nvSpPr>
          <p:cNvPr id="40" name="TextBox 39"/>
          <p:cNvSpPr txBox="1"/>
          <p:nvPr/>
        </p:nvSpPr>
        <p:spPr>
          <a:xfrm>
            <a:off x="6949440" y="3264408"/>
            <a:ext cx="274320" cy="274320"/>
          </a:xfrm>
          <a:prstGeom prst="rect">
            <a:avLst/>
          </a:prstGeom>
          <a:noFill/>
        </p:spPr>
        <p:txBody>
          <a:bodyPr wrap="square" lIns="0" tIns="0" rIns="0" bIns="0" anchor="ctr">
            <a:noAutofit/>
          </a:bodyPr>
          <a:lstStyle/>
          <a:p>
            <a:pPr algn="ctr"/>
            <a:r>
              <a:rPr sz="1100" b="1" i="0">
                <a:solidFill>
                  <a:srgbClr val="FFFFFF"/>
                </a:solidFill>
                <a:latin typeface="Open Sans"/>
              </a:rPr>
              <a:t>4</a:t>
            </a:r>
          </a:p>
        </p:txBody>
      </p:sp>
      <p:sp>
        <p:nvSpPr>
          <p:cNvPr id="41" name="TextBox 40"/>
          <p:cNvSpPr txBox="1"/>
          <p:nvPr/>
        </p:nvSpPr>
        <p:spPr>
          <a:xfrm>
            <a:off x="7360920" y="3227832"/>
            <a:ext cx="4389120" cy="566928"/>
          </a:xfrm>
          <a:prstGeom prst="rect">
            <a:avLst/>
          </a:prstGeom>
          <a:noFill/>
        </p:spPr>
        <p:txBody>
          <a:bodyPr wrap="square" lIns="0" tIns="0" rIns="0" bIns="0" anchor="t">
            <a:noAutofit/>
          </a:bodyPr>
          <a:lstStyle/>
          <a:p>
            <a:pPr algn="l"/>
            <a:r>
              <a:rPr sz="1250" b="1" i="0">
                <a:solidFill>
                  <a:srgbClr val="0C3D6E"/>
                </a:solidFill>
                <a:latin typeface="Open Sans"/>
              </a:rPr>
              <a:t>Dataset / DataLoader  </a:t>
            </a:r>
            <a:r>
              <a:rPr sz="1250" b="0" i="0">
                <a:solidFill>
                  <a:srgbClr val="1A2733"/>
                </a:solidFill>
                <a:latin typeface="Open Sans"/>
              </a:rPr>
              <a:t>Cuts the data into batches, shuffles them each epoch, can load in parallel.</a:t>
            </a:r>
          </a:p>
        </p:txBody>
      </p:sp>
      <p:sp>
        <p:nvSpPr>
          <p:cNvPr id="42" name="Oval 41"/>
          <p:cNvSpPr/>
          <p:nvPr/>
        </p:nvSpPr>
        <p:spPr>
          <a:xfrm>
            <a:off x="6949440" y="3776472"/>
            <a:ext cx="274320" cy="274320"/>
          </a:xfrm>
          <a:prstGeom prst="ellipse">
            <a:avLst/>
          </a:prstGeom>
          <a:solidFill>
            <a:srgbClr val="3399CC"/>
          </a:solidFill>
          <a:ln>
            <a:noFill/>
          </a:ln>
          <a:effectLst/>
        </p:spPr>
        <p:txBody>
          <a:bodyPr rtlCol="0" anchor="ctr"/>
          <a:lstStyle/>
          <a:p>
            <a:pPr algn="ctr"/>
            <a:endParaRPr/>
          </a:p>
        </p:txBody>
      </p:sp>
      <p:sp>
        <p:nvSpPr>
          <p:cNvPr id="43" name="TextBox 42"/>
          <p:cNvSpPr txBox="1"/>
          <p:nvPr/>
        </p:nvSpPr>
        <p:spPr>
          <a:xfrm>
            <a:off x="6949440" y="3776472"/>
            <a:ext cx="274320" cy="274320"/>
          </a:xfrm>
          <a:prstGeom prst="rect">
            <a:avLst/>
          </a:prstGeom>
          <a:noFill/>
        </p:spPr>
        <p:txBody>
          <a:bodyPr wrap="square" lIns="0" tIns="0" rIns="0" bIns="0" anchor="ctr">
            <a:noAutofit/>
          </a:bodyPr>
          <a:lstStyle/>
          <a:p>
            <a:pPr algn="ctr"/>
            <a:r>
              <a:rPr sz="1100" b="1" i="0">
                <a:solidFill>
                  <a:srgbClr val="FFFFFF"/>
                </a:solidFill>
                <a:latin typeface="Open Sans"/>
              </a:rPr>
              <a:t>5</a:t>
            </a:r>
          </a:p>
        </p:txBody>
      </p:sp>
      <p:sp>
        <p:nvSpPr>
          <p:cNvPr id="44" name="TextBox 43"/>
          <p:cNvSpPr txBox="1"/>
          <p:nvPr/>
        </p:nvSpPr>
        <p:spPr>
          <a:xfrm>
            <a:off x="7360920" y="3739896"/>
            <a:ext cx="4389120" cy="566928"/>
          </a:xfrm>
          <a:prstGeom prst="rect">
            <a:avLst/>
          </a:prstGeom>
          <a:noFill/>
        </p:spPr>
        <p:txBody>
          <a:bodyPr wrap="square" lIns="0" tIns="0" rIns="0" bIns="0" anchor="t">
            <a:noAutofit/>
          </a:bodyPr>
          <a:lstStyle/>
          <a:p>
            <a:pPr algn="l"/>
            <a:r>
              <a:rPr sz="1250" b="1" i="0">
                <a:solidFill>
                  <a:srgbClr val="0C3D6E"/>
                </a:solidFill>
                <a:latin typeface="Open Sans"/>
              </a:rPr>
              <a:t>Tensors  </a:t>
            </a:r>
            <a:r>
              <a:rPr sz="1250" b="0" i="0">
                <a:solidFill>
                  <a:srgbClr val="1A2733"/>
                </a:solidFill>
                <a:latin typeface="Open Sans"/>
              </a:rPr>
              <a:t>Matrix maths on a whole batch at once, on CPU or GPU, with every operation recorded.</a:t>
            </a:r>
          </a:p>
        </p:txBody>
      </p:sp>
      <p:sp>
        <p:nvSpPr>
          <p:cNvPr id="45" name="Oval 44"/>
          <p:cNvSpPr/>
          <p:nvPr/>
        </p:nvSpPr>
        <p:spPr>
          <a:xfrm>
            <a:off x="6949440" y="4288536"/>
            <a:ext cx="274320" cy="274320"/>
          </a:xfrm>
          <a:prstGeom prst="ellipse">
            <a:avLst/>
          </a:prstGeom>
          <a:solidFill>
            <a:srgbClr val="3399CC"/>
          </a:solidFill>
          <a:ln>
            <a:noFill/>
          </a:ln>
          <a:effectLst/>
        </p:spPr>
        <p:txBody>
          <a:bodyPr rtlCol="0" anchor="ctr"/>
          <a:lstStyle/>
          <a:p>
            <a:pPr algn="ctr"/>
            <a:endParaRPr/>
          </a:p>
        </p:txBody>
      </p:sp>
      <p:sp>
        <p:nvSpPr>
          <p:cNvPr id="46" name="TextBox 45"/>
          <p:cNvSpPr txBox="1"/>
          <p:nvPr/>
        </p:nvSpPr>
        <p:spPr>
          <a:xfrm>
            <a:off x="6949440" y="4288536"/>
            <a:ext cx="274320" cy="274320"/>
          </a:xfrm>
          <a:prstGeom prst="rect">
            <a:avLst/>
          </a:prstGeom>
          <a:noFill/>
        </p:spPr>
        <p:txBody>
          <a:bodyPr wrap="square" lIns="0" tIns="0" rIns="0" bIns="0" anchor="ctr">
            <a:noAutofit/>
          </a:bodyPr>
          <a:lstStyle/>
          <a:p>
            <a:pPr algn="ctr"/>
            <a:r>
              <a:rPr sz="1100" b="1" i="0">
                <a:solidFill>
                  <a:srgbClr val="FFFFFF"/>
                </a:solidFill>
                <a:latin typeface="Open Sans"/>
              </a:rPr>
              <a:t>6</a:t>
            </a:r>
          </a:p>
        </p:txBody>
      </p:sp>
      <p:sp>
        <p:nvSpPr>
          <p:cNvPr id="47" name="TextBox 46"/>
          <p:cNvSpPr txBox="1"/>
          <p:nvPr/>
        </p:nvSpPr>
        <p:spPr>
          <a:xfrm>
            <a:off x="7360920" y="4251960"/>
            <a:ext cx="4389120" cy="566928"/>
          </a:xfrm>
          <a:prstGeom prst="rect">
            <a:avLst/>
          </a:prstGeom>
          <a:noFill/>
        </p:spPr>
        <p:txBody>
          <a:bodyPr wrap="square" lIns="0" tIns="0" rIns="0" bIns="0" anchor="t">
            <a:noAutofit/>
          </a:bodyPr>
          <a:lstStyle/>
          <a:p>
            <a:pPr algn="l"/>
            <a:r>
              <a:rPr sz="1250" b="1" i="0">
                <a:solidFill>
                  <a:srgbClr val="0C3D6E"/>
                </a:solidFill>
                <a:latin typeface="Open Sans"/>
              </a:rPr>
              <a:t>Autograd  </a:t>
            </a:r>
            <a:r>
              <a:rPr sz="1250" b="0" i="0">
                <a:solidFill>
                  <a:srgbClr val="1A2733"/>
                </a:solidFill>
                <a:latin typeface="Open Sans"/>
              </a:rPr>
              <a:t>From that record, computes the gradient of the loss for every weight: backpropagation, done for you.</a:t>
            </a:r>
          </a:p>
        </p:txBody>
      </p:sp>
      <p:sp>
        <p:nvSpPr>
          <p:cNvPr id="48" name="Rectangle 47"/>
          <p:cNvSpPr/>
          <p:nvPr/>
        </p:nvSpPr>
        <p:spPr>
          <a:xfrm>
            <a:off x="457200" y="4937760"/>
            <a:ext cx="6126480" cy="1325880"/>
          </a:xfrm>
          <a:prstGeom prst="rect">
            <a:avLst/>
          </a:prstGeom>
          <a:solidFill>
            <a:srgbClr val="EAF3FA"/>
          </a:solidFill>
          <a:ln>
            <a:noFill/>
          </a:ln>
          <a:effectLst/>
        </p:spPr>
        <p:txBody>
          <a:bodyPr rtlCol="0" anchor="ctr"/>
          <a:lstStyle/>
          <a:p>
            <a:pPr algn="ctr"/>
            <a:endParaRPr/>
          </a:p>
        </p:txBody>
      </p:sp>
      <p:sp>
        <p:nvSpPr>
          <p:cNvPr id="49" name="TextBox 48"/>
          <p:cNvSpPr txBox="1"/>
          <p:nvPr/>
        </p:nvSpPr>
        <p:spPr>
          <a:xfrm>
            <a:off x="640080" y="5047488"/>
            <a:ext cx="5760720" cy="274320"/>
          </a:xfrm>
          <a:prstGeom prst="rect">
            <a:avLst/>
          </a:prstGeom>
          <a:noFill/>
        </p:spPr>
        <p:txBody>
          <a:bodyPr wrap="square" lIns="0" tIns="0" rIns="0" bIns="0" anchor="t">
            <a:noAutofit/>
          </a:bodyPr>
          <a:lstStyle/>
          <a:p>
            <a:pPr algn="l"/>
            <a:r>
              <a:rPr sz="1100" b="1" i="0">
                <a:solidFill>
                  <a:srgbClr val="3399CC"/>
                </a:solidFill>
                <a:latin typeface="Open Sans"/>
              </a:rPr>
              <a:t>WHAT IT TAKES OFF YOUR HANDS</a:t>
            </a:r>
          </a:p>
        </p:txBody>
      </p:sp>
      <p:sp>
        <p:nvSpPr>
          <p:cNvPr id="50" name="TextBox 49"/>
          <p:cNvSpPr txBox="1"/>
          <p:nvPr/>
        </p:nvSpPr>
        <p:spPr>
          <a:xfrm>
            <a:off x="640080" y="5349240"/>
            <a:ext cx="5760720" cy="868680"/>
          </a:xfrm>
          <a:prstGeom prst="rect">
            <a:avLst/>
          </a:prstGeom>
          <a:noFill/>
        </p:spPr>
        <p:txBody>
          <a:bodyPr wrap="square" lIns="0" tIns="0" rIns="0" bIns="0" anchor="t">
            <a:noAutofit/>
          </a:bodyPr>
          <a:lstStyle/>
          <a:p>
            <a:pPr algn="l"/>
            <a:r>
              <a:rPr sz="1250" b="0" i="0">
                <a:solidFill>
                  <a:srgbClr val="1A2733"/>
                </a:solidFill>
                <a:latin typeface="Open Sans"/>
              </a:rPr>
              <a:t>Deriving and coding the derivatives of every layer. Looping over thousands of weights. Writing your own batching. Separate code for the GPU. Saving and reloading weights (torch.save).</a:t>
            </a:r>
          </a:p>
        </p:txBody>
      </p:sp>
      <p:sp>
        <p:nvSpPr>
          <p:cNvPr id="51" name="Rectangle 50"/>
          <p:cNvSpPr/>
          <p:nvPr/>
        </p:nvSpPr>
        <p:spPr>
          <a:xfrm>
            <a:off x="6949440" y="4937760"/>
            <a:ext cx="4782312" cy="1325880"/>
          </a:xfrm>
          <a:prstGeom prst="rect">
            <a:avLst/>
          </a:prstGeom>
          <a:solidFill>
            <a:srgbClr val="0C3D6E"/>
          </a:solidFill>
          <a:ln>
            <a:noFill/>
          </a:ln>
          <a:effectLst/>
        </p:spPr>
        <p:txBody>
          <a:bodyPr rtlCol="0" anchor="ctr"/>
          <a:lstStyle/>
          <a:p>
            <a:pPr algn="ctr"/>
            <a:endParaRPr/>
          </a:p>
        </p:txBody>
      </p:sp>
      <p:sp>
        <p:nvSpPr>
          <p:cNvPr id="52" name="TextBox 51"/>
          <p:cNvSpPr txBox="1"/>
          <p:nvPr/>
        </p:nvSpPr>
        <p:spPr>
          <a:xfrm>
            <a:off x="7132320" y="5047488"/>
            <a:ext cx="4434840" cy="274320"/>
          </a:xfrm>
          <a:prstGeom prst="rect">
            <a:avLst/>
          </a:prstGeom>
          <a:noFill/>
        </p:spPr>
        <p:txBody>
          <a:bodyPr wrap="square" lIns="0" tIns="0" rIns="0" bIns="0" anchor="t">
            <a:noAutofit/>
          </a:bodyPr>
          <a:lstStyle/>
          <a:p>
            <a:pPr algn="l"/>
            <a:r>
              <a:rPr sz="1100" b="1" i="0">
                <a:solidFill>
                  <a:srgbClr val="9CC9E6"/>
                </a:solidFill>
                <a:latin typeface="Open Sans"/>
              </a:rPr>
              <a:t>WHAT STAYS WITH YOU</a:t>
            </a:r>
          </a:p>
        </p:txBody>
      </p:sp>
      <p:sp>
        <p:nvSpPr>
          <p:cNvPr id="53" name="TextBox 52"/>
          <p:cNvSpPr txBox="1"/>
          <p:nvPr/>
        </p:nvSpPr>
        <p:spPr>
          <a:xfrm>
            <a:off x="7132320" y="5349240"/>
            <a:ext cx="4434840" cy="868680"/>
          </a:xfrm>
          <a:prstGeom prst="rect">
            <a:avLst/>
          </a:prstGeom>
          <a:noFill/>
        </p:spPr>
        <p:txBody>
          <a:bodyPr wrap="square" lIns="0" tIns="0" rIns="0" bIns="0" anchor="t">
            <a:noAutofit/>
          </a:bodyPr>
          <a:lstStyle/>
          <a:p>
            <a:pPr algn="l"/>
            <a:r>
              <a:rPr sz="1250" b="0" i="0">
                <a:solidFill>
                  <a:srgbClr val="FFFFFF"/>
                </a:solidFill>
                <a:latin typeface="Open Sans"/>
              </a:rPr>
              <a:t>The data and the target, the split, the metric and the loss, the size of the network, the settings, the alert threshold.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 need to go deeper</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For those who want to see what happens inside the abstractions</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Plan for more than the video length: pause, rewrite the code yourself, and compare with the notebook.</a:t>
            </a:r>
          </a:p>
        </p:txBody>
      </p:sp>
      <p:sp>
        <p:nvSpPr>
          <p:cNvPr id="6" name="TextBox 5"/>
          <p:cNvSpPr txBox="1"/>
          <p:nvPr/>
        </p:nvSpPr>
        <p:spPr>
          <a:xfrm>
            <a:off x="457200" y="1417320"/>
            <a:ext cx="5120640" cy="365760"/>
          </a:xfrm>
          <a:prstGeom prst="rect">
            <a:avLst/>
          </a:prstGeom>
          <a:noFill/>
        </p:spPr>
        <p:txBody>
          <a:bodyPr wrap="square" lIns="0" tIns="0" rIns="0" bIns="0" anchor="t">
            <a:noAutofit/>
          </a:bodyPr>
          <a:lstStyle/>
          <a:p>
            <a:pPr algn="l"/>
            <a:r>
              <a:rPr sz="1700" b="1" i="0">
                <a:solidFill>
                  <a:srgbClr val="0C3D6E"/>
                </a:solidFill>
                <a:latin typeface="Open Sans"/>
              </a:rPr>
              <a:t>Option 1 · Open the classes</a:t>
            </a:r>
          </a:p>
        </p:txBody>
      </p:sp>
      <p:sp>
        <p:nvSpPr>
          <p:cNvPr id="7" name="TextBox 6"/>
          <p:cNvSpPr txBox="1"/>
          <p:nvPr/>
        </p:nvSpPr>
        <p:spPr>
          <a:xfrm>
            <a:off x="457200" y="1828800"/>
            <a:ext cx="5120640" cy="640080"/>
          </a:xfrm>
          <a:prstGeom prst="rect">
            <a:avLst/>
          </a:prstGeom>
          <a:noFill/>
        </p:spPr>
        <p:txBody>
          <a:bodyPr wrap="square" lIns="0" tIns="0" rIns="0" bIns="0" anchor="t">
            <a:noAutofit/>
          </a:bodyPr>
          <a:lstStyle/>
          <a:p>
            <a:pPr algn="l"/>
            <a:r>
              <a:rPr sz="1300" b="0" i="0">
                <a:solidFill>
                  <a:srgbClr val="1A2733"/>
                </a:solidFill>
                <a:latin typeface="Open Sans"/>
              </a:rPr>
              <a:t>Every PyTorch class is readable Python on top of fast kernels. In a notebook, ask for its source, then look at the numbers it holds.</a:t>
            </a:r>
          </a:p>
        </p:txBody>
      </p:sp>
      <p:sp>
        <p:nvSpPr>
          <p:cNvPr id="8" name="Rectangle 7"/>
          <p:cNvSpPr/>
          <p:nvPr/>
        </p:nvSpPr>
        <p:spPr>
          <a:xfrm>
            <a:off x="457200" y="2560320"/>
            <a:ext cx="5120640" cy="1920240"/>
          </a:xfrm>
          <a:prstGeom prst="rect">
            <a:avLst/>
          </a:prstGeom>
          <a:solidFill>
            <a:srgbClr val="F3F5F8"/>
          </a:solidFill>
          <a:ln>
            <a:noFill/>
          </a:ln>
          <a:effectLst/>
        </p:spPr>
        <p:txBody>
          <a:bodyPr rtlCol="0" anchor="ctr"/>
          <a:lstStyle/>
          <a:p>
            <a:pPr algn="ctr"/>
            <a:endParaRPr/>
          </a:p>
        </p:txBody>
      </p:sp>
      <p:sp>
        <p:nvSpPr>
          <p:cNvPr id="9" name="TextBox 8"/>
          <p:cNvSpPr txBox="1"/>
          <p:nvPr/>
        </p:nvSpPr>
        <p:spPr>
          <a:xfrm>
            <a:off x="594360" y="2651760"/>
            <a:ext cx="4846320" cy="1737360"/>
          </a:xfrm>
          <a:prstGeom prst="rect">
            <a:avLst/>
          </a:prstGeom>
          <a:noFill/>
        </p:spPr>
        <p:txBody>
          <a:bodyPr wrap="square" lIns="0" tIns="0" rIns="0" bIns="0" anchor="t">
            <a:noAutofit/>
          </a:bodyPr>
          <a:lstStyle/>
          <a:p>
            <a:pPr algn="l">
              <a:spcAft>
                <a:spcPts val="200"/>
              </a:spcAft>
            </a:pPr>
            <a:r>
              <a:rPr sz="1150" b="0" i="0">
                <a:solidFill>
                  <a:srgbClr val="1A2733"/>
                </a:solidFill>
                <a:latin typeface="Courier New"/>
              </a:rPr>
              <a:t>nn.Linear??               # Jupyter: show the source</a:t>
            </a:r>
          </a:p>
          <a:p>
            <a:pPr algn="l">
              <a:spcAft>
                <a:spcPts val="200"/>
              </a:spcAft>
            </a:pPr>
            <a:r>
              <a:rPr sz="1150" b="0" i="0">
                <a:solidFill>
                  <a:srgbClr val="1A2733"/>
                </a:solidFill>
                <a:latin typeface="Courier New"/>
              </a:rPr>
              <a:t>layer = nn.Linear(3, 1)</a:t>
            </a:r>
          </a:p>
          <a:p>
            <a:pPr algn="l">
              <a:spcAft>
                <a:spcPts val="200"/>
              </a:spcAft>
            </a:pPr>
            <a:r>
              <a:rPr sz="1150" b="0" i="0">
                <a:solidFill>
                  <a:srgbClr val="1A2733"/>
                </a:solidFill>
                <a:latin typeface="Courier New"/>
              </a:rPr>
              <a:t>layer.weight, layer.bias  # the actual numbers</a:t>
            </a:r>
          </a:p>
          <a:p>
            <a:pPr algn="l">
              <a:spcAft>
                <a:spcPts val="200"/>
              </a:spcAft>
            </a:pPr>
            <a:r>
              <a:rPr sz="1150" b="0" i="0">
                <a:solidFill>
                  <a:srgbClr val="1A2733"/>
                </a:solidFill>
                <a:latin typeface="Courier New"/>
              </a:rPr>
              <a:t>x = torch.randn(4, 3)     # a batch of 4 examples</a:t>
            </a:r>
          </a:p>
          <a:p>
            <a:pPr algn="l">
              <a:spcAft>
                <a:spcPts val="200"/>
              </a:spcAft>
            </a:pPr>
            <a:r>
              <a:rPr sz="1150" b="0" i="0">
                <a:solidFill>
                  <a:srgbClr val="1A2733"/>
                </a:solidFill>
                <a:latin typeface="Courier New"/>
              </a:rPr>
              <a:t>loss = layer(x).pow(2).mean()</a:t>
            </a:r>
          </a:p>
          <a:p>
            <a:pPr algn="l">
              <a:spcAft>
                <a:spcPts val="200"/>
              </a:spcAft>
            </a:pPr>
            <a:r>
              <a:rPr sz="1150" b="0" i="0">
                <a:solidFill>
                  <a:srgbClr val="1A2733"/>
                </a:solidFill>
                <a:latin typeface="Courier New"/>
              </a:rPr>
              <a:t>loss.backward()</a:t>
            </a:r>
          </a:p>
          <a:p>
            <a:pPr algn="l"/>
            <a:r>
              <a:rPr sz="1150" b="0" i="0">
                <a:solidFill>
                  <a:srgbClr val="1A2733"/>
                </a:solidFill>
                <a:latin typeface="Courier New"/>
              </a:rPr>
              <a:t>layer.weight.grad         # what autograd computed</a:t>
            </a:r>
          </a:p>
        </p:txBody>
      </p:sp>
      <p:sp>
        <p:nvSpPr>
          <p:cNvPr id="10" name="TextBox 9"/>
          <p:cNvSpPr txBox="1"/>
          <p:nvPr/>
        </p:nvSpPr>
        <p:spPr>
          <a:xfrm>
            <a:off x="457200" y="4754880"/>
            <a:ext cx="5120640" cy="1554480"/>
          </a:xfrm>
          <a:prstGeom prst="rect">
            <a:avLst/>
          </a:prstGeom>
          <a:noFill/>
        </p:spPr>
        <p:txBody>
          <a:bodyPr wrap="square" lIns="0" tIns="0" rIns="0" bIns="0" anchor="t">
            <a:noAutofit/>
          </a:bodyPr>
          <a:lstStyle/>
          <a:p>
            <a:pPr algn="l">
              <a:spcAft>
                <a:spcPts val="200"/>
              </a:spcAft>
            </a:pPr>
            <a:r>
              <a:rPr sz="1300" b="1" i="0">
                <a:solidFill>
                  <a:srgbClr val="0C3D6E"/>
                </a:solidFill>
                <a:latin typeface="Open Sans"/>
              </a:rPr>
              <a:t>What is torch.nn really?</a:t>
            </a:r>
          </a:p>
          <a:p>
            <a:pPr algn="l">
              <a:spcAft>
                <a:spcPts val="200"/>
              </a:spcAft>
            </a:pPr>
            <a:r>
              <a:rPr sz="1100" b="0" i="0">
                <a:solidFill>
                  <a:srgbClr val="3399CC"/>
                </a:solidFill>
                <a:latin typeface="Open Sans"/>
                <a:hlinkClick r:id="rId2"/>
              </a:rPr>
              <a:t>pytorch.org/tutorials · nn_tutorial</a:t>
            </a:r>
          </a:p>
          <a:p>
            <a:pPr algn="l"/>
            <a:r>
              <a:rPr sz="1300" b="0" i="0">
                <a:solidFill>
                  <a:srgbClr val="1A2733"/>
                </a:solidFill>
                <a:latin typeface="Open Sans"/>
              </a:rPr>
              <a:t>Starts from raw tensors and adds nn.Module, optim, Dataset and DataLoader one at a time, showing what each one replaces.</a:t>
            </a:r>
          </a:p>
        </p:txBody>
      </p:sp>
      <p:sp>
        <p:nvSpPr>
          <p:cNvPr id="11" name="Rectangle 10"/>
          <p:cNvSpPr/>
          <p:nvPr/>
        </p:nvSpPr>
        <p:spPr>
          <a:xfrm>
            <a:off x="5989320" y="1417320"/>
            <a:ext cx="5742432" cy="4937760"/>
          </a:xfrm>
          <a:prstGeom prst="rect">
            <a:avLst/>
          </a:prstGeom>
          <a:solidFill>
            <a:srgbClr val="0C3D6E"/>
          </a:solidFill>
          <a:ln>
            <a:noFill/>
          </a:ln>
          <a:effectLst/>
        </p:spPr>
        <p:txBody>
          <a:bodyPr rtlCol="0" anchor="ctr"/>
          <a:lstStyle/>
          <a:p>
            <a:pPr algn="ctr"/>
            <a:endParaRPr/>
          </a:p>
        </p:txBody>
      </p:sp>
      <p:sp>
        <p:nvSpPr>
          <p:cNvPr id="12" name="TextBox 11"/>
          <p:cNvSpPr txBox="1"/>
          <p:nvPr/>
        </p:nvSpPr>
        <p:spPr>
          <a:xfrm>
            <a:off x="6217920" y="1536192"/>
            <a:ext cx="5303520" cy="365760"/>
          </a:xfrm>
          <a:prstGeom prst="rect">
            <a:avLst/>
          </a:prstGeom>
          <a:noFill/>
        </p:spPr>
        <p:txBody>
          <a:bodyPr wrap="square" lIns="0" tIns="0" rIns="0" bIns="0" anchor="t">
            <a:noAutofit/>
          </a:bodyPr>
          <a:lstStyle/>
          <a:p>
            <a:pPr algn="l"/>
            <a:r>
              <a:rPr sz="1700" b="1" i="0">
                <a:solidFill>
                  <a:srgbClr val="FFFFFF"/>
                </a:solidFill>
                <a:latin typeface="Open Sans"/>
              </a:rPr>
              <a:t>Option 2 · Rebuild it from scratch</a:t>
            </a:r>
          </a:p>
        </p:txBody>
      </p:sp>
      <p:sp>
        <p:nvSpPr>
          <p:cNvPr id="13" name="TextBox 12"/>
          <p:cNvSpPr txBox="1"/>
          <p:nvPr/>
        </p:nvSpPr>
        <p:spPr>
          <a:xfrm>
            <a:off x="6217920" y="1920240"/>
            <a:ext cx="5303520" cy="548640"/>
          </a:xfrm>
          <a:prstGeom prst="rect">
            <a:avLst/>
          </a:prstGeom>
          <a:noFill/>
        </p:spPr>
        <p:txBody>
          <a:bodyPr wrap="square" lIns="0" tIns="0" rIns="0" bIns="0" anchor="t">
            <a:noAutofit/>
          </a:bodyPr>
          <a:lstStyle/>
          <a:p>
            <a:pPr algn="l">
              <a:spcAft>
                <a:spcPts val="100"/>
              </a:spcAft>
            </a:pPr>
            <a:r>
              <a:rPr sz="1300" b="1" i="0">
                <a:solidFill>
                  <a:srgbClr val="9CC9E6"/>
                </a:solidFill>
                <a:latin typeface="Open Sans"/>
              </a:rPr>
              <a:t>Neural Networks: Zero to Hero</a:t>
            </a:r>
            <a:r>
              <a:rPr sz="1300" b="0" i="0">
                <a:solidFill>
                  <a:srgbClr val="FFFFFF"/>
                </a:solidFill>
                <a:latin typeface="Open Sans"/>
              </a:rPr>
              <a:t>  ·  Andrej Karpathy</a:t>
            </a:r>
          </a:p>
          <a:p>
            <a:pPr algn="l"/>
            <a:r>
              <a:rPr sz="1100" b="0" i="0">
                <a:solidFill>
                  <a:srgbClr val="9CC9E6"/>
                </a:solidFill>
                <a:latin typeface="Open Sans"/>
                <a:hlinkClick r:id="rId3"/>
              </a:rPr>
              <a:t>karpathy.ai/zero-to-hero.html</a:t>
            </a:r>
            <a:r>
              <a:rPr sz="1100" b="0" i="0">
                <a:solidFill>
                  <a:srgbClr val="FFFFFF"/>
                </a:solidFill>
                <a:latin typeface="Open Sans"/>
              </a:rPr>
              <a:t>  ·  free videos and notebooks</a:t>
            </a:r>
          </a:p>
        </p:txBody>
      </p:sp>
      <p:cxnSp>
        <p:nvCxnSpPr>
          <p:cNvPr id="14" name="Connector 13"/>
          <p:cNvCxnSpPr/>
          <p:nvPr/>
        </p:nvCxnSpPr>
        <p:spPr>
          <a:xfrm>
            <a:off x="6400800" y="2807208"/>
            <a:ext cx="0" cy="2926080"/>
          </a:xfrm>
          <a:prstGeom prst="line">
            <a:avLst/>
          </a:prstGeom>
          <a:ln w="19050">
            <a:solidFill>
              <a:srgbClr val="9CC9E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309360" y="2724912"/>
            <a:ext cx="182880" cy="182880"/>
          </a:xfrm>
          <a:prstGeom prst="ellipse">
            <a:avLst/>
          </a:prstGeom>
          <a:solidFill>
            <a:srgbClr val="3399CC"/>
          </a:solidFill>
          <a:ln>
            <a:noFill/>
          </a:ln>
          <a:effectLst/>
        </p:spPr>
        <p:txBody>
          <a:bodyPr rtlCol="0" anchor="ctr"/>
          <a:lstStyle/>
          <a:p>
            <a:pPr algn="ctr"/>
            <a:endParaRPr/>
          </a:p>
        </p:txBody>
      </p:sp>
      <p:sp>
        <p:nvSpPr>
          <p:cNvPr id="16" name="TextBox 15"/>
          <p:cNvSpPr txBox="1"/>
          <p:nvPr/>
        </p:nvSpPr>
        <p:spPr>
          <a:xfrm>
            <a:off x="6675120" y="2660904"/>
            <a:ext cx="4892040" cy="566928"/>
          </a:xfrm>
          <a:prstGeom prst="rect">
            <a:avLst/>
          </a:prstGeom>
          <a:noFill/>
        </p:spPr>
        <p:txBody>
          <a:bodyPr wrap="square" lIns="0" tIns="0" rIns="0" bIns="0" anchor="t">
            <a:noAutofit/>
          </a:bodyPr>
          <a:lstStyle/>
          <a:p>
            <a:pPr algn="l"/>
            <a:r>
              <a:rPr sz="1200" b="1" i="0">
                <a:solidFill>
                  <a:srgbClr val="FFFFFF"/>
                </a:solidFill>
                <a:latin typeface="Open Sans"/>
              </a:rPr>
              <a:t>micrograd  </a:t>
            </a:r>
            <a:r>
              <a:rPr sz="1200" b="0" i="0">
                <a:solidFill>
                  <a:srgbClr val="DCE8F2"/>
                </a:solidFill>
                <a:latin typeface="Open Sans"/>
              </a:rPr>
              <a:t>A tiny autograd engine: what loss.backward() really does</a:t>
            </a:r>
          </a:p>
        </p:txBody>
      </p:sp>
      <p:sp>
        <p:nvSpPr>
          <p:cNvPr id="17" name="Oval 16"/>
          <p:cNvSpPr/>
          <p:nvPr/>
        </p:nvSpPr>
        <p:spPr>
          <a:xfrm>
            <a:off x="6309360" y="3310128"/>
            <a:ext cx="182880" cy="182880"/>
          </a:xfrm>
          <a:prstGeom prst="ellipse">
            <a:avLst/>
          </a:prstGeom>
          <a:solidFill>
            <a:srgbClr val="3399CC"/>
          </a:solidFill>
          <a:ln>
            <a:noFill/>
          </a:ln>
          <a:effectLst/>
        </p:spPr>
        <p:txBody>
          <a:bodyPr rtlCol="0" anchor="ctr"/>
          <a:lstStyle/>
          <a:p>
            <a:pPr algn="ctr"/>
            <a:endParaRPr/>
          </a:p>
        </p:txBody>
      </p:sp>
      <p:sp>
        <p:nvSpPr>
          <p:cNvPr id="18" name="TextBox 17"/>
          <p:cNvSpPr txBox="1"/>
          <p:nvPr/>
        </p:nvSpPr>
        <p:spPr>
          <a:xfrm>
            <a:off x="6675120" y="3246120"/>
            <a:ext cx="4892040" cy="566928"/>
          </a:xfrm>
          <a:prstGeom prst="rect">
            <a:avLst/>
          </a:prstGeom>
          <a:noFill/>
        </p:spPr>
        <p:txBody>
          <a:bodyPr wrap="square" lIns="0" tIns="0" rIns="0" bIns="0" anchor="t">
            <a:noAutofit/>
          </a:bodyPr>
          <a:lstStyle/>
          <a:p>
            <a:pPr algn="l"/>
            <a:r>
              <a:rPr sz="1200" b="1" i="0">
                <a:solidFill>
                  <a:srgbClr val="FFFFFF"/>
                </a:solidFill>
                <a:latin typeface="Open Sans"/>
              </a:rPr>
              <a:t>makemore 1–3  </a:t>
            </a:r>
            <a:r>
              <a:rPr sz="1200" b="0" i="0">
                <a:solidFill>
                  <a:srgbClr val="DCE8F2"/>
                </a:solidFill>
                <a:latin typeface="Open Sans"/>
              </a:rPr>
              <a:t>From counting letters to an MLP, activations and BatchNorm: our nn.Sequential, built by hand</a:t>
            </a:r>
          </a:p>
        </p:txBody>
      </p:sp>
      <p:sp>
        <p:nvSpPr>
          <p:cNvPr id="19" name="Oval 18"/>
          <p:cNvSpPr/>
          <p:nvPr/>
        </p:nvSpPr>
        <p:spPr>
          <a:xfrm>
            <a:off x="6309360" y="3895344"/>
            <a:ext cx="182880" cy="182880"/>
          </a:xfrm>
          <a:prstGeom prst="ellipse">
            <a:avLst/>
          </a:prstGeom>
          <a:solidFill>
            <a:srgbClr val="E8742A"/>
          </a:solidFill>
          <a:ln>
            <a:noFill/>
          </a:ln>
          <a:effectLst/>
        </p:spPr>
        <p:txBody>
          <a:bodyPr rtlCol="0" anchor="ctr"/>
          <a:lstStyle/>
          <a:p>
            <a:pPr algn="ctr"/>
            <a:endParaRPr/>
          </a:p>
        </p:txBody>
      </p:sp>
      <p:sp>
        <p:nvSpPr>
          <p:cNvPr id="20" name="TextBox 19"/>
          <p:cNvSpPr txBox="1"/>
          <p:nvPr/>
        </p:nvSpPr>
        <p:spPr>
          <a:xfrm>
            <a:off x="6675120" y="3831336"/>
            <a:ext cx="4892040" cy="566928"/>
          </a:xfrm>
          <a:prstGeom prst="rect">
            <a:avLst/>
          </a:prstGeom>
          <a:noFill/>
        </p:spPr>
        <p:txBody>
          <a:bodyPr wrap="square" lIns="0" tIns="0" rIns="0" bIns="0" anchor="t">
            <a:noAutofit/>
          </a:bodyPr>
          <a:lstStyle/>
          <a:p>
            <a:pPr algn="l"/>
            <a:r>
              <a:rPr sz="1200" b="1" i="0">
                <a:solidFill>
                  <a:srgbClr val="F6B98E"/>
                </a:solidFill>
                <a:latin typeface="Open Sans"/>
              </a:rPr>
              <a:t>Becoming a backprop ninja  </a:t>
            </a:r>
            <a:r>
              <a:rPr sz="1200" b="0" i="0">
                <a:solidFill>
                  <a:srgbClr val="DCE8F2"/>
                </a:solidFill>
                <a:latin typeface="Open Sans"/>
              </a:rPr>
              <a:t>Every gradient computed by hand, no autograd</a:t>
            </a:r>
          </a:p>
        </p:txBody>
      </p:sp>
      <p:sp>
        <p:nvSpPr>
          <p:cNvPr id="21" name="Oval 20"/>
          <p:cNvSpPr/>
          <p:nvPr/>
        </p:nvSpPr>
        <p:spPr>
          <a:xfrm>
            <a:off x="6309360" y="4480560"/>
            <a:ext cx="182880" cy="182880"/>
          </a:xfrm>
          <a:prstGeom prst="ellipse">
            <a:avLst/>
          </a:prstGeom>
          <a:solidFill>
            <a:srgbClr val="3399CC"/>
          </a:solidFill>
          <a:ln>
            <a:noFill/>
          </a:ln>
          <a:effectLst/>
        </p:spPr>
        <p:txBody>
          <a:bodyPr rtlCol="0" anchor="ctr"/>
          <a:lstStyle/>
          <a:p>
            <a:pPr algn="ctr"/>
            <a:endParaRPr/>
          </a:p>
        </p:txBody>
      </p:sp>
      <p:sp>
        <p:nvSpPr>
          <p:cNvPr id="22" name="TextBox 21"/>
          <p:cNvSpPr txBox="1"/>
          <p:nvPr/>
        </p:nvSpPr>
        <p:spPr>
          <a:xfrm>
            <a:off x="6675120" y="4416552"/>
            <a:ext cx="4892040" cy="566928"/>
          </a:xfrm>
          <a:prstGeom prst="rect">
            <a:avLst/>
          </a:prstGeom>
          <a:noFill/>
        </p:spPr>
        <p:txBody>
          <a:bodyPr wrap="square" lIns="0" tIns="0" rIns="0" bIns="0" anchor="t">
            <a:noAutofit/>
          </a:bodyPr>
          <a:lstStyle/>
          <a:p>
            <a:pPr algn="l"/>
            <a:r>
              <a:rPr sz="1200" b="1" i="0">
                <a:solidFill>
                  <a:srgbClr val="FFFFFF"/>
                </a:solidFill>
                <a:latin typeface="Open Sans"/>
              </a:rPr>
              <a:t>makemore 5  </a:t>
            </a:r>
            <a:r>
              <a:rPr sz="1200" b="0" i="0">
                <a:solidFill>
                  <a:srgbClr val="DCE8F2"/>
                </a:solidFill>
                <a:latin typeface="Open Sans"/>
              </a:rPr>
              <a:t>A deeper, WaveNet-style network</a:t>
            </a:r>
          </a:p>
        </p:txBody>
      </p:sp>
      <p:sp>
        <p:nvSpPr>
          <p:cNvPr id="23" name="Oval 22"/>
          <p:cNvSpPr/>
          <p:nvPr/>
        </p:nvSpPr>
        <p:spPr>
          <a:xfrm>
            <a:off x="6309360" y="5065776"/>
            <a:ext cx="182880" cy="182880"/>
          </a:xfrm>
          <a:prstGeom prst="ellipse">
            <a:avLst/>
          </a:prstGeom>
          <a:solidFill>
            <a:srgbClr val="3399CC"/>
          </a:solidFill>
          <a:ln>
            <a:noFill/>
          </a:ln>
          <a:effectLst/>
        </p:spPr>
        <p:txBody>
          <a:bodyPr rtlCol="0" anchor="ctr"/>
          <a:lstStyle/>
          <a:p>
            <a:pPr algn="ctr"/>
            <a:endParaRPr/>
          </a:p>
        </p:txBody>
      </p:sp>
      <p:sp>
        <p:nvSpPr>
          <p:cNvPr id="24" name="TextBox 23"/>
          <p:cNvSpPr txBox="1"/>
          <p:nvPr/>
        </p:nvSpPr>
        <p:spPr>
          <a:xfrm>
            <a:off x="6675120" y="5001768"/>
            <a:ext cx="4892040" cy="566928"/>
          </a:xfrm>
          <a:prstGeom prst="rect">
            <a:avLst/>
          </a:prstGeom>
          <a:noFill/>
        </p:spPr>
        <p:txBody>
          <a:bodyPr wrap="square" lIns="0" tIns="0" rIns="0" bIns="0" anchor="t">
            <a:noAutofit/>
          </a:bodyPr>
          <a:lstStyle/>
          <a:p>
            <a:pPr algn="l"/>
            <a:r>
              <a:rPr sz="1200" b="1" i="0">
                <a:solidFill>
                  <a:srgbClr val="FFFFFF"/>
                </a:solidFill>
                <a:latin typeface="Open Sans"/>
              </a:rPr>
              <a:t>Let's build GPT  </a:t>
            </a:r>
            <a:r>
              <a:rPr sz="1200" b="0" i="0">
                <a:solidFill>
                  <a:srgbClr val="DCE8F2"/>
                </a:solidFill>
                <a:latin typeface="Open Sans"/>
              </a:rPr>
              <a:t>A Transformer from scratch: the bridge to the LLM module</a:t>
            </a:r>
          </a:p>
        </p:txBody>
      </p:sp>
      <p:sp>
        <p:nvSpPr>
          <p:cNvPr id="25" name="Oval 24"/>
          <p:cNvSpPr/>
          <p:nvPr/>
        </p:nvSpPr>
        <p:spPr>
          <a:xfrm>
            <a:off x="6309360" y="5650992"/>
            <a:ext cx="182880" cy="182880"/>
          </a:xfrm>
          <a:prstGeom prst="ellipse">
            <a:avLst/>
          </a:prstGeom>
          <a:solidFill>
            <a:srgbClr val="3399CC"/>
          </a:solidFill>
          <a:ln>
            <a:noFill/>
          </a:ln>
          <a:effectLst/>
        </p:spPr>
        <p:txBody>
          <a:bodyPr rtlCol="0" anchor="ctr"/>
          <a:lstStyle/>
          <a:p>
            <a:pPr algn="ctr"/>
            <a:endParaRPr/>
          </a:p>
        </p:txBody>
      </p:sp>
      <p:sp>
        <p:nvSpPr>
          <p:cNvPr id="26" name="TextBox 25"/>
          <p:cNvSpPr txBox="1"/>
          <p:nvPr/>
        </p:nvSpPr>
        <p:spPr>
          <a:xfrm>
            <a:off x="6675120" y="5586983"/>
            <a:ext cx="4892040" cy="566928"/>
          </a:xfrm>
          <a:prstGeom prst="rect">
            <a:avLst/>
          </a:prstGeom>
          <a:noFill/>
        </p:spPr>
        <p:txBody>
          <a:bodyPr wrap="square" lIns="0" tIns="0" rIns="0" bIns="0" anchor="t">
            <a:noAutofit/>
          </a:bodyPr>
          <a:lstStyle/>
          <a:p>
            <a:pPr algn="l"/>
            <a:r>
              <a:rPr sz="1200" b="1" i="0">
                <a:solidFill>
                  <a:srgbClr val="FFFFFF"/>
                </a:solidFill>
                <a:latin typeface="Open Sans"/>
              </a:rPr>
              <a:t>GPT tokenizer  </a:t>
            </a:r>
            <a:r>
              <a:rPr sz="1200" b="0" i="0">
                <a:solidFill>
                  <a:srgbClr val="DCE8F2"/>
                </a:solidFill>
                <a:latin typeface="Open Sans"/>
              </a:rPr>
              <a:t>How text becomes the numbers a model reads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Instructor notes</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Running order, timings and the hiccups worth knowing in advance</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2S is a simplified alternative to Exercises 2 + 3, on the same METAR data: pick one track per group.</a:t>
            </a:r>
          </a:p>
        </p:txBody>
      </p:sp>
      <p:sp>
        <p:nvSpPr>
          <p:cNvPr id="6" name="TextBox 5"/>
          <p:cNvSpPr txBox="1"/>
          <p:nvPr/>
        </p:nvSpPr>
        <p:spPr>
          <a:xfrm>
            <a:off x="457200" y="1417320"/>
            <a:ext cx="5486400" cy="274320"/>
          </a:xfrm>
          <a:prstGeom prst="rect">
            <a:avLst/>
          </a:prstGeom>
          <a:noFill/>
        </p:spPr>
        <p:txBody>
          <a:bodyPr wrap="square" lIns="0" tIns="0" rIns="0" bIns="0" anchor="t">
            <a:noAutofit/>
          </a:bodyPr>
          <a:lstStyle/>
          <a:p>
            <a:pPr algn="l"/>
            <a:r>
              <a:rPr sz="1100" b="1" i="0">
                <a:solidFill>
                  <a:srgbClr val="6B7B8D"/>
                </a:solidFill>
                <a:latin typeface="Open Sans"/>
              </a:rPr>
              <a:t>RUNNING ORDER</a:t>
            </a:r>
          </a:p>
        </p:txBody>
      </p:sp>
      <p:sp>
        <p:nvSpPr>
          <p:cNvPr id="7" name="TextBox 6"/>
          <p:cNvSpPr txBox="1"/>
          <p:nvPr/>
        </p:nvSpPr>
        <p:spPr>
          <a:xfrm>
            <a:off x="457200" y="1783080"/>
            <a:ext cx="1600200" cy="274320"/>
          </a:xfrm>
          <a:prstGeom prst="rect">
            <a:avLst/>
          </a:prstGeom>
          <a:noFill/>
        </p:spPr>
        <p:txBody>
          <a:bodyPr wrap="square" lIns="0" tIns="0" rIns="0" bIns="0" anchor="t">
            <a:noAutofit/>
          </a:bodyPr>
          <a:lstStyle/>
          <a:p>
            <a:pPr algn="l"/>
            <a:r>
              <a:rPr sz="1300" b="1" i="0">
                <a:solidFill>
                  <a:srgbClr val="3399CC"/>
                </a:solidFill>
                <a:latin typeface="Open Sans"/>
              </a:rPr>
              <a:t>Exercise 1</a:t>
            </a:r>
          </a:p>
        </p:txBody>
      </p:sp>
      <p:cxnSp>
        <p:nvCxnSpPr>
          <p:cNvPr id="8" name="Connector 7"/>
          <p:cNvCxnSpPr/>
          <p:nvPr/>
        </p:nvCxnSpPr>
        <p:spPr>
          <a:xfrm>
            <a:off x="2258568" y="1920240"/>
            <a:ext cx="0" cy="950976"/>
          </a:xfrm>
          <a:prstGeom prst="line">
            <a:avLst/>
          </a:prstGeom>
          <a:ln w="25400">
            <a:solidFill>
              <a:srgbClr val="3399CC"/>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167128" y="1828800"/>
            <a:ext cx="182880" cy="182880"/>
          </a:xfrm>
          <a:prstGeom prst="ellipse">
            <a:avLst/>
          </a:prstGeom>
          <a:solidFill>
            <a:srgbClr val="3399CC"/>
          </a:solidFill>
          <a:ln>
            <a:noFill/>
          </a:ln>
          <a:effectLst/>
        </p:spPr>
        <p:txBody>
          <a:bodyPr rtlCol="0" anchor="ctr"/>
          <a:lstStyle/>
          <a:p>
            <a:pPr algn="ctr"/>
            <a:endParaRPr/>
          </a:p>
        </p:txBody>
      </p:sp>
      <p:sp>
        <p:nvSpPr>
          <p:cNvPr id="10" name="TextBox 9"/>
          <p:cNvSpPr txBox="1"/>
          <p:nvPr/>
        </p:nvSpPr>
        <p:spPr>
          <a:xfrm>
            <a:off x="2514600" y="1783080"/>
            <a:ext cx="2377440" cy="274320"/>
          </a:xfrm>
          <a:prstGeom prst="rect">
            <a:avLst/>
          </a:prstGeom>
          <a:noFill/>
        </p:spPr>
        <p:txBody>
          <a:bodyPr wrap="square" lIns="0" tIns="0" rIns="0" bIns="0" anchor="t">
            <a:noAutofit/>
          </a:bodyPr>
          <a:lstStyle/>
          <a:p>
            <a:pPr algn="l"/>
            <a:r>
              <a:rPr sz="1300" b="0" i="0">
                <a:solidFill>
                  <a:srgbClr val="1A2733"/>
                </a:solidFill>
                <a:latin typeface="Open Sans"/>
              </a:rPr>
              <a:t>Part 1 · train</a:t>
            </a:r>
          </a:p>
        </p:txBody>
      </p:sp>
      <p:sp>
        <p:nvSpPr>
          <p:cNvPr id="11" name="TextBox 10"/>
          <p:cNvSpPr txBox="1"/>
          <p:nvPr/>
        </p:nvSpPr>
        <p:spPr>
          <a:xfrm>
            <a:off x="4846320" y="1783080"/>
            <a:ext cx="1280160" cy="274320"/>
          </a:xfrm>
          <a:prstGeom prst="rect">
            <a:avLst/>
          </a:prstGeom>
          <a:noFill/>
        </p:spPr>
        <p:txBody>
          <a:bodyPr wrap="square" lIns="0" tIns="0" rIns="0" bIns="0" anchor="t">
            <a:noAutofit/>
          </a:bodyPr>
          <a:lstStyle/>
          <a:p>
            <a:pPr algn="l"/>
            <a:r>
              <a:rPr sz="1200" b="0" i="0">
                <a:solidFill>
                  <a:srgbClr val="6B7B8D"/>
                </a:solidFill>
                <a:latin typeface="Open Sans"/>
              </a:rPr>
              <a:t>~2 h</a:t>
            </a:r>
          </a:p>
        </p:txBody>
      </p:sp>
      <p:sp>
        <p:nvSpPr>
          <p:cNvPr id="12" name="TextBox 11"/>
          <p:cNvSpPr txBox="1"/>
          <p:nvPr/>
        </p:nvSpPr>
        <p:spPr>
          <a:xfrm>
            <a:off x="2514600" y="2011680"/>
            <a:ext cx="3566160" cy="237744"/>
          </a:xfrm>
          <a:prstGeom prst="rect">
            <a:avLst/>
          </a:prstGeom>
          <a:noFill/>
        </p:spPr>
        <p:txBody>
          <a:bodyPr wrap="square" lIns="0" tIns="0" rIns="0" bIns="0" anchor="t">
            <a:noAutofit/>
          </a:bodyPr>
          <a:lstStyle/>
          <a:p>
            <a:pPr algn="l"/>
            <a:r>
              <a:rPr sz="1050" b="0" i="1">
                <a:solidFill>
                  <a:srgbClr val="6B7B8D"/>
                </a:solidFill>
                <a:latin typeface="Open Sans"/>
              </a:rPr>
              <a:t>run first: §8.1 saves the model</a:t>
            </a:r>
          </a:p>
        </p:txBody>
      </p:sp>
      <p:sp>
        <p:nvSpPr>
          <p:cNvPr id="13" name="Oval 12"/>
          <p:cNvSpPr/>
          <p:nvPr/>
        </p:nvSpPr>
        <p:spPr>
          <a:xfrm>
            <a:off x="2167128" y="2304287"/>
            <a:ext cx="182880" cy="182880"/>
          </a:xfrm>
          <a:prstGeom prst="ellipse">
            <a:avLst/>
          </a:prstGeom>
          <a:solidFill>
            <a:srgbClr val="3399CC"/>
          </a:solidFill>
          <a:ln>
            <a:noFill/>
          </a:ln>
          <a:effectLst/>
        </p:spPr>
        <p:txBody>
          <a:bodyPr rtlCol="0" anchor="ctr"/>
          <a:lstStyle/>
          <a:p>
            <a:pPr algn="ctr"/>
            <a:endParaRPr/>
          </a:p>
        </p:txBody>
      </p:sp>
      <p:sp>
        <p:nvSpPr>
          <p:cNvPr id="14" name="TextBox 13"/>
          <p:cNvSpPr txBox="1"/>
          <p:nvPr/>
        </p:nvSpPr>
        <p:spPr>
          <a:xfrm>
            <a:off x="2514600" y="2258568"/>
            <a:ext cx="2377440" cy="274320"/>
          </a:xfrm>
          <a:prstGeom prst="rect">
            <a:avLst/>
          </a:prstGeom>
          <a:noFill/>
        </p:spPr>
        <p:txBody>
          <a:bodyPr wrap="square" lIns="0" tIns="0" rIns="0" bIns="0" anchor="t">
            <a:noAutofit/>
          </a:bodyPr>
          <a:lstStyle/>
          <a:p>
            <a:pPr algn="l"/>
            <a:r>
              <a:rPr sz="1300" b="0" i="0">
                <a:solidFill>
                  <a:srgbClr val="1A2733"/>
                </a:solidFill>
                <a:latin typeface="Open Sans"/>
              </a:rPr>
              <a:t>Part 2 · inside the model</a:t>
            </a:r>
          </a:p>
        </p:txBody>
      </p:sp>
      <p:sp>
        <p:nvSpPr>
          <p:cNvPr id="15" name="TextBox 14"/>
          <p:cNvSpPr txBox="1"/>
          <p:nvPr/>
        </p:nvSpPr>
        <p:spPr>
          <a:xfrm>
            <a:off x="4846320" y="2258568"/>
            <a:ext cx="1280160" cy="274320"/>
          </a:xfrm>
          <a:prstGeom prst="rect">
            <a:avLst/>
          </a:prstGeom>
          <a:noFill/>
        </p:spPr>
        <p:txBody>
          <a:bodyPr wrap="square" lIns="0" tIns="0" rIns="0" bIns="0" anchor="t">
            <a:noAutofit/>
          </a:bodyPr>
          <a:lstStyle/>
          <a:p>
            <a:pPr algn="l"/>
            <a:r>
              <a:rPr sz="1200" b="0" i="0">
                <a:solidFill>
                  <a:srgbClr val="6B7B8D"/>
                </a:solidFill>
                <a:latin typeface="Open Sans"/>
              </a:rPr>
              <a:t>~1 h</a:t>
            </a:r>
          </a:p>
        </p:txBody>
      </p:sp>
      <p:sp>
        <p:nvSpPr>
          <p:cNvPr id="16" name="Oval 15"/>
          <p:cNvSpPr/>
          <p:nvPr/>
        </p:nvSpPr>
        <p:spPr>
          <a:xfrm>
            <a:off x="2167128" y="2779776"/>
            <a:ext cx="182880" cy="182880"/>
          </a:xfrm>
          <a:prstGeom prst="ellipse">
            <a:avLst/>
          </a:prstGeom>
          <a:solidFill>
            <a:srgbClr val="3399CC"/>
          </a:solidFill>
          <a:ln>
            <a:noFill/>
          </a:ln>
          <a:effectLst/>
        </p:spPr>
        <p:txBody>
          <a:bodyPr rtlCol="0" anchor="ctr"/>
          <a:lstStyle/>
          <a:p>
            <a:pPr algn="ctr"/>
            <a:endParaRPr/>
          </a:p>
        </p:txBody>
      </p:sp>
      <p:sp>
        <p:nvSpPr>
          <p:cNvPr id="17" name="TextBox 16"/>
          <p:cNvSpPr txBox="1"/>
          <p:nvPr/>
        </p:nvSpPr>
        <p:spPr>
          <a:xfrm>
            <a:off x="2514600" y="2734056"/>
            <a:ext cx="2377440" cy="274320"/>
          </a:xfrm>
          <a:prstGeom prst="rect">
            <a:avLst/>
          </a:prstGeom>
          <a:noFill/>
        </p:spPr>
        <p:txBody>
          <a:bodyPr wrap="square" lIns="0" tIns="0" rIns="0" bIns="0" anchor="t">
            <a:noAutofit/>
          </a:bodyPr>
          <a:lstStyle/>
          <a:p>
            <a:pPr algn="l"/>
            <a:r>
              <a:rPr sz="1300" b="0" i="0">
                <a:solidFill>
                  <a:srgbClr val="1A2733"/>
                </a:solidFill>
                <a:latin typeface="Open Sans"/>
              </a:rPr>
              <a:t>Part 3 · serve</a:t>
            </a:r>
          </a:p>
        </p:txBody>
      </p:sp>
      <p:sp>
        <p:nvSpPr>
          <p:cNvPr id="18" name="TextBox 17"/>
          <p:cNvSpPr txBox="1"/>
          <p:nvPr/>
        </p:nvSpPr>
        <p:spPr>
          <a:xfrm>
            <a:off x="4846320" y="2734056"/>
            <a:ext cx="1280160" cy="274320"/>
          </a:xfrm>
          <a:prstGeom prst="rect">
            <a:avLst/>
          </a:prstGeom>
          <a:noFill/>
        </p:spPr>
        <p:txBody>
          <a:bodyPr wrap="square" lIns="0" tIns="0" rIns="0" bIns="0" anchor="t">
            <a:noAutofit/>
          </a:bodyPr>
          <a:lstStyle/>
          <a:p>
            <a:pPr algn="l"/>
            <a:r>
              <a:rPr sz="1200" b="0" i="0">
                <a:solidFill>
                  <a:srgbClr val="6B7B8D"/>
                </a:solidFill>
                <a:latin typeface="Open Sans"/>
              </a:rPr>
              <a:t>~45 min</a:t>
            </a:r>
          </a:p>
        </p:txBody>
      </p:sp>
      <p:sp>
        <p:nvSpPr>
          <p:cNvPr id="19" name="TextBox 18"/>
          <p:cNvSpPr txBox="1"/>
          <p:nvPr/>
        </p:nvSpPr>
        <p:spPr>
          <a:xfrm>
            <a:off x="457200" y="3319272"/>
            <a:ext cx="1600200" cy="274320"/>
          </a:xfrm>
          <a:prstGeom prst="rect">
            <a:avLst/>
          </a:prstGeom>
          <a:noFill/>
        </p:spPr>
        <p:txBody>
          <a:bodyPr wrap="square" lIns="0" tIns="0" rIns="0" bIns="0" anchor="t">
            <a:noAutofit/>
          </a:bodyPr>
          <a:lstStyle/>
          <a:p>
            <a:pPr algn="l"/>
            <a:r>
              <a:rPr sz="1300" b="1" i="0">
                <a:solidFill>
                  <a:srgbClr val="0C3D6E"/>
                </a:solidFill>
                <a:latin typeface="Open Sans"/>
              </a:rPr>
              <a:t>Exercises 2 + 3</a:t>
            </a:r>
          </a:p>
        </p:txBody>
      </p:sp>
      <p:cxnSp>
        <p:nvCxnSpPr>
          <p:cNvPr id="20" name="Connector 19"/>
          <p:cNvCxnSpPr/>
          <p:nvPr/>
        </p:nvCxnSpPr>
        <p:spPr>
          <a:xfrm>
            <a:off x="2258568" y="3456432"/>
            <a:ext cx="0" cy="950976"/>
          </a:xfrm>
          <a:prstGeom prst="line">
            <a:avLst/>
          </a:prstGeom>
          <a:ln w="25400">
            <a:solidFill>
              <a:srgbClr val="0C3D6E"/>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2167128" y="3364991"/>
            <a:ext cx="182880" cy="182880"/>
          </a:xfrm>
          <a:prstGeom prst="ellipse">
            <a:avLst/>
          </a:prstGeom>
          <a:solidFill>
            <a:srgbClr val="0C3D6E"/>
          </a:solidFill>
          <a:ln>
            <a:noFill/>
          </a:ln>
          <a:effectLst/>
        </p:spPr>
        <p:txBody>
          <a:bodyPr rtlCol="0" anchor="ctr"/>
          <a:lstStyle/>
          <a:p>
            <a:pPr algn="ctr"/>
            <a:endParaRPr/>
          </a:p>
        </p:txBody>
      </p:sp>
      <p:sp>
        <p:nvSpPr>
          <p:cNvPr id="22" name="TextBox 21"/>
          <p:cNvSpPr txBox="1"/>
          <p:nvPr/>
        </p:nvSpPr>
        <p:spPr>
          <a:xfrm>
            <a:off x="2514600" y="3319272"/>
            <a:ext cx="2377440" cy="274320"/>
          </a:xfrm>
          <a:prstGeom prst="rect">
            <a:avLst/>
          </a:prstGeom>
          <a:noFill/>
        </p:spPr>
        <p:txBody>
          <a:bodyPr wrap="square" lIns="0" tIns="0" rIns="0" bIns="0" anchor="t">
            <a:noAutofit/>
          </a:bodyPr>
          <a:lstStyle/>
          <a:p>
            <a:pPr algn="l"/>
            <a:r>
              <a:rPr sz="1300" b="0" i="0">
                <a:solidFill>
                  <a:srgbClr val="1A2733"/>
                </a:solidFill>
                <a:latin typeface="Open Sans"/>
              </a:rPr>
              <a:t>Ex. 2 · low visibility</a:t>
            </a:r>
          </a:p>
        </p:txBody>
      </p:sp>
      <p:sp>
        <p:nvSpPr>
          <p:cNvPr id="23" name="TextBox 22"/>
          <p:cNvSpPr txBox="1"/>
          <p:nvPr/>
        </p:nvSpPr>
        <p:spPr>
          <a:xfrm>
            <a:off x="4846320" y="3319272"/>
            <a:ext cx="1280160" cy="274320"/>
          </a:xfrm>
          <a:prstGeom prst="rect">
            <a:avLst/>
          </a:prstGeom>
          <a:noFill/>
        </p:spPr>
        <p:txBody>
          <a:bodyPr wrap="square" lIns="0" tIns="0" rIns="0" bIns="0" anchor="t">
            <a:noAutofit/>
          </a:bodyPr>
          <a:lstStyle/>
          <a:p>
            <a:pPr algn="l"/>
            <a:r>
              <a:rPr sz="1200" b="0" i="0">
                <a:solidFill>
                  <a:srgbClr val="6B7B8D"/>
                </a:solidFill>
                <a:latin typeface="Open Sans"/>
              </a:rPr>
              <a:t>~2 h</a:t>
            </a:r>
          </a:p>
        </p:txBody>
      </p:sp>
      <p:sp>
        <p:nvSpPr>
          <p:cNvPr id="24" name="Oval 23"/>
          <p:cNvSpPr/>
          <p:nvPr/>
        </p:nvSpPr>
        <p:spPr>
          <a:xfrm>
            <a:off x="2167128" y="3840480"/>
            <a:ext cx="182880" cy="182880"/>
          </a:xfrm>
          <a:prstGeom prst="ellipse">
            <a:avLst/>
          </a:prstGeom>
          <a:solidFill>
            <a:srgbClr val="0C3D6E"/>
          </a:solidFill>
          <a:ln>
            <a:noFill/>
          </a:ln>
          <a:effectLst/>
        </p:spPr>
        <p:txBody>
          <a:bodyPr rtlCol="0" anchor="ctr"/>
          <a:lstStyle/>
          <a:p>
            <a:pPr algn="ctr"/>
            <a:endParaRPr/>
          </a:p>
        </p:txBody>
      </p:sp>
      <p:sp>
        <p:nvSpPr>
          <p:cNvPr id="25" name="TextBox 24"/>
          <p:cNvSpPr txBox="1"/>
          <p:nvPr/>
        </p:nvSpPr>
        <p:spPr>
          <a:xfrm>
            <a:off x="2514600" y="3794760"/>
            <a:ext cx="2377440" cy="274320"/>
          </a:xfrm>
          <a:prstGeom prst="rect">
            <a:avLst/>
          </a:prstGeom>
          <a:noFill/>
        </p:spPr>
        <p:txBody>
          <a:bodyPr wrap="square" lIns="0" tIns="0" rIns="0" bIns="0" anchor="t">
            <a:noAutofit/>
          </a:bodyPr>
          <a:lstStyle/>
          <a:p>
            <a:pPr algn="l"/>
            <a:r>
              <a:rPr sz="1300" b="0" i="0">
                <a:solidFill>
                  <a:srgbClr val="1A2733"/>
                </a:solidFill>
                <a:latin typeface="Open Sans"/>
              </a:rPr>
              <a:t>Ex. 3 Part 1 · train and save</a:t>
            </a:r>
          </a:p>
        </p:txBody>
      </p:sp>
      <p:sp>
        <p:nvSpPr>
          <p:cNvPr id="26" name="TextBox 25"/>
          <p:cNvSpPr txBox="1"/>
          <p:nvPr/>
        </p:nvSpPr>
        <p:spPr>
          <a:xfrm>
            <a:off x="4846320" y="3794760"/>
            <a:ext cx="1280160" cy="274320"/>
          </a:xfrm>
          <a:prstGeom prst="rect">
            <a:avLst/>
          </a:prstGeom>
          <a:noFill/>
        </p:spPr>
        <p:txBody>
          <a:bodyPr wrap="square" lIns="0" tIns="0" rIns="0" bIns="0" anchor="t">
            <a:noAutofit/>
          </a:bodyPr>
          <a:lstStyle/>
          <a:p>
            <a:pPr algn="l"/>
            <a:r>
              <a:rPr sz="1200" b="0" i="0">
                <a:solidFill>
                  <a:srgbClr val="6B7B8D"/>
                </a:solidFill>
                <a:latin typeface="Open Sans"/>
              </a:rPr>
              <a:t>~1 h 40</a:t>
            </a:r>
          </a:p>
        </p:txBody>
      </p:sp>
      <p:sp>
        <p:nvSpPr>
          <p:cNvPr id="27" name="TextBox 26"/>
          <p:cNvSpPr txBox="1"/>
          <p:nvPr/>
        </p:nvSpPr>
        <p:spPr>
          <a:xfrm>
            <a:off x="2514600" y="4023360"/>
            <a:ext cx="3566160" cy="237744"/>
          </a:xfrm>
          <a:prstGeom prst="rect">
            <a:avLst/>
          </a:prstGeom>
          <a:noFill/>
        </p:spPr>
        <p:txBody>
          <a:bodyPr wrap="square" lIns="0" tIns="0" rIns="0" bIns="0" anchor="t">
            <a:noAutofit/>
          </a:bodyPr>
          <a:lstStyle/>
          <a:p>
            <a:pPr algn="l"/>
            <a:r>
              <a:rPr sz="1050" b="0" i="1">
                <a:solidFill>
                  <a:srgbClr val="6B7B8D"/>
                </a:solidFill>
                <a:latin typeface="Open Sans"/>
              </a:rPr>
              <a:t>run first: creates artifacts/</a:t>
            </a:r>
          </a:p>
        </p:txBody>
      </p:sp>
      <p:sp>
        <p:nvSpPr>
          <p:cNvPr id="28" name="Oval 27"/>
          <p:cNvSpPr/>
          <p:nvPr/>
        </p:nvSpPr>
        <p:spPr>
          <a:xfrm>
            <a:off x="2167128" y="4315968"/>
            <a:ext cx="182880" cy="182880"/>
          </a:xfrm>
          <a:prstGeom prst="ellipse">
            <a:avLst/>
          </a:prstGeom>
          <a:solidFill>
            <a:srgbClr val="0C3D6E"/>
          </a:solidFill>
          <a:ln>
            <a:noFill/>
          </a:ln>
          <a:effectLst/>
        </p:spPr>
        <p:txBody>
          <a:bodyPr rtlCol="0" anchor="ctr"/>
          <a:lstStyle/>
          <a:p>
            <a:pPr algn="ctr"/>
            <a:endParaRPr/>
          </a:p>
        </p:txBody>
      </p:sp>
      <p:sp>
        <p:nvSpPr>
          <p:cNvPr id="29" name="TextBox 28"/>
          <p:cNvSpPr txBox="1"/>
          <p:nvPr/>
        </p:nvSpPr>
        <p:spPr>
          <a:xfrm>
            <a:off x="2514600" y="4270248"/>
            <a:ext cx="2377440" cy="274320"/>
          </a:xfrm>
          <a:prstGeom prst="rect">
            <a:avLst/>
          </a:prstGeom>
          <a:noFill/>
        </p:spPr>
        <p:txBody>
          <a:bodyPr wrap="square" lIns="0" tIns="0" rIns="0" bIns="0" anchor="t">
            <a:noAutofit/>
          </a:bodyPr>
          <a:lstStyle/>
          <a:p>
            <a:pPr algn="l"/>
            <a:r>
              <a:rPr sz="1300" b="0" i="0">
                <a:solidFill>
                  <a:srgbClr val="1A2733"/>
                </a:solidFill>
                <a:latin typeface="Open Sans"/>
              </a:rPr>
              <a:t>Ex. 3 Part 2 · run the service</a:t>
            </a:r>
          </a:p>
        </p:txBody>
      </p:sp>
      <p:sp>
        <p:nvSpPr>
          <p:cNvPr id="30" name="TextBox 29"/>
          <p:cNvSpPr txBox="1"/>
          <p:nvPr/>
        </p:nvSpPr>
        <p:spPr>
          <a:xfrm>
            <a:off x="4846320" y="4270248"/>
            <a:ext cx="1280160" cy="274320"/>
          </a:xfrm>
          <a:prstGeom prst="rect">
            <a:avLst/>
          </a:prstGeom>
          <a:noFill/>
        </p:spPr>
        <p:txBody>
          <a:bodyPr wrap="square" lIns="0" tIns="0" rIns="0" bIns="0" anchor="t">
            <a:noAutofit/>
          </a:bodyPr>
          <a:lstStyle/>
          <a:p>
            <a:pPr algn="l"/>
            <a:r>
              <a:rPr sz="1200" b="0" i="0">
                <a:solidFill>
                  <a:srgbClr val="6B7B8D"/>
                </a:solidFill>
                <a:latin typeface="Open Sans"/>
              </a:rPr>
              <a:t>(both parts)</a:t>
            </a:r>
          </a:p>
        </p:txBody>
      </p:sp>
      <p:sp>
        <p:nvSpPr>
          <p:cNvPr id="31" name="TextBox 30"/>
          <p:cNvSpPr txBox="1"/>
          <p:nvPr/>
        </p:nvSpPr>
        <p:spPr>
          <a:xfrm>
            <a:off x="457200" y="4855464"/>
            <a:ext cx="1600200" cy="274320"/>
          </a:xfrm>
          <a:prstGeom prst="rect">
            <a:avLst/>
          </a:prstGeom>
          <a:noFill/>
        </p:spPr>
        <p:txBody>
          <a:bodyPr wrap="square" lIns="0" tIns="0" rIns="0" bIns="0" anchor="t">
            <a:noAutofit/>
          </a:bodyPr>
          <a:lstStyle/>
          <a:p>
            <a:pPr algn="l"/>
            <a:r>
              <a:rPr sz="1300" b="1" i="0">
                <a:solidFill>
                  <a:srgbClr val="E8742A"/>
                </a:solidFill>
                <a:latin typeface="Open Sans"/>
              </a:rPr>
              <a:t>or track 2S</a:t>
            </a:r>
          </a:p>
        </p:txBody>
      </p:sp>
      <p:cxnSp>
        <p:nvCxnSpPr>
          <p:cNvPr id="32" name="Connector 31"/>
          <p:cNvCxnSpPr/>
          <p:nvPr/>
        </p:nvCxnSpPr>
        <p:spPr>
          <a:xfrm>
            <a:off x="2258568" y="4992624"/>
            <a:ext cx="0" cy="950976"/>
          </a:xfrm>
          <a:prstGeom prst="line">
            <a:avLst/>
          </a:prstGeom>
          <a:ln w="25400">
            <a:solidFill>
              <a:srgbClr val="E8742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167128" y="4901184"/>
            <a:ext cx="182880" cy="182880"/>
          </a:xfrm>
          <a:prstGeom prst="ellipse">
            <a:avLst/>
          </a:prstGeom>
          <a:solidFill>
            <a:srgbClr val="E8742A"/>
          </a:solidFill>
          <a:ln>
            <a:noFill/>
          </a:ln>
          <a:effectLst/>
        </p:spPr>
        <p:txBody>
          <a:bodyPr rtlCol="0" anchor="ctr"/>
          <a:lstStyle/>
          <a:p>
            <a:pPr algn="ctr"/>
            <a:endParaRPr/>
          </a:p>
        </p:txBody>
      </p:sp>
      <p:sp>
        <p:nvSpPr>
          <p:cNvPr id="34" name="TextBox 33"/>
          <p:cNvSpPr txBox="1"/>
          <p:nvPr/>
        </p:nvSpPr>
        <p:spPr>
          <a:xfrm>
            <a:off x="2514600" y="4855464"/>
            <a:ext cx="2377440" cy="274320"/>
          </a:xfrm>
          <a:prstGeom prst="rect">
            <a:avLst/>
          </a:prstGeom>
          <a:noFill/>
        </p:spPr>
        <p:txBody>
          <a:bodyPr wrap="square" lIns="0" tIns="0" rIns="0" bIns="0" anchor="t">
            <a:noAutofit/>
          </a:bodyPr>
          <a:lstStyle/>
          <a:p>
            <a:pPr algn="l"/>
            <a:r>
              <a:rPr sz="1300" b="0" i="0">
                <a:solidFill>
                  <a:srgbClr val="1A2733"/>
                </a:solidFill>
                <a:latin typeface="Open Sans"/>
              </a:rPr>
              <a:t>2S-1 · train</a:t>
            </a:r>
          </a:p>
        </p:txBody>
      </p:sp>
      <p:sp>
        <p:nvSpPr>
          <p:cNvPr id="35" name="TextBox 34"/>
          <p:cNvSpPr txBox="1"/>
          <p:nvPr/>
        </p:nvSpPr>
        <p:spPr>
          <a:xfrm>
            <a:off x="4846320" y="4855464"/>
            <a:ext cx="1280160" cy="274320"/>
          </a:xfrm>
          <a:prstGeom prst="rect">
            <a:avLst/>
          </a:prstGeom>
          <a:noFill/>
        </p:spPr>
        <p:txBody>
          <a:bodyPr wrap="square" lIns="0" tIns="0" rIns="0" bIns="0" anchor="t">
            <a:noAutofit/>
          </a:bodyPr>
          <a:lstStyle/>
          <a:p>
            <a:pPr algn="l"/>
            <a:r>
              <a:rPr sz="1200" b="0" i="0">
                <a:solidFill>
                  <a:srgbClr val="6B7B8D"/>
                </a:solidFill>
                <a:latin typeface="Open Sans"/>
              </a:rPr>
              <a:t>~1 h 15</a:t>
            </a:r>
          </a:p>
        </p:txBody>
      </p:sp>
      <p:sp>
        <p:nvSpPr>
          <p:cNvPr id="36" name="TextBox 35"/>
          <p:cNvSpPr txBox="1"/>
          <p:nvPr/>
        </p:nvSpPr>
        <p:spPr>
          <a:xfrm>
            <a:off x="2514600" y="5084064"/>
            <a:ext cx="3566160" cy="237744"/>
          </a:xfrm>
          <a:prstGeom prst="rect">
            <a:avLst/>
          </a:prstGeom>
          <a:noFill/>
        </p:spPr>
        <p:txBody>
          <a:bodyPr wrap="square" lIns="0" tIns="0" rIns="0" bIns="0" anchor="t">
            <a:noAutofit/>
          </a:bodyPr>
          <a:lstStyle/>
          <a:p>
            <a:pPr algn="l"/>
            <a:r>
              <a:rPr sz="1050" b="0" i="1">
                <a:solidFill>
                  <a:srgbClr val="6B7B8D"/>
                </a:solidFill>
                <a:latin typeface="Open Sans"/>
              </a:rPr>
              <a:t>run first: saves the model</a:t>
            </a:r>
          </a:p>
        </p:txBody>
      </p:sp>
      <p:sp>
        <p:nvSpPr>
          <p:cNvPr id="37" name="Oval 36"/>
          <p:cNvSpPr/>
          <p:nvPr/>
        </p:nvSpPr>
        <p:spPr>
          <a:xfrm>
            <a:off x="2167128" y="5376672"/>
            <a:ext cx="182880" cy="182880"/>
          </a:xfrm>
          <a:prstGeom prst="ellipse">
            <a:avLst/>
          </a:prstGeom>
          <a:solidFill>
            <a:srgbClr val="E8742A"/>
          </a:solidFill>
          <a:ln>
            <a:noFill/>
          </a:ln>
          <a:effectLst/>
        </p:spPr>
        <p:txBody>
          <a:bodyPr rtlCol="0" anchor="ctr"/>
          <a:lstStyle/>
          <a:p>
            <a:pPr algn="ctr"/>
            <a:endParaRPr/>
          </a:p>
        </p:txBody>
      </p:sp>
      <p:sp>
        <p:nvSpPr>
          <p:cNvPr id="38" name="TextBox 37"/>
          <p:cNvSpPr txBox="1"/>
          <p:nvPr/>
        </p:nvSpPr>
        <p:spPr>
          <a:xfrm>
            <a:off x="2514600" y="5330952"/>
            <a:ext cx="2377440" cy="274320"/>
          </a:xfrm>
          <a:prstGeom prst="rect">
            <a:avLst/>
          </a:prstGeom>
          <a:noFill/>
        </p:spPr>
        <p:txBody>
          <a:bodyPr wrap="square" lIns="0" tIns="0" rIns="0" bIns="0" anchor="t">
            <a:noAutofit/>
          </a:bodyPr>
          <a:lstStyle/>
          <a:p>
            <a:pPr algn="l"/>
            <a:r>
              <a:rPr sz="1300" b="0" i="0">
                <a:solidFill>
                  <a:srgbClr val="1A2733"/>
                </a:solidFill>
                <a:latin typeface="Open Sans"/>
              </a:rPr>
              <a:t>2S-2 · inside the model</a:t>
            </a:r>
          </a:p>
        </p:txBody>
      </p:sp>
      <p:sp>
        <p:nvSpPr>
          <p:cNvPr id="39" name="TextBox 38"/>
          <p:cNvSpPr txBox="1"/>
          <p:nvPr/>
        </p:nvSpPr>
        <p:spPr>
          <a:xfrm>
            <a:off x="4846320" y="5330952"/>
            <a:ext cx="1280160" cy="274320"/>
          </a:xfrm>
          <a:prstGeom prst="rect">
            <a:avLst/>
          </a:prstGeom>
          <a:noFill/>
        </p:spPr>
        <p:txBody>
          <a:bodyPr wrap="square" lIns="0" tIns="0" rIns="0" bIns="0" anchor="t">
            <a:noAutofit/>
          </a:bodyPr>
          <a:lstStyle/>
          <a:p>
            <a:pPr algn="l"/>
            <a:r>
              <a:rPr sz="1200" b="0" i="0">
                <a:solidFill>
                  <a:srgbClr val="6B7B8D"/>
                </a:solidFill>
                <a:latin typeface="Open Sans"/>
              </a:rPr>
              <a:t>~1 h</a:t>
            </a:r>
          </a:p>
        </p:txBody>
      </p:sp>
      <p:sp>
        <p:nvSpPr>
          <p:cNvPr id="40" name="Oval 39"/>
          <p:cNvSpPr/>
          <p:nvPr/>
        </p:nvSpPr>
        <p:spPr>
          <a:xfrm>
            <a:off x="2167128" y="5852160"/>
            <a:ext cx="182880" cy="182880"/>
          </a:xfrm>
          <a:prstGeom prst="ellipse">
            <a:avLst/>
          </a:prstGeom>
          <a:solidFill>
            <a:srgbClr val="E8742A"/>
          </a:solidFill>
          <a:ln>
            <a:noFill/>
          </a:ln>
          <a:effectLst/>
        </p:spPr>
        <p:txBody>
          <a:bodyPr rtlCol="0" anchor="ctr"/>
          <a:lstStyle/>
          <a:p>
            <a:pPr algn="ctr"/>
            <a:endParaRPr/>
          </a:p>
        </p:txBody>
      </p:sp>
      <p:sp>
        <p:nvSpPr>
          <p:cNvPr id="41" name="TextBox 40"/>
          <p:cNvSpPr txBox="1"/>
          <p:nvPr/>
        </p:nvSpPr>
        <p:spPr>
          <a:xfrm>
            <a:off x="2514600" y="5806440"/>
            <a:ext cx="2377440" cy="274320"/>
          </a:xfrm>
          <a:prstGeom prst="rect">
            <a:avLst/>
          </a:prstGeom>
          <a:noFill/>
        </p:spPr>
        <p:txBody>
          <a:bodyPr wrap="square" lIns="0" tIns="0" rIns="0" bIns="0" anchor="t">
            <a:noAutofit/>
          </a:bodyPr>
          <a:lstStyle/>
          <a:p>
            <a:pPr algn="l"/>
            <a:r>
              <a:rPr sz="1300" b="0" i="0">
                <a:solidFill>
                  <a:srgbClr val="1A2733"/>
                </a:solidFill>
                <a:latin typeface="Open Sans"/>
              </a:rPr>
              <a:t>2S-3 · serve</a:t>
            </a:r>
          </a:p>
        </p:txBody>
      </p:sp>
      <p:sp>
        <p:nvSpPr>
          <p:cNvPr id="42" name="TextBox 41"/>
          <p:cNvSpPr txBox="1"/>
          <p:nvPr/>
        </p:nvSpPr>
        <p:spPr>
          <a:xfrm>
            <a:off x="4846320" y="5806440"/>
            <a:ext cx="1280160" cy="274320"/>
          </a:xfrm>
          <a:prstGeom prst="rect">
            <a:avLst/>
          </a:prstGeom>
          <a:noFill/>
        </p:spPr>
        <p:txBody>
          <a:bodyPr wrap="square" lIns="0" tIns="0" rIns="0" bIns="0" anchor="t">
            <a:noAutofit/>
          </a:bodyPr>
          <a:lstStyle/>
          <a:p>
            <a:pPr algn="l"/>
            <a:r>
              <a:rPr sz="1200" b="0" i="0">
                <a:solidFill>
                  <a:srgbClr val="6B7B8D"/>
                </a:solidFill>
                <a:latin typeface="Open Sans"/>
              </a:rPr>
              <a:t>~45 min</a:t>
            </a:r>
          </a:p>
        </p:txBody>
      </p:sp>
      <p:cxnSp>
        <p:nvCxnSpPr>
          <p:cNvPr id="43" name="Connector 42"/>
          <p:cNvCxnSpPr/>
          <p:nvPr/>
        </p:nvCxnSpPr>
        <p:spPr>
          <a:xfrm>
            <a:off x="6309360" y="1463040"/>
            <a:ext cx="0" cy="484632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83680" y="1417320"/>
            <a:ext cx="5120640" cy="274320"/>
          </a:xfrm>
          <a:prstGeom prst="rect">
            <a:avLst/>
          </a:prstGeom>
          <a:noFill/>
        </p:spPr>
        <p:txBody>
          <a:bodyPr wrap="square" lIns="0" tIns="0" rIns="0" bIns="0" anchor="t">
            <a:noAutofit/>
          </a:bodyPr>
          <a:lstStyle/>
          <a:p>
            <a:pPr algn="l"/>
            <a:r>
              <a:rPr sz="1100" b="1" i="0">
                <a:solidFill>
                  <a:srgbClr val="6B7B8D"/>
                </a:solidFill>
                <a:latin typeface="Open Sans"/>
              </a:rPr>
              <a:t>BEFORE AND DURING THE SESSION</a:t>
            </a:r>
          </a:p>
        </p:txBody>
      </p:sp>
      <p:sp>
        <p:nvSpPr>
          <p:cNvPr id="45" name="TextBox 44"/>
          <p:cNvSpPr txBox="1"/>
          <p:nvPr/>
        </p:nvSpPr>
        <p:spPr>
          <a:xfrm>
            <a:off x="6583680" y="1783080"/>
            <a:ext cx="5120640" cy="914400"/>
          </a:xfrm>
          <a:prstGeom prst="rect">
            <a:avLst/>
          </a:prstGeom>
          <a:noFill/>
        </p:spPr>
        <p:txBody>
          <a:bodyPr wrap="square" lIns="0" tIns="0" rIns="0" bIns="0" anchor="t">
            <a:noAutofit/>
          </a:bodyPr>
          <a:lstStyle/>
          <a:p>
            <a:pPr algn="l"/>
            <a:r>
              <a:rPr sz="1300" b="1" i="0">
                <a:solidFill>
                  <a:srgbClr val="0C3D6E"/>
                </a:solidFill>
                <a:latin typeface="Open Sans"/>
              </a:rPr>
              <a:t>Local PCs  </a:t>
            </a:r>
            <a:r>
              <a:rPr sz="1300" b="0" i="0">
                <a:solidFill>
                  <a:srgbClr val="1A2733"/>
                </a:solidFill>
                <a:latin typeface="Open Sans"/>
              </a:rPr>
              <a:t>python check_setup.py must print READY on every workstation.</a:t>
            </a:r>
          </a:p>
        </p:txBody>
      </p:sp>
      <p:sp>
        <p:nvSpPr>
          <p:cNvPr id="46" name="TextBox 45"/>
          <p:cNvSpPr txBox="1"/>
          <p:nvPr/>
        </p:nvSpPr>
        <p:spPr>
          <a:xfrm>
            <a:off x="6583680" y="2441448"/>
            <a:ext cx="5120640" cy="914400"/>
          </a:xfrm>
          <a:prstGeom prst="rect">
            <a:avLst/>
          </a:prstGeom>
          <a:noFill/>
        </p:spPr>
        <p:txBody>
          <a:bodyPr wrap="square" lIns="0" tIns="0" rIns="0" bIns="0" anchor="t">
            <a:noAutofit/>
          </a:bodyPr>
          <a:lstStyle/>
          <a:p>
            <a:pPr algn="l"/>
            <a:r>
              <a:rPr sz="1300" b="1" i="0">
                <a:solidFill>
                  <a:srgbClr val="0C3D6E"/>
                </a:solidFill>
                <a:latin typeface="Open Sans"/>
              </a:rPr>
              <a:t>Colab  </a:t>
            </a:r>
            <a:r>
              <a:rPr sz="1300" b="0" i="0">
                <a:solidFill>
                  <a:srgbClr val="1A2733"/>
                </a:solidFill>
                <a:latin typeface="Open Sans"/>
              </a:rPr>
              <a:t>Each notebook runs on its own machine: Parts 2 and 3 use the ready-trained copy in artifacts/, not the model just trained. File → Save a copy in Drive, or results are lost.</a:t>
            </a:r>
          </a:p>
        </p:txBody>
      </p:sp>
      <p:sp>
        <p:nvSpPr>
          <p:cNvPr id="47" name="TextBox 46"/>
          <p:cNvSpPr txBox="1"/>
          <p:nvPr/>
        </p:nvSpPr>
        <p:spPr>
          <a:xfrm>
            <a:off x="6583680" y="3337560"/>
            <a:ext cx="5120640" cy="914400"/>
          </a:xfrm>
          <a:prstGeom prst="rect">
            <a:avLst/>
          </a:prstGeom>
          <a:noFill/>
        </p:spPr>
        <p:txBody>
          <a:bodyPr wrap="square" lIns="0" tIns="0" rIns="0" bIns="0" anchor="t">
            <a:noAutofit/>
          </a:bodyPr>
          <a:lstStyle/>
          <a:p>
            <a:pPr algn="l"/>
            <a:r>
              <a:rPr sz="1300" b="1" i="0">
                <a:solidFill>
                  <a:srgbClr val="0C3D6E"/>
                </a:solidFill>
                <a:latin typeface="Open Sans"/>
              </a:rPr>
              <a:t>Outputs are saved  </a:t>
            </a:r>
            <a:r>
              <a:rPr sz="1300" b="0" i="0">
                <a:solidFill>
                  <a:srgbClr val="1A2733"/>
                </a:solidFill>
                <a:latin typeface="Open Sans"/>
              </a:rPr>
              <a:t>Results can be read before running: useful when a PC is slow or a run fails.</a:t>
            </a:r>
          </a:p>
        </p:txBody>
      </p:sp>
      <p:sp>
        <p:nvSpPr>
          <p:cNvPr id="48" name="TextBox 47"/>
          <p:cNvSpPr txBox="1"/>
          <p:nvPr/>
        </p:nvSpPr>
        <p:spPr>
          <a:xfrm>
            <a:off x="6583680" y="3995928"/>
            <a:ext cx="5120640" cy="914400"/>
          </a:xfrm>
          <a:prstGeom prst="rect">
            <a:avLst/>
          </a:prstGeom>
          <a:noFill/>
        </p:spPr>
        <p:txBody>
          <a:bodyPr wrap="square" lIns="0" tIns="0" rIns="0" bIns="0" anchor="t">
            <a:noAutofit/>
          </a:bodyPr>
          <a:lstStyle/>
          <a:p>
            <a:pPr algn="l"/>
            <a:r>
              <a:rPr sz="1300" b="1" i="0">
                <a:solidFill>
                  <a:srgbClr val="0C3D6E"/>
                </a:solidFill>
                <a:latin typeface="Open Sans"/>
              </a:rPr>
              <a:t>🧑‍💻 challenges  </a:t>
            </a:r>
            <a:r>
              <a:rPr sz="1300" b="0" i="0">
                <a:solidFill>
                  <a:srgbClr val="1A2733"/>
                </a:solidFill>
                <a:latin typeface="Open Sans"/>
              </a:rPr>
              <a:t>Commented out, with ___ blanks. Nothing else depends on them. Solutions in each solutions/ folder.</a:t>
            </a:r>
          </a:p>
        </p:txBody>
      </p:sp>
      <p:sp>
        <p:nvSpPr>
          <p:cNvPr id="49" name="TextBox 48"/>
          <p:cNvSpPr txBox="1"/>
          <p:nvPr/>
        </p:nvSpPr>
        <p:spPr>
          <a:xfrm>
            <a:off x="6583680" y="4892040"/>
            <a:ext cx="5120640" cy="914400"/>
          </a:xfrm>
          <a:prstGeom prst="rect">
            <a:avLst/>
          </a:prstGeom>
          <a:noFill/>
        </p:spPr>
        <p:txBody>
          <a:bodyPr wrap="square" lIns="0" tIns="0" rIns="0" bIns="0" anchor="t">
            <a:noAutofit/>
          </a:bodyPr>
          <a:lstStyle/>
          <a:p>
            <a:pPr algn="l"/>
            <a:r>
              <a:rPr sz="1300" b="1" i="0">
                <a:solidFill>
                  <a:srgbClr val="0C3D6E"/>
                </a:solidFill>
                <a:latin typeface="Open Sans"/>
              </a:rPr>
              <a:t>Serving  </a:t>
            </a:r>
            <a:r>
              <a:rPr sz="1300" b="0" i="0">
                <a:solidFill>
                  <a:srgbClr val="1A2733"/>
                </a:solidFill>
                <a:latin typeface="Open Sans"/>
              </a:rPr>
              <a:t>“Address already in use”: an old service holds port 8000, restart the kernel. Service won't start: Part 1 not run. Edited serve.py: stop and restart.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labs on one map</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Every exercise walks through the same workflow; each one stresses different steps</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Same workflow, different emphasis: traffic teaches regression and tuning, low visibility teaches rare events and thresholds.</a:t>
            </a:r>
          </a:p>
        </p:txBody>
      </p:sp>
      <p:sp>
        <p:nvSpPr>
          <p:cNvPr id="6" name="TextBox 5"/>
          <p:cNvSpPr txBox="1"/>
          <p:nvPr/>
        </p:nvSpPr>
        <p:spPr>
          <a:xfrm>
            <a:off x="4160520"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Look at</a:t>
            </a:r>
          </a:p>
          <a:p>
            <a:pPr algn="ctr"/>
            <a:r>
              <a:rPr sz="1200" b="1" i="0">
                <a:solidFill>
                  <a:srgbClr val="0C3D6E"/>
                </a:solidFill>
                <a:latin typeface="Open Sans"/>
              </a:rPr>
              <a:t>the data</a:t>
            </a:r>
          </a:p>
        </p:txBody>
      </p:sp>
      <p:sp>
        <p:nvSpPr>
          <p:cNvPr id="7" name="TextBox 6"/>
          <p:cNvSpPr txBox="1"/>
          <p:nvPr/>
        </p:nvSpPr>
        <p:spPr>
          <a:xfrm>
            <a:off x="5102352"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Frame the</a:t>
            </a:r>
          </a:p>
          <a:p>
            <a:pPr algn="ctr"/>
            <a:r>
              <a:rPr sz="1200" b="1" i="0">
                <a:solidFill>
                  <a:srgbClr val="0C3D6E"/>
                </a:solidFill>
                <a:latin typeface="Open Sans"/>
              </a:rPr>
              <a:t>problem</a:t>
            </a:r>
          </a:p>
        </p:txBody>
      </p:sp>
      <p:sp>
        <p:nvSpPr>
          <p:cNvPr id="8" name="TextBox 7"/>
          <p:cNvSpPr txBox="1"/>
          <p:nvPr/>
        </p:nvSpPr>
        <p:spPr>
          <a:xfrm>
            <a:off x="6044183"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Prepare</a:t>
            </a:r>
          </a:p>
          <a:p>
            <a:pPr algn="ctr"/>
            <a:r>
              <a:rPr sz="1200" b="1" i="0">
                <a:solidFill>
                  <a:srgbClr val="0C3D6E"/>
                </a:solidFill>
                <a:latin typeface="Open Sans"/>
              </a:rPr>
              <a:t>for PyTorch</a:t>
            </a:r>
          </a:p>
        </p:txBody>
      </p:sp>
      <p:sp>
        <p:nvSpPr>
          <p:cNvPr id="9" name="TextBox 8"/>
          <p:cNvSpPr txBox="1"/>
          <p:nvPr/>
        </p:nvSpPr>
        <p:spPr>
          <a:xfrm>
            <a:off x="6986016"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Train</a:t>
            </a:r>
          </a:p>
        </p:txBody>
      </p:sp>
      <p:sp>
        <p:nvSpPr>
          <p:cNvPr id="10" name="TextBox 9"/>
          <p:cNvSpPr txBox="1"/>
          <p:nvPr/>
        </p:nvSpPr>
        <p:spPr>
          <a:xfrm>
            <a:off x="7927848"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Tune hyper-</a:t>
            </a:r>
          </a:p>
          <a:p>
            <a:pPr algn="ctr"/>
            <a:r>
              <a:rPr sz="1200" b="1" i="0">
                <a:solidFill>
                  <a:srgbClr val="0C3D6E"/>
                </a:solidFill>
                <a:latin typeface="Open Sans"/>
              </a:rPr>
              <a:t>parameters</a:t>
            </a:r>
          </a:p>
        </p:txBody>
      </p:sp>
      <p:sp>
        <p:nvSpPr>
          <p:cNvPr id="11" name="TextBox 10"/>
          <p:cNvSpPr txBox="1"/>
          <p:nvPr/>
        </p:nvSpPr>
        <p:spPr>
          <a:xfrm>
            <a:off x="8869680"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Test once</a:t>
            </a:r>
          </a:p>
        </p:txBody>
      </p:sp>
      <p:sp>
        <p:nvSpPr>
          <p:cNvPr id="12" name="TextBox 11"/>
          <p:cNvSpPr txBox="1"/>
          <p:nvPr/>
        </p:nvSpPr>
        <p:spPr>
          <a:xfrm>
            <a:off x="9811512"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Open the</a:t>
            </a:r>
          </a:p>
          <a:p>
            <a:pPr algn="ctr"/>
            <a:r>
              <a:rPr sz="1200" b="1" i="0">
                <a:solidFill>
                  <a:srgbClr val="0C3D6E"/>
                </a:solidFill>
                <a:latin typeface="Open Sans"/>
              </a:rPr>
              <a:t>box</a:t>
            </a:r>
          </a:p>
        </p:txBody>
      </p:sp>
      <p:sp>
        <p:nvSpPr>
          <p:cNvPr id="13" name="TextBox 12"/>
          <p:cNvSpPr txBox="1"/>
          <p:nvPr/>
        </p:nvSpPr>
        <p:spPr>
          <a:xfrm>
            <a:off x="10753344" y="1371600"/>
            <a:ext cx="941832" cy="548640"/>
          </a:xfrm>
          <a:prstGeom prst="rect">
            <a:avLst/>
          </a:prstGeom>
          <a:noFill/>
        </p:spPr>
        <p:txBody>
          <a:bodyPr wrap="square" lIns="0" tIns="0" rIns="0" bIns="0" anchor="t">
            <a:noAutofit/>
          </a:bodyPr>
          <a:lstStyle/>
          <a:p>
            <a:pPr algn="ctr"/>
            <a:r>
              <a:rPr sz="1200" b="1" i="0">
                <a:solidFill>
                  <a:srgbClr val="0C3D6E"/>
                </a:solidFill>
                <a:latin typeface="Open Sans"/>
              </a:rPr>
              <a:t>Serve</a:t>
            </a:r>
          </a:p>
        </p:txBody>
      </p:sp>
      <p:sp>
        <p:nvSpPr>
          <p:cNvPr id="14" name="Rectangle 13"/>
          <p:cNvSpPr/>
          <p:nvPr/>
        </p:nvSpPr>
        <p:spPr>
          <a:xfrm>
            <a:off x="457200" y="2103120"/>
            <a:ext cx="11274552" cy="914400"/>
          </a:xfrm>
          <a:prstGeom prst="rect">
            <a:avLst/>
          </a:prstGeom>
          <a:solidFill>
            <a:srgbClr val="F3F5F8"/>
          </a:solidFill>
          <a:ln>
            <a:noFill/>
          </a:ln>
          <a:effectLst/>
        </p:spPr>
        <p:txBody>
          <a:bodyPr rtlCol="0" anchor="ctr"/>
          <a:lstStyle/>
          <a:p>
            <a:pPr algn="ctr"/>
            <a:endParaRPr/>
          </a:p>
        </p:txBody>
      </p:sp>
      <p:sp>
        <p:nvSpPr>
          <p:cNvPr id="15" name="TextBox 14"/>
          <p:cNvSpPr txBox="1"/>
          <p:nvPr/>
        </p:nvSpPr>
        <p:spPr>
          <a:xfrm>
            <a:off x="594360" y="2231136"/>
            <a:ext cx="3566160" cy="320040"/>
          </a:xfrm>
          <a:prstGeom prst="rect">
            <a:avLst/>
          </a:prstGeom>
          <a:noFill/>
        </p:spPr>
        <p:txBody>
          <a:bodyPr wrap="square" lIns="0" tIns="0" rIns="0" bIns="0" anchor="t">
            <a:noAutofit/>
          </a:bodyPr>
          <a:lstStyle/>
          <a:p>
            <a:pPr algn="l"/>
            <a:r>
              <a:rPr sz="1400" b="1" i="0">
                <a:solidFill>
                  <a:srgbClr val="3399CC"/>
                </a:solidFill>
                <a:latin typeface="Open Sans"/>
              </a:rPr>
              <a:t>Exercise 1 · Brussels traffic</a:t>
            </a:r>
          </a:p>
        </p:txBody>
      </p:sp>
      <p:sp>
        <p:nvSpPr>
          <p:cNvPr id="16" name="TextBox 15"/>
          <p:cNvSpPr txBox="1"/>
          <p:nvPr/>
        </p:nvSpPr>
        <p:spPr>
          <a:xfrm>
            <a:off x="594360" y="2560320"/>
            <a:ext cx="3566160" cy="320040"/>
          </a:xfrm>
          <a:prstGeom prst="rect">
            <a:avLst/>
          </a:prstGeom>
          <a:noFill/>
        </p:spPr>
        <p:txBody>
          <a:bodyPr wrap="square" lIns="0" tIns="0" rIns="0" bIns="0" anchor="t">
            <a:noAutofit/>
          </a:bodyPr>
          <a:lstStyle/>
          <a:p>
            <a:pPr algn="l"/>
            <a:r>
              <a:rPr sz="1200" b="0" i="0">
                <a:solidFill>
                  <a:srgbClr val="6B7B8D"/>
                </a:solidFill>
                <a:latin typeface="Open Sans"/>
              </a:rPr>
              <a:t>Regression · MSE · tomorrow's movements</a:t>
            </a:r>
          </a:p>
        </p:txBody>
      </p:sp>
      <p:sp>
        <p:nvSpPr>
          <p:cNvPr id="17" name="Oval 16"/>
          <p:cNvSpPr/>
          <p:nvPr/>
        </p:nvSpPr>
        <p:spPr>
          <a:xfrm>
            <a:off x="4494275" y="2423160"/>
            <a:ext cx="274320" cy="274320"/>
          </a:xfrm>
          <a:prstGeom prst="ellipse">
            <a:avLst/>
          </a:prstGeom>
          <a:solidFill>
            <a:srgbClr val="3399CC"/>
          </a:solidFill>
          <a:ln>
            <a:noFill/>
          </a:ln>
          <a:effectLst/>
        </p:spPr>
        <p:txBody>
          <a:bodyPr rtlCol="0" anchor="ctr"/>
          <a:lstStyle/>
          <a:p>
            <a:pPr algn="ctr"/>
            <a:endParaRPr/>
          </a:p>
        </p:txBody>
      </p:sp>
      <p:sp>
        <p:nvSpPr>
          <p:cNvPr id="18" name="Oval 17"/>
          <p:cNvSpPr/>
          <p:nvPr/>
        </p:nvSpPr>
        <p:spPr>
          <a:xfrm>
            <a:off x="5436107" y="2423160"/>
            <a:ext cx="274320" cy="274320"/>
          </a:xfrm>
          <a:prstGeom prst="ellipse">
            <a:avLst/>
          </a:prstGeom>
          <a:solidFill>
            <a:srgbClr val="3399CC"/>
          </a:solidFill>
          <a:ln>
            <a:noFill/>
          </a:ln>
          <a:effectLst/>
        </p:spPr>
        <p:txBody>
          <a:bodyPr rtlCol="0" anchor="ctr"/>
          <a:lstStyle/>
          <a:p>
            <a:pPr algn="ctr"/>
            <a:endParaRPr/>
          </a:p>
        </p:txBody>
      </p:sp>
      <p:sp>
        <p:nvSpPr>
          <p:cNvPr id="19" name="Oval 18"/>
          <p:cNvSpPr/>
          <p:nvPr/>
        </p:nvSpPr>
        <p:spPr>
          <a:xfrm>
            <a:off x="6377939" y="2423160"/>
            <a:ext cx="274320" cy="274320"/>
          </a:xfrm>
          <a:prstGeom prst="ellipse">
            <a:avLst/>
          </a:prstGeom>
          <a:solidFill>
            <a:srgbClr val="3399CC"/>
          </a:solidFill>
          <a:ln>
            <a:noFill/>
          </a:ln>
          <a:effectLst/>
        </p:spPr>
        <p:txBody>
          <a:bodyPr rtlCol="0" anchor="ctr"/>
          <a:lstStyle/>
          <a:p>
            <a:pPr algn="ctr"/>
            <a:endParaRPr/>
          </a:p>
        </p:txBody>
      </p:sp>
      <p:sp>
        <p:nvSpPr>
          <p:cNvPr id="20" name="Oval 19"/>
          <p:cNvSpPr/>
          <p:nvPr/>
        </p:nvSpPr>
        <p:spPr>
          <a:xfrm>
            <a:off x="7319771" y="2423160"/>
            <a:ext cx="274320" cy="274320"/>
          </a:xfrm>
          <a:prstGeom prst="ellipse">
            <a:avLst/>
          </a:prstGeom>
          <a:solidFill>
            <a:srgbClr val="3399CC"/>
          </a:solidFill>
          <a:ln>
            <a:noFill/>
          </a:ln>
          <a:effectLst/>
        </p:spPr>
        <p:txBody>
          <a:bodyPr rtlCol="0" anchor="ctr"/>
          <a:lstStyle/>
          <a:p>
            <a:pPr algn="ctr"/>
            <a:endParaRPr/>
          </a:p>
        </p:txBody>
      </p:sp>
      <p:sp>
        <p:nvSpPr>
          <p:cNvPr id="21" name="Oval 20"/>
          <p:cNvSpPr/>
          <p:nvPr/>
        </p:nvSpPr>
        <p:spPr>
          <a:xfrm>
            <a:off x="8261604" y="2423160"/>
            <a:ext cx="274320" cy="274320"/>
          </a:xfrm>
          <a:prstGeom prst="ellipse">
            <a:avLst/>
          </a:prstGeom>
          <a:solidFill>
            <a:srgbClr val="3399CC"/>
          </a:solidFill>
          <a:ln>
            <a:noFill/>
          </a:ln>
          <a:effectLst/>
        </p:spPr>
        <p:txBody>
          <a:bodyPr rtlCol="0" anchor="ctr"/>
          <a:lstStyle/>
          <a:p>
            <a:pPr algn="ctr"/>
            <a:endParaRPr/>
          </a:p>
        </p:txBody>
      </p:sp>
      <p:sp>
        <p:nvSpPr>
          <p:cNvPr id="22" name="Oval 21"/>
          <p:cNvSpPr/>
          <p:nvPr/>
        </p:nvSpPr>
        <p:spPr>
          <a:xfrm>
            <a:off x="9203436" y="2423160"/>
            <a:ext cx="274320" cy="274320"/>
          </a:xfrm>
          <a:prstGeom prst="ellipse">
            <a:avLst/>
          </a:prstGeom>
          <a:solidFill>
            <a:srgbClr val="3399CC"/>
          </a:solidFill>
          <a:ln>
            <a:noFill/>
          </a:ln>
          <a:effectLst/>
        </p:spPr>
        <p:txBody>
          <a:bodyPr rtlCol="0" anchor="ctr"/>
          <a:lstStyle/>
          <a:p>
            <a:pPr algn="ctr"/>
            <a:endParaRPr/>
          </a:p>
        </p:txBody>
      </p:sp>
      <p:sp>
        <p:nvSpPr>
          <p:cNvPr id="23" name="Oval 22"/>
          <p:cNvSpPr/>
          <p:nvPr/>
        </p:nvSpPr>
        <p:spPr>
          <a:xfrm>
            <a:off x="10145268" y="2423160"/>
            <a:ext cx="274320" cy="274320"/>
          </a:xfrm>
          <a:prstGeom prst="ellipse">
            <a:avLst/>
          </a:prstGeom>
          <a:solidFill>
            <a:srgbClr val="3399CC"/>
          </a:solidFill>
          <a:ln>
            <a:noFill/>
          </a:ln>
          <a:effectLst/>
        </p:spPr>
        <p:txBody>
          <a:bodyPr rtlCol="0" anchor="ctr"/>
          <a:lstStyle/>
          <a:p>
            <a:pPr algn="ctr"/>
            <a:endParaRPr/>
          </a:p>
        </p:txBody>
      </p:sp>
      <p:sp>
        <p:nvSpPr>
          <p:cNvPr id="24" name="Oval 23"/>
          <p:cNvSpPr/>
          <p:nvPr/>
        </p:nvSpPr>
        <p:spPr>
          <a:xfrm>
            <a:off x="11087100" y="2423160"/>
            <a:ext cx="274320" cy="274320"/>
          </a:xfrm>
          <a:prstGeom prst="ellipse">
            <a:avLst/>
          </a:prstGeom>
          <a:solidFill>
            <a:srgbClr val="3399CC"/>
          </a:solidFill>
          <a:ln>
            <a:noFill/>
          </a:ln>
          <a:effectLst/>
        </p:spPr>
        <p:txBody>
          <a:bodyPr rtlCol="0" anchor="ctr"/>
          <a:lstStyle/>
          <a:p>
            <a:pPr algn="ctr"/>
            <a:endParaRPr/>
          </a:p>
        </p:txBody>
      </p:sp>
      <p:sp>
        <p:nvSpPr>
          <p:cNvPr id="25" name="Rectangle 24"/>
          <p:cNvSpPr/>
          <p:nvPr/>
        </p:nvSpPr>
        <p:spPr>
          <a:xfrm>
            <a:off x="457200" y="3063239"/>
            <a:ext cx="11274552" cy="914400"/>
          </a:xfrm>
          <a:prstGeom prst="rect">
            <a:avLst/>
          </a:prstGeom>
          <a:solidFill>
            <a:srgbClr val="FFFFFF"/>
          </a:solidFill>
          <a:ln>
            <a:noFill/>
          </a:ln>
          <a:effectLst/>
        </p:spPr>
        <p:txBody>
          <a:bodyPr rtlCol="0" anchor="ctr"/>
          <a:lstStyle/>
          <a:p>
            <a:pPr algn="ctr"/>
            <a:endParaRPr/>
          </a:p>
        </p:txBody>
      </p:sp>
      <p:sp>
        <p:nvSpPr>
          <p:cNvPr id="26" name="TextBox 25"/>
          <p:cNvSpPr txBox="1"/>
          <p:nvPr/>
        </p:nvSpPr>
        <p:spPr>
          <a:xfrm>
            <a:off x="594360" y="3191256"/>
            <a:ext cx="3566160" cy="320040"/>
          </a:xfrm>
          <a:prstGeom prst="rect">
            <a:avLst/>
          </a:prstGeom>
          <a:noFill/>
        </p:spPr>
        <p:txBody>
          <a:bodyPr wrap="square" lIns="0" tIns="0" rIns="0" bIns="0" anchor="t">
            <a:noAutofit/>
          </a:bodyPr>
          <a:lstStyle/>
          <a:p>
            <a:pPr algn="l"/>
            <a:r>
              <a:rPr sz="1400" b="1" i="0">
                <a:solidFill>
                  <a:srgbClr val="0C3D6E"/>
                </a:solidFill>
                <a:latin typeface="Open Sans"/>
              </a:rPr>
              <a:t>Exercise 2 · Malpensa low visibility</a:t>
            </a:r>
          </a:p>
        </p:txBody>
      </p:sp>
      <p:sp>
        <p:nvSpPr>
          <p:cNvPr id="27" name="TextBox 26"/>
          <p:cNvSpPr txBox="1"/>
          <p:nvPr/>
        </p:nvSpPr>
        <p:spPr>
          <a:xfrm>
            <a:off x="594360" y="3520439"/>
            <a:ext cx="3566160" cy="320040"/>
          </a:xfrm>
          <a:prstGeom prst="rect">
            <a:avLst/>
          </a:prstGeom>
          <a:noFill/>
        </p:spPr>
        <p:txBody>
          <a:bodyPr wrap="square" lIns="0" tIns="0" rIns="0" bIns="0" anchor="t">
            <a:noAutofit/>
          </a:bodyPr>
          <a:lstStyle/>
          <a:p>
            <a:pPr algn="l"/>
            <a:r>
              <a:rPr sz="1200" b="0" i="0">
                <a:solidFill>
                  <a:srgbClr val="6B7B8D"/>
                </a:solidFill>
                <a:latin typeface="Open Sans"/>
              </a:rPr>
              <a:t>Rare-event classification · BCE + pos_weight</a:t>
            </a:r>
          </a:p>
        </p:txBody>
      </p:sp>
      <p:sp>
        <p:nvSpPr>
          <p:cNvPr id="28" name="Oval 27"/>
          <p:cNvSpPr/>
          <p:nvPr/>
        </p:nvSpPr>
        <p:spPr>
          <a:xfrm>
            <a:off x="4494275" y="3383279"/>
            <a:ext cx="274320" cy="274320"/>
          </a:xfrm>
          <a:prstGeom prst="ellipse">
            <a:avLst/>
          </a:prstGeom>
          <a:solidFill>
            <a:srgbClr val="0C3D6E"/>
          </a:solidFill>
          <a:ln>
            <a:noFill/>
          </a:ln>
          <a:effectLst/>
        </p:spPr>
        <p:txBody>
          <a:bodyPr rtlCol="0" anchor="ctr"/>
          <a:lstStyle/>
          <a:p>
            <a:pPr algn="ctr"/>
            <a:endParaRPr/>
          </a:p>
        </p:txBody>
      </p:sp>
      <p:sp>
        <p:nvSpPr>
          <p:cNvPr id="29" name="Oval 28"/>
          <p:cNvSpPr/>
          <p:nvPr/>
        </p:nvSpPr>
        <p:spPr>
          <a:xfrm>
            <a:off x="5436107" y="3383279"/>
            <a:ext cx="274320" cy="274320"/>
          </a:xfrm>
          <a:prstGeom prst="ellipse">
            <a:avLst/>
          </a:prstGeom>
          <a:solidFill>
            <a:srgbClr val="0C3D6E"/>
          </a:solidFill>
          <a:ln>
            <a:noFill/>
          </a:ln>
          <a:effectLst/>
        </p:spPr>
        <p:txBody>
          <a:bodyPr rtlCol="0" anchor="ctr"/>
          <a:lstStyle/>
          <a:p>
            <a:pPr algn="ctr"/>
            <a:endParaRPr/>
          </a:p>
        </p:txBody>
      </p:sp>
      <p:sp>
        <p:nvSpPr>
          <p:cNvPr id="30" name="Oval 29"/>
          <p:cNvSpPr/>
          <p:nvPr/>
        </p:nvSpPr>
        <p:spPr>
          <a:xfrm>
            <a:off x="6377939" y="3383279"/>
            <a:ext cx="274320" cy="274320"/>
          </a:xfrm>
          <a:prstGeom prst="ellipse">
            <a:avLst/>
          </a:prstGeom>
          <a:solidFill>
            <a:srgbClr val="0C3D6E"/>
          </a:solidFill>
          <a:ln>
            <a:noFill/>
          </a:ln>
          <a:effectLst/>
        </p:spPr>
        <p:txBody>
          <a:bodyPr rtlCol="0" anchor="ctr"/>
          <a:lstStyle/>
          <a:p>
            <a:pPr algn="ctr"/>
            <a:endParaRPr/>
          </a:p>
        </p:txBody>
      </p:sp>
      <p:sp>
        <p:nvSpPr>
          <p:cNvPr id="31" name="Oval 30"/>
          <p:cNvSpPr/>
          <p:nvPr/>
        </p:nvSpPr>
        <p:spPr>
          <a:xfrm>
            <a:off x="7319771" y="3383279"/>
            <a:ext cx="274320" cy="274320"/>
          </a:xfrm>
          <a:prstGeom prst="ellipse">
            <a:avLst/>
          </a:prstGeom>
          <a:solidFill>
            <a:srgbClr val="0C3D6E"/>
          </a:solidFill>
          <a:ln>
            <a:noFill/>
          </a:ln>
          <a:effectLst/>
        </p:spPr>
        <p:txBody>
          <a:bodyPr rtlCol="0" anchor="ctr"/>
          <a:lstStyle/>
          <a:p>
            <a:pPr algn="ctr"/>
            <a:endParaRPr/>
          </a:p>
        </p:txBody>
      </p:sp>
      <p:sp>
        <p:nvSpPr>
          <p:cNvPr id="32" name="Oval 31"/>
          <p:cNvSpPr/>
          <p:nvPr/>
        </p:nvSpPr>
        <p:spPr>
          <a:xfrm>
            <a:off x="8261604" y="3383279"/>
            <a:ext cx="274320" cy="274320"/>
          </a:xfrm>
          <a:prstGeom prst="ellipse">
            <a:avLst/>
          </a:prstGeom>
          <a:solidFill>
            <a:srgbClr val="0C3D6E"/>
          </a:solidFill>
          <a:ln>
            <a:noFill/>
          </a:ln>
          <a:effectLst/>
        </p:spPr>
        <p:txBody>
          <a:bodyPr rtlCol="0" anchor="ctr"/>
          <a:lstStyle/>
          <a:p>
            <a:pPr algn="ctr"/>
            <a:endParaRPr/>
          </a:p>
        </p:txBody>
      </p:sp>
      <p:sp>
        <p:nvSpPr>
          <p:cNvPr id="33" name="Oval 32"/>
          <p:cNvSpPr/>
          <p:nvPr/>
        </p:nvSpPr>
        <p:spPr>
          <a:xfrm>
            <a:off x="9203436" y="3383279"/>
            <a:ext cx="274320" cy="274320"/>
          </a:xfrm>
          <a:prstGeom prst="ellipse">
            <a:avLst/>
          </a:prstGeom>
          <a:solidFill>
            <a:srgbClr val="0C3D6E"/>
          </a:solidFill>
          <a:ln>
            <a:noFill/>
          </a:ln>
          <a:effectLst/>
        </p:spPr>
        <p:txBody>
          <a:bodyPr rtlCol="0" anchor="ctr"/>
          <a:lstStyle/>
          <a:p>
            <a:pPr algn="ctr"/>
            <a:endParaRPr/>
          </a:p>
        </p:txBody>
      </p:sp>
      <p:sp>
        <p:nvSpPr>
          <p:cNvPr id="34" name="Oval 33"/>
          <p:cNvSpPr/>
          <p:nvPr/>
        </p:nvSpPr>
        <p:spPr>
          <a:xfrm>
            <a:off x="10145268" y="3383279"/>
            <a:ext cx="274320" cy="274320"/>
          </a:xfrm>
          <a:prstGeom prst="ellipse">
            <a:avLst/>
          </a:prstGeom>
          <a:solidFill>
            <a:srgbClr val="FFFFFF"/>
          </a:solidFill>
          <a:ln w="9525">
            <a:solidFill>
              <a:srgbClr val="0C3D6E"/>
            </a:solidFill>
          </a:ln>
          <a:effectLst/>
        </p:spPr>
        <p:txBody>
          <a:bodyPr rtlCol="0" anchor="ctr"/>
          <a:lstStyle/>
          <a:p>
            <a:pPr algn="ctr"/>
            <a:endParaRPr/>
          </a:p>
        </p:txBody>
      </p:sp>
      <p:sp>
        <p:nvSpPr>
          <p:cNvPr id="35" name="Oval 34"/>
          <p:cNvSpPr/>
          <p:nvPr/>
        </p:nvSpPr>
        <p:spPr>
          <a:xfrm>
            <a:off x="10213848" y="3451859"/>
            <a:ext cx="137160" cy="137160"/>
          </a:xfrm>
          <a:prstGeom prst="ellipse">
            <a:avLst/>
          </a:prstGeom>
          <a:solidFill>
            <a:srgbClr val="0C3D6E"/>
          </a:solidFill>
          <a:ln>
            <a:noFill/>
          </a:ln>
          <a:effectLst/>
        </p:spPr>
        <p:txBody>
          <a:bodyPr rtlCol="0" anchor="ctr"/>
          <a:lstStyle/>
          <a:p>
            <a:pPr algn="ctr"/>
            <a:endParaRPr/>
          </a:p>
        </p:txBody>
      </p:sp>
      <p:cxnSp>
        <p:nvCxnSpPr>
          <p:cNvPr id="36" name="Connector 35"/>
          <p:cNvCxnSpPr/>
          <p:nvPr/>
        </p:nvCxnSpPr>
        <p:spPr>
          <a:xfrm>
            <a:off x="11132820" y="3520439"/>
            <a:ext cx="182880" cy="0"/>
          </a:xfrm>
          <a:prstGeom prst="line">
            <a:avLst/>
          </a:prstGeom>
          <a:ln w="19050">
            <a:solidFill>
              <a:srgbClr val="D5DCE4"/>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57200" y="4023359"/>
            <a:ext cx="11274552" cy="914400"/>
          </a:xfrm>
          <a:prstGeom prst="rect">
            <a:avLst/>
          </a:prstGeom>
          <a:solidFill>
            <a:srgbClr val="F3F5F8"/>
          </a:solidFill>
          <a:ln>
            <a:noFill/>
          </a:ln>
          <a:effectLst/>
        </p:spPr>
        <p:txBody>
          <a:bodyPr rtlCol="0" anchor="ctr"/>
          <a:lstStyle/>
          <a:p>
            <a:pPr algn="ctr"/>
            <a:endParaRPr/>
          </a:p>
        </p:txBody>
      </p:sp>
      <p:sp>
        <p:nvSpPr>
          <p:cNvPr id="38" name="TextBox 37"/>
          <p:cNvSpPr txBox="1"/>
          <p:nvPr/>
        </p:nvSpPr>
        <p:spPr>
          <a:xfrm>
            <a:off x="594360" y="4151375"/>
            <a:ext cx="3566160" cy="320040"/>
          </a:xfrm>
          <a:prstGeom prst="rect">
            <a:avLst/>
          </a:prstGeom>
          <a:noFill/>
        </p:spPr>
        <p:txBody>
          <a:bodyPr wrap="square" lIns="0" tIns="0" rIns="0" bIns="0" anchor="t">
            <a:noAutofit/>
          </a:bodyPr>
          <a:lstStyle/>
          <a:p>
            <a:pPr algn="l"/>
            <a:r>
              <a:rPr sz="1400" b="1" i="0">
                <a:solidFill>
                  <a:srgbClr val="0C3D6E"/>
                </a:solidFill>
                <a:latin typeface="Open Sans"/>
              </a:rPr>
              <a:t>Exercise 3 · notebook to service</a:t>
            </a:r>
          </a:p>
        </p:txBody>
      </p:sp>
      <p:sp>
        <p:nvSpPr>
          <p:cNvPr id="39" name="TextBox 38"/>
          <p:cNvSpPr txBox="1"/>
          <p:nvPr/>
        </p:nvSpPr>
        <p:spPr>
          <a:xfrm>
            <a:off x="594360" y="4480559"/>
            <a:ext cx="3566160" cy="320040"/>
          </a:xfrm>
          <a:prstGeom prst="rect">
            <a:avLst/>
          </a:prstGeom>
          <a:noFill/>
        </p:spPr>
        <p:txBody>
          <a:bodyPr wrap="square" lIns="0" tIns="0" rIns="0" bIns="0" anchor="t">
            <a:noAutofit/>
          </a:bodyPr>
          <a:lstStyle/>
          <a:p>
            <a:pPr algn="l"/>
            <a:r>
              <a:rPr sz="1200" b="0" i="0">
                <a:solidFill>
                  <a:srgbClr val="6B7B8D"/>
                </a:solidFill>
                <a:latin typeface="Open Sans"/>
              </a:rPr>
              <a:t>Model card, input contract, local API</a:t>
            </a:r>
          </a:p>
        </p:txBody>
      </p:sp>
      <p:sp>
        <p:nvSpPr>
          <p:cNvPr id="40" name="Oval 39"/>
          <p:cNvSpPr/>
          <p:nvPr/>
        </p:nvSpPr>
        <p:spPr>
          <a:xfrm>
            <a:off x="4494275" y="4343399"/>
            <a:ext cx="274320" cy="274320"/>
          </a:xfrm>
          <a:prstGeom prst="ellipse">
            <a:avLst/>
          </a:prstGeom>
          <a:solidFill>
            <a:srgbClr val="FFFFFF"/>
          </a:solidFill>
          <a:ln w="9525">
            <a:solidFill>
              <a:srgbClr val="0C3D6E"/>
            </a:solidFill>
          </a:ln>
          <a:effectLst/>
        </p:spPr>
        <p:txBody>
          <a:bodyPr rtlCol="0" anchor="ctr"/>
          <a:lstStyle/>
          <a:p>
            <a:pPr algn="ctr"/>
            <a:endParaRPr/>
          </a:p>
        </p:txBody>
      </p:sp>
      <p:sp>
        <p:nvSpPr>
          <p:cNvPr id="41" name="Oval 40"/>
          <p:cNvSpPr/>
          <p:nvPr/>
        </p:nvSpPr>
        <p:spPr>
          <a:xfrm>
            <a:off x="4562855" y="4411979"/>
            <a:ext cx="137160" cy="137160"/>
          </a:xfrm>
          <a:prstGeom prst="ellipse">
            <a:avLst/>
          </a:prstGeom>
          <a:solidFill>
            <a:srgbClr val="0C3D6E"/>
          </a:solidFill>
          <a:ln>
            <a:noFill/>
          </a:ln>
          <a:effectLst/>
        </p:spPr>
        <p:txBody>
          <a:bodyPr rtlCol="0" anchor="ctr"/>
          <a:lstStyle/>
          <a:p>
            <a:pPr algn="ctr"/>
            <a:endParaRPr/>
          </a:p>
        </p:txBody>
      </p:sp>
      <p:sp>
        <p:nvSpPr>
          <p:cNvPr id="42" name="Oval 41"/>
          <p:cNvSpPr/>
          <p:nvPr/>
        </p:nvSpPr>
        <p:spPr>
          <a:xfrm>
            <a:off x="5436107" y="4343399"/>
            <a:ext cx="274320" cy="274320"/>
          </a:xfrm>
          <a:prstGeom prst="ellipse">
            <a:avLst/>
          </a:prstGeom>
          <a:solidFill>
            <a:srgbClr val="0C3D6E"/>
          </a:solidFill>
          <a:ln>
            <a:noFill/>
          </a:ln>
          <a:effectLst/>
        </p:spPr>
        <p:txBody>
          <a:bodyPr rtlCol="0" anchor="ctr"/>
          <a:lstStyle/>
          <a:p>
            <a:pPr algn="ctr"/>
            <a:endParaRPr/>
          </a:p>
        </p:txBody>
      </p:sp>
      <p:sp>
        <p:nvSpPr>
          <p:cNvPr id="43" name="Oval 42"/>
          <p:cNvSpPr/>
          <p:nvPr/>
        </p:nvSpPr>
        <p:spPr>
          <a:xfrm>
            <a:off x="6377939" y="4343399"/>
            <a:ext cx="274320" cy="274320"/>
          </a:xfrm>
          <a:prstGeom prst="ellipse">
            <a:avLst/>
          </a:prstGeom>
          <a:solidFill>
            <a:srgbClr val="0C3D6E"/>
          </a:solidFill>
          <a:ln>
            <a:noFill/>
          </a:ln>
          <a:effectLst/>
        </p:spPr>
        <p:txBody>
          <a:bodyPr rtlCol="0" anchor="ctr"/>
          <a:lstStyle/>
          <a:p>
            <a:pPr algn="ctr"/>
            <a:endParaRPr/>
          </a:p>
        </p:txBody>
      </p:sp>
      <p:sp>
        <p:nvSpPr>
          <p:cNvPr id="44" name="Oval 43"/>
          <p:cNvSpPr/>
          <p:nvPr/>
        </p:nvSpPr>
        <p:spPr>
          <a:xfrm>
            <a:off x="7319771" y="4343399"/>
            <a:ext cx="274320" cy="274320"/>
          </a:xfrm>
          <a:prstGeom prst="ellipse">
            <a:avLst/>
          </a:prstGeom>
          <a:solidFill>
            <a:srgbClr val="0C3D6E"/>
          </a:solidFill>
          <a:ln>
            <a:noFill/>
          </a:ln>
          <a:effectLst/>
        </p:spPr>
        <p:txBody>
          <a:bodyPr rtlCol="0" anchor="ctr"/>
          <a:lstStyle/>
          <a:p>
            <a:pPr algn="ctr"/>
            <a:endParaRPr/>
          </a:p>
        </p:txBody>
      </p:sp>
      <p:cxnSp>
        <p:nvCxnSpPr>
          <p:cNvPr id="45" name="Connector 44"/>
          <p:cNvCxnSpPr/>
          <p:nvPr/>
        </p:nvCxnSpPr>
        <p:spPr>
          <a:xfrm>
            <a:off x="8307324" y="4480559"/>
            <a:ext cx="182880" cy="0"/>
          </a:xfrm>
          <a:prstGeom prst="line">
            <a:avLst/>
          </a:prstGeom>
          <a:ln w="19050">
            <a:solidFill>
              <a:srgbClr val="D5DCE4"/>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9203436" y="4343399"/>
            <a:ext cx="274320" cy="274320"/>
          </a:xfrm>
          <a:prstGeom prst="ellipse">
            <a:avLst/>
          </a:prstGeom>
          <a:solidFill>
            <a:srgbClr val="0C3D6E"/>
          </a:solidFill>
          <a:ln>
            <a:noFill/>
          </a:ln>
          <a:effectLst/>
        </p:spPr>
        <p:txBody>
          <a:bodyPr rtlCol="0" anchor="ctr"/>
          <a:lstStyle/>
          <a:p>
            <a:pPr algn="ctr"/>
            <a:endParaRPr/>
          </a:p>
        </p:txBody>
      </p:sp>
      <p:cxnSp>
        <p:nvCxnSpPr>
          <p:cNvPr id="47" name="Connector 46"/>
          <p:cNvCxnSpPr/>
          <p:nvPr/>
        </p:nvCxnSpPr>
        <p:spPr>
          <a:xfrm>
            <a:off x="10190988" y="4480559"/>
            <a:ext cx="182880" cy="0"/>
          </a:xfrm>
          <a:prstGeom prst="line">
            <a:avLst/>
          </a:prstGeom>
          <a:ln w="19050">
            <a:solidFill>
              <a:srgbClr val="D5DCE4"/>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1087100" y="4343399"/>
            <a:ext cx="274320" cy="274320"/>
          </a:xfrm>
          <a:prstGeom prst="ellipse">
            <a:avLst/>
          </a:prstGeom>
          <a:solidFill>
            <a:srgbClr val="0C3D6E"/>
          </a:solidFill>
          <a:ln>
            <a:noFill/>
          </a:ln>
          <a:effectLst/>
        </p:spPr>
        <p:txBody>
          <a:bodyPr rtlCol="0" anchor="ctr"/>
          <a:lstStyle/>
          <a:p>
            <a:pPr algn="ctr"/>
            <a:endParaRPr/>
          </a:p>
        </p:txBody>
      </p:sp>
      <p:sp>
        <p:nvSpPr>
          <p:cNvPr id="49" name="Rectangle 48"/>
          <p:cNvSpPr/>
          <p:nvPr/>
        </p:nvSpPr>
        <p:spPr>
          <a:xfrm>
            <a:off x="457200" y="4983479"/>
            <a:ext cx="11274552" cy="914400"/>
          </a:xfrm>
          <a:prstGeom prst="rect">
            <a:avLst/>
          </a:prstGeom>
          <a:solidFill>
            <a:srgbClr val="FFFFFF"/>
          </a:solidFill>
          <a:ln>
            <a:noFill/>
          </a:ln>
          <a:effectLst/>
        </p:spPr>
        <p:txBody>
          <a:bodyPr rtlCol="0" anchor="ctr"/>
          <a:lstStyle/>
          <a:p>
            <a:pPr algn="ctr"/>
            <a:endParaRPr/>
          </a:p>
        </p:txBody>
      </p:sp>
      <p:sp>
        <p:nvSpPr>
          <p:cNvPr id="50" name="TextBox 49"/>
          <p:cNvSpPr txBox="1"/>
          <p:nvPr/>
        </p:nvSpPr>
        <p:spPr>
          <a:xfrm>
            <a:off x="594360" y="5111495"/>
            <a:ext cx="3566160" cy="320040"/>
          </a:xfrm>
          <a:prstGeom prst="rect">
            <a:avLst/>
          </a:prstGeom>
          <a:noFill/>
        </p:spPr>
        <p:txBody>
          <a:bodyPr wrap="square" lIns="0" tIns="0" rIns="0" bIns="0" anchor="t">
            <a:noAutofit/>
          </a:bodyPr>
          <a:lstStyle/>
          <a:p>
            <a:pPr algn="l"/>
            <a:r>
              <a:rPr sz="1400" b="1" i="0">
                <a:solidFill>
                  <a:srgbClr val="E8742A"/>
                </a:solidFill>
                <a:latin typeface="Open Sans"/>
              </a:rPr>
              <a:t>Track 2S · simplified low visibility</a:t>
            </a:r>
          </a:p>
        </p:txBody>
      </p:sp>
      <p:sp>
        <p:nvSpPr>
          <p:cNvPr id="51" name="TextBox 50"/>
          <p:cNvSpPr txBox="1"/>
          <p:nvPr/>
        </p:nvSpPr>
        <p:spPr>
          <a:xfrm>
            <a:off x="594360" y="5440679"/>
            <a:ext cx="3566160" cy="320040"/>
          </a:xfrm>
          <a:prstGeom prst="rect">
            <a:avLst/>
          </a:prstGeom>
          <a:noFill/>
        </p:spPr>
        <p:txBody>
          <a:bodyPr wrap="square" lIns="0" tIns="0" rIns="0" bIns="0" anchor="t">
            <a:noAutofit/>
          </a:bodyPr>
          <a:lstStyle/>
          <a:p>
            <a:pPr algn="l"/>
            <a:r>
              <a:rPr sz="1200" b="0" i="0">
                <a:solidFill>
                  <a:srgbClr val="6B7B8D"/>
                </a:solidFill>
                <a:latin typeface="Open Sans"/>
              </a:rPr>
              <a:t>8 inputs · one experiment on pos_weight</a:t>
            </a:r>
          </a:p>
        </p:txBody>
      </p:sp>
      <p:sp>
        <p:nvSpPr>
          <p:cNvPr id="52" name="Oval 51"/>
          <p:cNvSpPr/>
          <p:nvPr/>
        </p:nvSpPr>
        <p:spPr>
          <a:xfrm>
            <a:off x="4494275" y="5303519"/>
            <a:ext cx="274320" cy="274320"/>
          </a:xfrm>
          <a:prstGeom prst="ellipse">
            <a:avLst/>
          </a:prstGeom>
          <a:solidFill>
            <a:srgbClr val="E8742A"/>
          </a:solidFill>
          <a:ln>
            <a:noFill/>
          </a:ln>
          <a:effectLst/>
        </p:spPr>
        <p:txBody>
          <a:bodyPr rtlCol="0" anchor="ctr"/>
          <a:lstStyle/>
          <a:p>
            <a:pPr algn="ctr"/>
            <a:endParaRPr/>
          </a:p>
        </p:txBody>
      </p:sp>
      <p:sp>
        <p:nvSpPr>
          <p:cNvPr id="53" name="Oval 52"/>
          <p:cNvSpPr/>
          <p:nvPr/>
        </p:nvSpPr>
        <p:spPr>
          <a:xfrm>
            <a:off x="5436107" y="5303519"/>
            <a:ext cx="274320" cy="274320"/>
          </a:xfrm>
          <a:prstGeom prst="ellipse">
            <a:avLst/>
          </a:prstGeom>
          <a:solidFill>
            <a:srgbClr val="E8742A"/>
          </a:solidFill>
          <a:ln>
            <a:noFill/>
          </a:ln>
          <a:effectLst/>
        </p:spPr>
        <p:txBody>
          <a:bodyPr rtlCol="0" anchor="ctr"/>
          <a:lstStyle/>
          <a:p>
            <a:pPr algn="ctr"/>
            <a:endParaRPr/>
          </a:p>
        </p:txBody>
      </p:sp>
      <p:sp>
        <p:nvSpPr>
          <p:cNvPr id="54" name="Oval 53"/>
          <p:cNvSpPr/>
          <p:nvPr/>
        </p:nvSpPr>
        <p:spPr>
          <a:xfrm>
            <a:off x="6377939" y="5303519"/>
            <a:ext cx="274320" cy="274320"/>
          </a:xfrm>
          <a:prstGeom prst="ellipse">
            <a:avLst/>
          </a:prstGeom>
          <a:solidFill>
            <a:srgbClr val="E8742A"/>
          </a:solidFill>
          <a:ln>
            <a:noFill/>
          </a:ln>
          <a:effectLst/>
        </p:spPr>
        <p:txBody>
          <a:bodyPr rtlCol="0" anchor="ctr"/>
          <a:lstStyle/>
          <a:p>
            <a:pPr algn="ctr"/>
            <a:endParaRPr/>
          </a:p>
        </p:txBody>
      </p:sp>
      <p:sp>
        <p:nvSpPr>
          <p:cNvPr id="55" name="Oval 54"/>
          <p:cNvSpPr/>
          <p:nvPr/>
        </p:nvSpPr>
        <p:spPr>
          <a:xfrm>
            <a:off x="7319771" y="5303519"/>
            <a:ext cx="274320" cy="274320"/>
          </a:xfrm>
          <a:prstGeom prst="ellipse">
            <a:avLst/>
          </a:prstGeom>
          <a:solidFill>
            <a:srgbClr val="E8742A"/>
          </a:solidFill>
          <a:ln>
            <a:noFill/>
          </a:ln>
          <a:effectLst/>
        </p:spPr>
        <p:txBody>
          <a:bodyPr rtlCol="0" anchor="ctr"/>
          <a:lstStyle/>
          <a:p>
            <a:pPr algn="ctr"/>
            <a:endParaRPr/>
          </a:p>
        </p:txBody>
      </p:sp>
      <p:sp>
        <p:nvSpPr>
          <p:cNvPr id="56" name="Oval 55"/>
          <p:cNvSpPr/>
          <p:nvPr/>
        </p:nvSpPr>
        <p:spPr>
          <a:xfrm>
            <a:off x="8261604" y="5303519"/>
            <a:ext cx="274320" cy="274320"/>
          </a:xfrm>
          <a:prstGeom prst="ellipse">
            <a:avLst/>
          </a:prstGeom>
          <a:solidFill>
            <a:srgbClr val="FFFFFF"/>
          </a:solidFill>
          <a:ln w="9525">
            <a:solidFill>
              <a:srgbClr val="E8742A"/>
            </a:solidFill>
          </a:ln>
          <a:effectLst/>
        </p:spPr>
        <p:txBody>
          <a:bodyPr rtlCol="0" anchor="ctr"/>
          <a:lstStyle/>
          <a:p>
            <a:pPr algn="ctr"/>
            <a:endParaRPr/>
          </a:p>
        </p:txBody>
      </p:sp>
      <p:sp>
        <p:nvSpPr>
          <p:cNvPr id="57" name="Oval 56"/>
          <p:cNvSpPr/>
          <p:nvPr/>
        </p:nvSpPr>
        <p:spPr>
          <a:xfrm>
            <a:off x="8330183" y="5372099"/>
            <a:ext cx="137160" cy="137160"/>
          </a:xfrm>
          <a:prstGeom prst="ellipse">
            <a:avLst/>
          </a:prstGeom>
          <a:solidFill>
            <a:srgbClr val="E8742A"/>
          </a:solidFill>
          <a:ln>
            <a:noFill/>
          </a:ln>
          <a:effectLst/>
        </p:spPr>
        <p:txBody>
          <a:bodyPr rtlCol="0" anchor="ctr"/>
          <a:lstStyle/>
          <a:p>
            <a:pPr algn="ctr"/>
            <a:endParaRPr/>
          </a:p>
        </p:txBody>
      </p:sp>
      <p:sp>
        <p:nvSpPr>
          <p:cNvPr id="58" name="Oval 57"/>
          <p:cNvSpPr/>
          <p:nvPr/>
        </p:nvSpPr>
        <p:spPr>
          <a:xfrm>
            <a:off x="9203436" y="5303519"/>
            <a:ext cx="274320" cy="274320"/>
          </a:xfrm>
          <a:prstGeom prst="ellipse">
            <a:avLst/>
          </a:prstGeom>
          <a:solidFill>
            <a:srgbClr val="E8742A"/>
          </a:solidFill>
          <a:ln>
            <a:noFill/>
          </a:ln>
          <a:effectLst/>
        </p:spPr>
        <p:txBody>
          <a:bodyPr rtlCol="0" anchor="ctr"/>
          <a:lstStyle/>
          <a:p>
            <a:pPr algn="ctr"/>
            <a:endParaRPr/>
          </a:p>
        </p:txBody>
      </p:sp>
      <p:sp>
        <p:nvSpPr>
          <p:cNvPr id="59" name="Oval 58"/>
          <p:cNvSpPr/>
          <p:nvPr/>
        </p:nvSpPr>
        <p:spPr>
          <a:xfrm>
            <a:off x="10145268" y="5303519"/>
            <a:ext cx="274320" cy="274320"/>
          </a:xfrm>
          <a:prstGeom prst="ellipse">
            <a:avLst/>
          </a:prstGeom>
          <a:solidFill>
            <a:srgbClr val="E8742A"/>
          </a:solidFill>
          <a:ln>
            <a:noFill/>
          </a:ln>
          <a:effectLst/>
        </p:spPr>
        <p:txBody>
          <a:bodyPr rtlCol="0" anchor="ctr"/>
          <a:lstStyle/>
          <a:p>
            <a:pPr algn="ctr"/>
            <a:endParaRPr/>
          </a:p>
        </p:txBody>
      </p:sp>
      <p:sp>
        <p:nvSpPr>
          <p:cNvPr id="60" name="Oval 59"/>
          <p:cNvSpPr/>
          <p:nvPr/>
        </p:nvSpPr>
        <p:spPr>
          <a:xfrm>
            <a:off x="11087100" y="5303519"/>
            <a:ext cx="274320" cy="274320"/>
          </a:xfrm>
          <a:prstGeom prst="ellipse">
            <a:avLst/>
          </a:prstGeom>
          <a:solidFill>
            <a:srgbClr val="E8742A"/>
          </a:solidFill>
          <a:ln>
            <a:noFill/>
          </a:ln>
          <a:effectLst/>
        </p:spPr>
        <p:txBody>
          <a:bodyPr rtlCol="0" anchor="ctr"/>
          <a:lstStyle/>
          <a:p>
            <a:pPr algn="ctr"/>
            <a:endParaRPr/>
          </a:p>
        </p:txBody>
      </p:sp>
      <p:sp>
        <p:nvSpPr>
          <p:cNvPr id="61" name="Oval 60"/>
          <p:cNvSpPr/>
          <p:nvPr/>
        </p:nvSpPr>
        <p:spPr>
          <a:xfrm>
            <a:off x="594360" y="6053328"/>
            <a:ext cx="182880" cy="182880"/>
          </a:xfrm>
          <a:prstGeom prst="ellipse">
            <a:avLst/>
          </a:prstGeom>
          <a:solidFill>
            <a:srgbClr val="6B7B8D"/>
          </a:solidFill>
          <a:ln>
            <a:noFill/>
          </a:ln>
          <a:effectLst/>
        </p:spPr>
        <p:txBody>
          <a:bodyPr rtlCol="0" anchor="ctr"/>
          <a:lstStyle/>
          <a:p>
            <a:pPr algn="ctr"/>
            <a:endParaRPr/>
          </a:p>
        </p:txBody>
      </p:sp>
      <p:sp>
        <p:nvSpPr>
          <p:cNvPr id="62" name="TextBox 61"/>
          <p:cNvSpPr txBox="1"/>
          <p:nvPr/>
        </p:nvSpPr>
        <p:spPr>
          <a:xfrm>
            <a:off x="868680" y="6016752"/>
            <a:ext cx="1371600" cy="274320"/>
          </a:xfrm>
          <a:prstGeom prst="rect">
            <a:avLst/>
          </a:prstGeom>
          <a:noFill/>
        </p:spPr>
        <p:txBody>
          <a:bodyPr wrap="square" lIns="0" tIns="0" rIns="0" bIns="0" anchor="t">
            <a:noAutofit/>
          </a:bodyPr>
          <a:lstStyle/>
          <a:p>
            <a:pPr algn="l"/>
            <a:r>
              <a:rPr sz="1100" b="0" i="0">
                <a:solidFill>
                  <a:srgbClr val="6B7B8D"/>
                </a:solidFill>
                <a:latin typeface="Open Sans"/>
              </a:rPr>
              <a:t>covered</a:t>
            </a:r>
          </a:p>
        </p:txBody>
      </p:sp>
      <p:sp>
        <p:nvSpPr>
          <p:cNvPr id="63" name="Oval 62"/>
          <p:cNvSpPr/>
          <p:nvPr/>
        </p:nvSpPr>
        <p:spPr>
          <a:xfrm>
            <a:off x="1920240" y="6053328"/>
            <a:ext cx="182880" cy="182880"/>
          </a:xfrm>
          <a:prstGeom prst="ellipse">
            <a:avLst/>
          </a:prstGeom>
          <a:solidFill>
            <a:srgbClr val="FFFFFF"/>
          </a:solidFill>
          <a:ln w="9525">
            <a:solidFill>
              <a:srgbClr val="6B7B8D"/>
            </a:solidFill>
          </a:ln>
          <a:effectLst/>
        </p:spPr>
        <p:txBody>
          <a:bodyPr rtlCol="0" anchor="ctr"/>
          <a:lstStyle/>
          <a:p>
            <a:pPr algn="ctr"/>
            <a:endParaRPr/>
          </a:p>
        </p:txBody>
      </p:sp>
      <p:sp>
        <p:nvSpPr>
          <p:cNvPr id="64" name="Oval 63"/>
          <p:cNvSpPr/>
          <p:nvPr/>
        </p:nvSpPr>
        <p:spPr>
          <a:xfrm>
            <a:off x="1965960" y="6099048"/>
            <a:ext cx="91440" cy="91440"/>
          </a:xfrm>
          <a:prstGeom prst="ellipse">
            <a:avLst/>
          </a:prstGeom>
          <a:solidFill>
            <a:srgbClr val="6B7B8D"/>
          </a:solidFill>
          <a:ln>
            <a:noFill/>
          </a:ln>
          <a:effectLst/>
        </p:spPr>
        <p:txBody>
          <a:bodyPr rtlCol="0" anchor="ctr"/>
          <a:lstStyle/>
          <a:p>
            <a:pPr algn="ctr"/>
            <a:endParaRPr/>
          </a:p>
        </p:txBody>
      </p:sp>
      <p:sp>
        <p:nvSpPr>
          <p:cNvPr id="65" name="TextBox 64"/>
          <p:cNvSpPr txBox="1"/>
          <p:nvPr/>
        </p:nvSpPr>
        <p:spPr>
          <a:xfrm>
            <a:off x="2194560" y="6016752"/>
            <a:ext cx="5486400" cy="274320"/>
          </a:xfrm>
          <a:prstGeom prst="rect">
            <a:avLst/>
          </a:prstGeom>
          <a:noFill/>
        </p:spPr>
        <p:txBody>
          <a:bodyPr wrap="square" lIns="0" tIns="0" rIns="0" bIns="0" anchor="t">
            <a:noAutofit/>
          </a:bodyPr>
          <a:lstStyle/>
          <a:p>
            <a:pPr algn="l"/>
            <a:r>
              <a:rPr sz="1100" b="0" i="0">
                <a:solidFill>
                  <a:srgbClr val="6B7B8D"/>
                </a:solidFill>
                <a:latin typeface="Open Sans"/>
              </a:rPr>
              <a:t>touched (input importance in Ex. 2, input checks in Ex. 3, one experiment in 2S)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worth remembering</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Three numbers from the solution notebooks, each with the lesson it carries</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A number only means something next to a baseline.</a:t>
            </a:r>
          </a:p>
        </p:txBody>
      </p:sp>
      <p:sp>
        <p:nvSpPr>
          <p:cNvPr id="6" name="TextBox 5"/>
          <p:cNvSpPr txBox="1"/>
          <p:nvPr/>
        </p:nvSpPr>
        <p:spPr>
          <a:xfrm>
            <a:off x="457200" y="1463040"/>
            <a:ext cx="3566160" cy="274320"/>
          </a:xfrm>
          <a:prstGeom prst="rect">
            <a:avLst/>
          </a:prstGeom>
          <a:noFill/>
        </p:spPr>
        <p:txBody>
          <a:bodyPr wrap="square" lIns="0" tIns="0" rIns="0" bIns="0" anchor="t">
            <a:noAutofit/>
          </a:bodyPr>
          <a:lstStyle/>
          <a:p>
            <a:pPr algn="l"/>
            <a:r>
              <a:rPr sz="1100" b="1" i="0">
                <a:solidFill>
                  <a:srgbClr val="6B7B8D"/>
                </a:solidFill>
                <a:latin typeface="Open Sans"/>
              </a:rPr>
              <a:t>EXERCISE 1 · TEST, 2ND HALF OF 2025</a:t>
            </a:r>
          </a:p>
        </p:txBody>
      </p:sp>
      <p:sp>
        <p:nvSpPr>
          <p:cNvPr id="7" name="TextBox 6"/>
          <p:cNvSpPr txBox="1"/>
          <p:nvPr/>
        </p:nvSpPr>
        <p:spPr>
          <a:xfrm>
            <a:off x="457200" y="1828800"/>
            <a:ext cx="3566160" cy="1005840"/>
          </a:xfrm>
          <a:prstGeom prst="rect">
            <a:avLst/>
          </a:prstGeom>
          <a:noFill/>
        </p:spPr>
        <p:txBody>
          <a:bodyPr wrap="square" lIns="0" tIns="0" rIns="0" bIns="0" anchor="b">
            <a:noAutofit/>
          </a:bodyPr>
          <a:lstStyle/>
          <a:p>
            <a:pPr algn="l"/>
            <a:r>
              <a:rPr sz="5400" b="1" i="0">
                <a:solidFill>
                  <a:srgbClr val="3399CC"/>
                </a:solidFill>
                <a:latin typeface="Open Sans"/>
              </a:rPr>
              <a:t>19.4</a:t>
            </a:r>
            <a:r>
              <a:rPr sz="2800" b="1" i="0">
                <a:solidFill>
                  <a:srgbClr val="6B7B8D"/>
                </a:solidFill>
                <a:latin typeface="Open Sans"/>
              </a:rPr>
              <a:t>  vs 25.9</a:t>
            </a:r>
          </a:p>
        </p:txBody>
      </p:sp>
      <p:sp>
        <p:nvSpPr>
          <p:cNvPr id="8" name="TextBox 7"/>
          <p:cNvSpPr txBox="1"/>
          <p:nvPr/>
        </p:nvSpPr>
        <p:spPr>
          <a:xfrm>
            <a:off x="457200" y="2926080"/>
            <a:ext cx="3474720" cy="731520"/>
          </a:xfrm>
          <a:prstGeom prst="rect">
            <a:avLst/>
          </a:prstGeom>
          <a:noFill/>
        </p:spPr>
        <p:txBody>
          <a:bodyPr wrap="square" lIns="0" tIns="0" rIns="0" bIns="0" anchor="t">
            <a:noAutofit/>
          </a:bodyPr>
          <a:lstStyle/>
          <a:p>
            <a:pPr algn="l"/>
            <a:r>
              <a:rPr sz="1300" b="1" i="0">
                <a:solidFill>
                  <a:srgbClr val="1A2733"/>
                </a:solidFill>
                <a:latin typeface="Open Sans"/>
              </a:rPr>
              <a:t>flights per day, average error of the network vs “same weekday last week”</a:t>
            </a:r>
          </a:p>
        </p:txBody>
      </p:sp>
      <p:sp>
        <p:nvSpPr>
          <p:cNvPr id="9" name="TextBox 8"/>
          <p:cNvSpPr txBox="1"/>
          <p:nvPr/>
        </p:nvSpPr>
        <p:spPr>
          <a:xfrm>
            <a:off x="457200" y="3840480"/>
            <a:ext cx="3474720" cy="2194560"/>
          </a:xfrm>
          <a:prstGeom prst="rect">
            <a:avLst/>
          </a:prstGeom>
          <a:noFill/>
        </p:spPr>
        <p:txBody>
          <a:bodyPr wrap="square" lIns="0" tIns="0" rIns="0" bIns="0" anchor="t">
            <a:noAutofit/>
          </a:bodyPr>
          <a:lstStyle/>
          <a:p>
            <a:pPr algn="l"/>
            <a:r>
              <a:rPr sz="1400" b="0" i="0">
                <a:solidFill>
                  <a:srgbClr val="1A2733"/>
                </a:solidFill>
                <a:latin typeface="Open Sans"/>
              </a:rPr>
              <a:t>Traffic averages 565 movements a day. The baseline is already good; the network wins by about 6 flights a day. Is that operationally useful? A question for users, not for the model.</a:t>
            </a:r>
          </a:p>
        </p:txBody>
      </p:sp>
      <p:cxnSp>
        <p:nvCxnSpPr>
          <p:cNvPr id="10" name="Connector 9"/>
          <p:cNvCxnSpPr/>
          <p:nvPr/>
        </p:nvCxnSpPr>
        <p:spPr>
          <a:xfrm>
            <a:off x="4114800" y="1463040"/>
            <a:ext cx="0" cy="475488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97680" y="1463040"/>
            <a:ext cx="3566160" cy="274320"/>
          </a:xfrm>
          <a:prstGeom prst="rect">
            <a:avLst/>
          </a:prstGeom>
          <a:noFill/>
        </p:spPr>
        <p:txBody>
          <a:bodyPr wrap="square" lIns="0" tIns="0" rIns="0" bIns="0" anchor="t">
            <a:noAutofit/>
          </a:bodyPr>
          <a:lstStyle/>
          <a:p>
            <a:pPr algn="l"/>
            <a:r>
              <a:rPr sz="1100" b="1" i="0">
                <a:solidFill>
                  <a:srgbClr val="6B7B8D"/>
                </a:solidFill>
                <a:latin typeface="Open Sans"/>
              </a:rPr>
              <a:t>EXERCISE 2 · VALIDATION, 2024</a:t>
            </a:r>
          </a:p>
        </p:txBody>
      </p:sp>
      <p:sp>
        <p:nvSpPr>
          <p:cNvPr id="12" name="TextBox 11"/>
          <p:cNvSpPr txBox="1"/>
          <p:nvPr/>
        </p:nvSpPr>
        <p:spPr>
          <a:xfrm>
            <a:off x="4297680" y="1828800"/>
            <a:ext cx="3566160" cy="1005840"/>
          </a:xfrm>
          <a:prstGeom prst="rect">
            <a:avLst/>
          </a:prstGeom>
          <a:noFill/>
        </p:spPr>
        <p:txBody>
          <a:bodyPr wrap="square" lIns="0" tIns="0" rIns="0" bIns="0" anchor="b">
            <a:noAutofit/>
          </a:bodyPr>
          <a:lstStyle/>
          <a:p>
            <a:pPr algn="l"/>
            <a:r>
              <a:rPr sz="5400" b="1" i="0">
                <a:solidFill>
                  <a:srgbClr val="0C3D6E"/>
                </a:solidFill>
                <a:latin typeface="Open Sans"/>
              </a:rPr>
              <a:t>96.7 %</a:t>
            </a:r>
          </a:p>
        </p:txBody>
      </p:sp>
      <p:sp>
        <p:nvSpPr>
          <p:cNvPr id="13" name="TextBox 12"/>
          <p:cNvSpPr txBox="1"/>
          <p:nvPr/>
        </p:nvSpPr>
        <p:spPr>
          <a:xfrm>
            <a:off x="4297680" y="2926080"/>
            <a:ext cx="3474720" cy="731520"/>
          </a:xfrm>
          <a:prstGeom prst="rect">
            <a:avLst/>
          </a:prstGeom>
          <a:noFill/>
        </p:spPr>
        <p:txBody>
          <a:bodyPr wrap="square" lIns="0" tIns="0" rIns="0" bIns="0" anchor="t">
            <a:noAutofit/>
          </a:bodyPr>
          <a:lstStyle/>
          <a:p>
            <a:pPr algn="l"/>
            <a:r>
              <a:rPr sz="1300" b="1" i="0">
                <a:solidFill>
                  <a:srgbClr val="1A2733"/>
                </a:solidFill>
                <a:latin typeface="Open Sans"/>
              </a:rPr>
              <a:t>accuracy of a “model” that always answers: no low visibility</a:t>
            </a:r>
          </a:p>
        </p:txBody>
      </p:sp>
      <p:sp>
        <p:nvSpPr>
          <p:cNvPr id="14" name="TextBox 13"/>
          <p:cNvSpPr txBox="1"/>
          <p:nvPr/>
        </p:nvSpPr>
        <p:spPr>
          <a:xfrm>
            <a:off x="4297680" y="3840480"/>
            <a:ext cx="3474720" cy="2194560"/>
          </a:xfrm>
          <a:prstGeom prst="rect">
            <a:avLst/>
          </a:prstGeom>
          <a:noFill/>
        </p:spPr>
        <p:txBody>
          <a:bodyPr wrap="square" lIns="0" tIns="0" rIns="0" bIns="0" anchor="t">
            <a:noAutofit/>
          </a:bodyPr>
          <a:lstStyle/>
          <a:p>
            <a:pPr algn="l"/>
            <a:r>
              <a:rPr sz="1400" b="0" i="0">
                <a:solidFill>
                  <a:srgbClr val="1A2733"/>
                </a:solidFill>
                <a:latin typeface="Open Sans"/>
              </a:rPr>
              <a:t>It never raises an alert, yet scores almost 97 %. For rare events accuracy is misleading: look at precision, recall and PR-AUC.</a:t>
            </a:r>
          </a:p>
        </p:txBody>
      </p:sp>
      <p:cxnSp>
        <p:nvCxnSpPr>
          <p:cNvPr id="15" name="Connector 14"/>
          <p:cNvCxnSpPr/>
          <p:nvPr/>
        </p:nvCxnSpPr>
        <p:spPr>
          <a:xfrm>
            <a:off x="7955280" y="1463040"/>
            <a:ext cx="0" cy="475488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38160" y="1463040"/>
            <a:ext cx="3566160" cy="274320"/>
          </a:xfrm>
          <a:prstGeom prst="rect">
            <a:avLst/>
          </a:prstGeom>
          <a:noFill/>
        </p:spPr>
        <p:txBody>
          <a:bodyPr wrap="square" lIns="0" tIns="0" rIns="0" bIns="0" anchor="t">
            <a:noAutofit/>
          </a:bodyPr>
          <a:lstStyle/>
          <a:p>
            <a:pPr algn="l"/>
            <a:r>
              <a:rPr sz="1100" b="1" i="0">
                <a:solidFill>
                  <a:srgbClr val="6B7B8D"/>
                </a:solidFill>
                <a:latin typeface="Open Sans"/>
              </a:rPr>
              <a:t>EXERCISE 2 · TEST, 2025</a:t>
            </a:r>
          </a:p>
        </p:txBody>
      </p:sp>
      <p:sp>
        <p:nvSpPr>
          <p:cNvPr id="17" name="TextBox 16"/>
          <p:cNvSpPr txBox="1"/>
          <p:nvPr/>
        </p:nvSpPr>
        <p:spPr>
          <a:xfrm>
            <a:off x="8138160" y="1828800"/>
            <a:ext cx="3566160" cy="1005840"/>
          </a:xfrm>
          <a:prstGeom prst="rect">
            <a:avLst/>
          </a:prstGeom>
          <a:noFill/>
        </p:spPr>
        <p:txBody>
          <a:bodyPr wrap="square" lIns="0" tIns="0" rIns="0" bIns="0" anchor="b">
            <a:noAutofit/>
          </a:bodyPr>
          <a:lstStyle/>
          <a:p>
            <a:pPr algn="l"/>
            <a:r>
              <a:rPr sz="5400" b="1" i="0">
                <a:solidFill>
                  <a:srgbClr val="E8742A"/>
                </a:solidFill>
                <a:latin typeface="Open Sans"/>
              </a:rPr>
              <a:t>0.78</a:t>
            </a:r>
            <a:r>
              <a:rPr sz="2800" b="1" i="0">
                <a:solidFill>
                  <a:srgbClr val="6B7B8D"/>
                </a:solidFill>
                <a:latin typeface="Open Sans"/>
              </a:rPr>
              <a:t>  vs 0.47</a:t>
            </a:r>
          </a:p>
        </p:txBody>
      </p:sp>
      <p:sp>
        <p:nvSpPr>
          <p:cNvPr id="18" name="TextBox 17"/>
          <p:cNvSpPr txBox="1"/>
          <p:nvPr/>
        </p:nvSpPr>
        <p:spPr>
          <a:xfrm>
            <a:off x="8138160" y="2926080"/>
            <a:ext cx="3474720" cy="731520"/>
          </a:xfrm>
          <a:prstGeom prst="rect">
            <a:avLst/>
          </a:prstGeom>
          <a:noFill/>
        </p:spPr>
        <p:txBody>
          <a:bodyPr wrap="square" lIns="0" tIns="0" rIns="0" bIns="0" anchor="t">
            <a:noAutofit/>
          </a:bodyPr>
          <a:lstStyle/>
          <a:p>
            <a:pPr algn="l"/>
            <a:r>
              <a:rPr sz="1300" b="1" i="0">
                <a:solidFill>
                  <a:srgbClr val="1A2733"/>
                </a:solidFill>
                <a:latin typeface="Open Sans"/>
              </a:rPr>
              <a:t>recall of the network vs persistence (precision 0.33 vs 0.74)</a:t>
            </a:r>
          </a:p>
        </p:txBody>
      </p:sp>
      <p:sp>
        <p:nvSpPr>
          <p:cNvPr id="19" name="TextBox 18"/>
          <p:cNvSpPr txBox="1"/>
          <p:nvPr/>
        </p:nvSpPr>
        <p:spPr>
          <a:xfrm>
            <a:off x="8138160" y="3840480"/>
            <a:ext cx="3474720" cy="2194560"/>
          </a:xfrm>
          <a:prstGeom prst="rect">
            <a:avLst/>
          </a:prstGeom>
          <a:noFill/>
        </p:spPr>
        <p:txBody>
          <a:bodyPr wrap="square" lIns="0" tIns="0" rIns="0" bIns="0" anchor="t">
            <a:noAutofit/>
          </a:bodyPr>
          <a:lstStyle/>
          <a:p>
            <a:pPr algn="l"/>
            <a:r>
              <a:rPr sz="1400" b="0" i="0">
                <a:solidFill>
                  <a:srgbClr val="1A2733"/>
                </a:solidFill>
                <a:latin typeface="Open Sans"/>
              </a:rPr>
              <a:t>The network catches many more low-visibility hours, and pays with more false alarms. Where to sit on that trade-off is an operational decision.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decisions that mattered more than the network</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Spread across the notebooks; together they are what makes a model useful</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Most of what makes these models useful or useless was decided outside the network.</a:t>
            </a:r>
          </a:p>
        </p:txBody>
      </p:sp>
      <p:sp>
        <p:nvSpPr>
          <p:cNvPr id="6" name="TextBox 5"/>
          <p:cNvSpPr txBox="1"/>
          <p:nvPr/>
        </p:nvSpPr>
        <p:spPr>
          <a:xfrm>
            <a:off x="457200" y="1463040"/>
            <a:ext cx="731520" cy="548640"/>
          </a:xfrm>
          <a:prstGeom prst="rect">
            <a:avLst/>
          </a:prstGeom>
          <a:noFill/>
        </p:spPr>
        <p:txBody>
          <a:bodyPr wrap="square" lIns="0" tIns="0" rIns="0" bIns="0" anchor="t">
            <a:noAutofit/>
          </a:bodyPr>
          <a:lstStyle/>
          <a:p>
            <a:pPr algn="l"/>
            <a:r>
              <a:rPr sz="2600" b="1" i="0">
                <a:solidFill>
                  <a:srgbClr val="3399CC"/>
                </a:solidFill>
                <a:latin typeface="Open Sans"/>
              </a:rPr>
              <a:t>01</a:t>
            </a:r>
          </a:p>
        </p:txBody>
      </p:sp>
      <p:sp>
        <p:nvSpPr>
          <p:cNvPr id="7" name="TextBox 6"/>
          <p:cNvSpPr txBox="1"/>
          <p:nvPr/>
        </p:nvSpPr>
        <p:spPr>
          <a:xfrm>
            <a:off x="1234440" y="1481328"/>
            <a:ext cx="6309360" cy="320040"/>
          </a:xfrm>
          <a:prstGeom prst="rect">
            <a:avLst/>
          </a:prstGeom>
          <a:noFill/>
        </p:spPr>
        <p:txBody>
          <a:bodyPr wrap="square" lIns="0" tIns="0" rIns="0" bIns="0" anchor="t">
            <a:noAutofit/>
          </a:bodyPr>
          <a:lstStyle/>
          <a:p>
            <a:pPr algn="l"/>
            <a:r>
              <a:rPr sz="1500" b="1" i="0">
                <a:solidFill>
                  <a:srgbClr val="0C3D6E"/>
                </a:solidFill>
                <a:latin typeface="Open Sans"/>
              </a:rPr>
              <a:t>Baseline first</a:t>
            </a:r>
          </a:p>
        </p:txBody>
      </p:sp>
      <p:sp>
        <p:nvSpPr>
          <p:cNvPr id="8" name="TextBox 7"/>
          <p:cNvSpPr txBox="1"/>
          <p:nvPr/>
        </p:nvSpPr>
        <p:spPr>
          <a:xfrm>
            <a:off x="1234440" y="1810512"/>
            <a:ext cx="6309360" cy="594360"/>
          </a:xfrm>
          <a:prstGeom prst="rect">
            <a:avLst/>
          </a:prstGeom>
          <a:noFill/>
        </p:spPr>
        <p:txBody>
          <a:bodyPr wrap="square" lIns="0" tIns="0" rIns="0" bIns="0" anchor="t">
            <a:noAutofit/>
          </a:bodyPr>
          <a:lstStyle/>
          <a:p>
            <a:pPr algn="l"/>
            <a:r>
              <a:rPr sz="1300" b="0" i="0">
                <a:solidFill>
                  <a:srgbClr val="1A2733"/>
                </a:solidFill>
                <a:latin typeface="Open Sans"/>
              </a:rPr>
              <a:t>“Same weekday last week” (Ex. 1) and persistence (Ex. 2) set the bar. Without them, no error figure means anything.</a:t>
            </a:r>
          </a:p>
        </p:txBody>
      </p:sp>
      <p:cxnSp>
        <p:nvCxnSpPr>
          <p:cNvPr id="9" name="Connector 8"/>
          <p:cNvCxnSpPr/>
          <p:nvPr/>
        </p:nvCxnSpPr>
        <p:spPr>
          <a:xfrm>
            <a:off x="1234440" y="2404872"/>
            <a:ext cx="6309360"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450592"/>
            <a:ext cx="731520" cy="548640"/>
          </a:xfrm>
          <a:prstGeom prst="rect">
            <a:avLst/>
          </a:prstGeom>
          <a:noFill/>
        </p:spPr>
        <p:txBody>
          <a:bodyPr wrap="square" lIns="0" tIns="0" rIns="0" bIns="0" anchor="t">
            <a:noAutofit/>
          </a:bodyPr>
          <a:lstStyle/>
          <a:p>
            <a:pPr algn="l"/>
            <a:r>
              <a:rPr sz="2600" b="1" i="0">
                <a:solidFill>
                  <a:srgbClr val="3399CC"/>
                </a:solidFill>
                <a:latin typeface="Open Sans"/>
              </a:rPr>
              <a:t>02</a:t>
            </a:r>
          </a:p>
        </p:txBody>
      </p:sp>
      <p:sp>
        <p:nvSpPr>
          <p:cNvPr id="11" name="TextBox 10"/>
          <p:cNvSpPr txBox="1"/>
          <p:nvPr/>
        </p:nvSpPr>
        <p:spPr>
          <a:xfrm>
            <a:off x="1234440" y="2468880"/>
            <a:ext cx="6309360" cy="320040"/>
          </a:xfrm>
          <a:prstGeom prst="rect">
            <a:avLst/>
          </a:prstGeom>
          <a:noFill/>
        </p:spPr>
        <p:txBody>
          <a:bodyPr wrap="square" lIns="0" tIns="0" rIns="0" bIns="0" anchor="t">
            <a:noAutofit/>
          </a:bodyPr>
          <a:lstStyle/>
          <a:p>
            <a:pPr algn="l"/>
            <a:r>
              <a:rPr sz="1500" b="1" i="0">
                <a:solidFill>
                  <a:srgbClr val="0C3D6E"/>
                </a:solidFill>
                <a:latin typeface="Open Sans"/>
              </a:rPr>
              <a:t>Split by time, scale on training data only</a:t>
            </a:r>
          </a:p>
        </p:txBody>
      </p:sp>
      <p:sp>
        <p:nvSpPr>
          <p:cNvPr id="12" name="TextBox 11"/>
          <p:cNvSpPr txBox="1"/>
          <p:nvPr/>
        </p:nvSpPr>
        <p:spPr>
          <a:xfrm>
            <a:off x="1234440" y="2798064"/>
            <a:ext cx="6309360" cy="594360"/>
          </a:xfrm>
          <a:prstGeom prst="rect">
            <a:avLst/>
          </a:prstGeom>
          <a:noFill/>
        </p:spPr>
        <p:txBody>
          <a:bodyPr wrap="square" lIns="0" tIns="0" rIns="0" bIns="0" anchor="t">
            <a:noAutofit/>
          </a:bodyPr>
          <a:lstStyle/>
          <a:p>
            <a:pPr algn="l"/>
            <a:r>
              <a:rPr sz="1300" b="0" i="0">
                <a:solidFill>
                  <a:srgbClr val="1A2733"/>
                </a:solidFill>
                <a:latin typeface="Open Sans"/>
              </a:rPr>
              <a:t>Train on the past, choose settings on 2024, test once on 2025. A random split or whole-period scaling lets the future leak in.</a:t>
            </a:r>
          </a:p>
        </p:txBody>
      </p:sp>
      <p:cxnSp>
        <p:nvCxnSpPr>
          <p:cNvPr id="13" name="Connector 12"/>
          <p:cNvCxnSpPr/>
          <p:nvPr/>
        </p:nvCxnSpPr>
        <p:spPr>
          <a:xfrm>
            <a:off x="1234440" y="3392424"/>
            <a:ext cx="6309360"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3438144"/>
            <a:ext cx="731520" cy="548640"/>
          </a:xfrm>
          <a:prstGeom prst="rect">
            <a:avLst/>
          </a:prstGeom>
          <a:noFill/>
        </p:spPr>
        <p:txBody>
          <a:bodyPr wrap="square" lIns="0" tIns="0" rIns="0" bIns="0" anchor="t">
            <a:noAutofit/>
          </a:bodyPr>
          <a:lstStyle/>
          <a:p>
            <a:pPr algn="l"/>
            <a:r>
              <a:rPr sz="2600" b="1" i="0">
                <a:solidFill>
                  <a:srgbClr val="3399CC"/>
                </a:solidFill>
                <a:latin typeface="Open Sans"/>
              </a:rPr>
              <a:t>03</a:t>
            </a:r>
          </a:p>
        </p:txBody>
      </p:sp>
      <p:sp>
        <p:nvSpPr>
          <p:cNvPr id="15" name="TextBox 14"/>
          <p:cNvSpPr txBox="1"/>
          <p:nvPr/>
        </p:nvSpPr>
        <p:spPr>
          <a:xfrm>
            <a:off x="1234440" y="3456432"/>
            <a:ext cx="6309360" cy="320040"/>
          </a:xfrm>
          <a:prstGeom prst="rect">
            <a:avLst/>
          </a:prstGeom>
          <a:noFill/>
        </p:spPr>
        <p:txBody>
          <a:bodyPr wrap="square" lIns="0" tIns="0" rIns="0" bIns="0" anchor="t">
            <a:noAutofit/>
          </a:bodyPr>
          <a:lstStyle/>
          <a:p>
            <a:pPr algn="l"/>
            <a:r>
              <a:rPr sz="1500" b="1" i="0">
                <a:solidFill>
                  <a:srgbClr val="0C3D6E"/>
                </a:solidFill>
                <a:latin typeface="Open Sans"/>
              </a:rPr>
              <a:t>A metric that fits the decision</a:t>
            </a:r>
          </a:p>
        </p:txBody>
      </p:sp>
      <p:sp>
        <p:nvSpPr>
          <p:cNvPr id="16" name="TextBox 15"/>
          <p:cNvSpPr txBox="1"/>
          <p:nvPr/>
        </p:nvSpPr>
        <p:spPr>
          <a:xfrm>
            <a:off x="1234440" y="3785616"/>
            <a:ext cx="6309360" cy="594360"/>
          </a:xfrm>
          <a:prstGeom prst="rect">
            <a:avLst/>
          </a:prstGeom>
          <a:noFill/>
        </p:spPr>
        <p:txBody>
          <a:bodyPr wrap="square" lIns="0" tIns="0" rIns="0" bIns="0" anchor="t">
            <a:noAutofit/>
          </a:bodyPr>
          <a:lstStyle/>
          <a:p>
            <a:pPr algn="l"/>
            <a:r>
              <a:rPr sz="1300" b="0" i="0">
                <a:solidFill>
                  <a:srgbClr val="1A2733"/>
                </a:solidFill>
                <a:latin typeface="Open Sans"/>
              </a:rPr>
              <a:t>Flights per day for traffic. Precision, recall and PR-AUC for low visibility, never accuracy.</a:t>
            </a:r>
          </a:p>
        </p:txBody>
      </p:sp>
      <p:cxnSp>
        <p:nvCxnSpPr>
          <p:cNvPr id="17" name="Connector 16"/>
          <p:cNvCxnSpPr/>
          <p:nvPr/>
        </p:nvCxnSpPr>
        <p:spPr>
          <a:xfrm>
            <a:off x="1234440" y="4379976"/>
            <a:ext cx="6309360"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4425696"/>
            <a:ext cx="731520" cy="548640"/>
          </a:xfrm>
          <a:prstGeom prst="rect">
            <a:avLst/>
          </a:prstGeom>
          <a:noFill/>
        </p:spPr>
        <p:txBody>
          <a:bodyPr wrap="square" lIns="0" tIns="0" rIns="0" bIns="0" anchor="t">
            <a:noAutofit/>
          </a:bodyPr>
          <a:lstStyle/>
          <a:p>
            <a:pPr algn="l"/>
            <a:r>
              <a:rPr sz="2600" b="1" i="0">
                <a:solidFill>
                  <a:srgbClr val="3399CC"/>
                </a:solidFill>
                <a:latin typeface="Open Sans"/>
              </a:rPr>
              <a:t>04</a:t>
            </a:r>
          </a:p>
        </p:txBody>
      </p:sp>
      <p:sp>
        <p:nvSpPr>
          <p:cNvPr id="19" name="TextBox 18"/>
          <p:cNvSpPr txBox="1"/>
          <p:nvPr/>
        </p:nvSpPr>
        <p:spPr>
          <a:xfrm>
            <a:off x="1234440" y="4443983"/>
            <a:ext cx="6309360" cy="320040"/>
          </a:xfrm>
          <a:prstGeom prst="rect">
            <a:avLst/>
          </a:prstGeom>
          <a:noFill/>
        </p:spPr>
        <p:txBody>
          <a:bodyPr wrap="square" lIns="0" tIns="0" rIns="0" bIns="0" anchor="t">
            <a:noAutofit/>
          </a:bodyPr>
          <a:lstStyle/>
          <a:p>
            <a:pPr algn="l"/>
            <a:r>
              <a:rPr sz="1500" b="1" i="0">
                <a:solidFill>
                  <a:srgbClr val="0C3D6E"/>
                </a:solidFill>
                <a:latin typeface="Open Sans"/>
              </a:rPr>
              <a:t>The price of a missed event</a:t>
            </a:r>
          </a:p>
        </p:txBody>
      </p:sp>
      <p:sp>
        <p:nvSpPr>
          <p:cNvPr id="20" name="TextBox 19"/>
          <p:cNvSpPr txBox="1"/>
          <p:nvPr/>
        </p:nvSpPr>
        <p:spPr>
          <a:xfrm>
            <a:off x="1234440" y="4773168"/>
            <a:ext cx="6309360" cy="594360"/>
          </a:xfrm>
          <a:prstGeom prst="rect">
            <a:avLst/>
          </a:prstGeom>
          <a:noFill/>
        </p:spPr>
        <p:txBody>
          <a:bodyPr wrap="square" lIns="0" tIns="0" rIns="0" bIns="0" anchor="t">
            <a:noAutofit/>
          </a:bodyPr>
          <a:lstStyle/>
          <a:p>
            <a:pPr algn="l"/>
            <a:r>
              <a:rPr sz="1300" b="0" i="0">
                <a:solidFill>
                  <a:srgbClr val="1A2733"/>
                </a:solidFill>
                <a:latin typeface="Open Sans"/>
              </a:rPr>
              <a:t>pos_weight and the alert threshold set the balance between misses and false alarms: an operational choice.</a:t>
            </a:r>
          </a:p>
        </p:txBody>
      </p:sp>
      <p:cxnSp>
        <p:nvCxnSpPr>
          <p:cNvPr id="21" name="Connector 20"/>
          <p:cNvCxnSpPr/>
          <p:nvPr/>
        </p:nvCxnSpPr>
        <p:spPr>
          <a:xfrm>
            <a:off x="1234440" y="5367528"/>
            <a:ext cx="6309360"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5413248"/>
            <a:ext cx="731520" cy="548640"/>
          </a:xfrm>
          <a:prstGeom prst="rect">
            <a:avLst/>
          </a:prstGeom>
          <a:noFill/>
        </p:spPr>
        <p:txBody>
          <a:bodyPr wrap="square" lIns="0" tIns="0" rIns="0" bIns="0" anchor="t">
            <a:noAutofit/>
          </a:bodyPr>
          <a:lstStyle/>
          <a:p>
            <a:pPr algn="l"/>
            <a:r>
              <a:rPr sz="2600" b="1" i="0">
                <a:solidFill>
                  <a:srgbClr val="3399CC"/>
                </a:solidFill>
                <a:latin typeface="Open Sans"/>
              </a:rPr>
              <a:t>05</a:t>
            </a:r>
          </a:p>
        </p:txBody>
      </p:sp>
      <p:sp>
        <p:nvSpPr>
          <p:cNvPr id="23" name="TextBox 22"/>
          <p:cNvSpPr txBox="1"/>
          <p:nvPr/>
        </p:nvSpPr>
        <p:spPr>
          <a:xfrm>
            <a:off x="1234440" y="5431536"/>
            <a:ext cx="6309360" cy="320040"/>
          </a:xfrm>
          <a:prstGeom prst="rect">
            <a:avLst/>
          </a:prstGeom>
          <a:noFill/>
        </p:spPr>
        <p:txBody>
          <a:bodyPr wrap="square" lIns="0" tIns="0" rIns="0" bIns="0" anchor="t">
            <a:noAutofit/>
          </a:bodyPr>
          <a:lstStyle/>
          <a:p>
            <a:pPr algn="l"/>
            <a:r>
              <a:rPr sz="1500" b="1" i="0">
                <a:solidFill>
                  <a:srgbClr val="0C3D6E"/>
                </a:solidFill>
                <a:latin typeface="Open Sans"/>
              </a:rPr>
              <a:t>An honest target</a:t>
            </a:r>
          </a:p>
        </p:txBody>
      </p:sp>
      <p:sp>
        <p:nvSpPr>
          <p:cNvPr id="24" name="TextBox 23"/>
          <p:cNvSpPr txBox="1"/>
          <p:nvPr/>
        </p:nvSpPr>
        <p:spPr>
          <a:xfrm>
            <a:off x="1234440" y="5760720"/>
            <a:ext cx="6309360" cy="594360"/>
          </a:xfrm>
          <a:prstGeom prst="rect">
            <a:avLst/>
          </a:prstGeom>
          <a:noFill/>
        </p:spPr>
        <p:txBody>
          <a:bodyPr wrap="square" lIns="0" tIns="0" rIns="0" bIns="0" anchor="t">
            <a:noAutofit/>
          </a:bodyPr>
          <a:lstStyle/>
          <a:p>
            <a:pPr algn="l"/>
            <a:r>
              <a:rPr sz="1300" b="0" i="0">
                <a:solidFill>
                  <a:srgbClr val="1A2733"/>
                </a:solidFill>
                <a:latin typeface="Open Sans"/>
              </a:rPr>
              <a:t>“Visibility below 1 500 m within 3 h” is a proxy for LVP. The model learns the proxy, not the procedure.</a:t>
            </a:r>
          </a:p>
        </p:txBody>
      </p:sp>
      <p:sp>
        <p:nvSpPr>
          <p:cNvPr id="25" name="Rectangle 24"/>
          <p:cNvSpPr/>
          <p:nvPr/>
        </p:nvSpPr>
        <p:spPr>
          <a:xfrm>
            <a:off x="8001000" y="1463040"/>
            <a:ext cx="3730752" cy="4892040"/>
          </a:xfrm>
          <a:prstGeom prst="rect">
            <a:avLst/>
          </a:prstGeom>
          <a:solidFill>
            <a:srgbClr val="0C3D6E"/>
          </a:solidFill>
          <a:ln>
            <a:noFill/>
          </a:ln>
          <a:effectLst/>
        </p:spPr>
        <p:txBody>
          <a:bodyPr rtlCol="0" anchor="ctr"/>
          <a:lstStyle/>
          <a:p>
            <a:pPr algn="ctr"/>
            <a:endParaRPr/>
          </a:p>
        </p:txBody>
      </p:sp>
      <p:sp>
        <p:nvSpPr>
          <p:cNvPr id="26" name="TextBox 25"/>
          <p:cNvSpPr txBox="1"/>
          <p:nvPr/>
        </p:nvSpPr>
        <p:spPr>
          <a:xfrm>
            <a:off x="8229600" y="1645920"/>
            <a:ext cx="3291840" cy="274320"/>
          </a:xfrm>
          <a:prstGeom prst="rect">
            <a:avLst/>
          </a:prstGeom>
          <a:noFill/>
        </p:spPr>
        <p:txBody>
          <a:bodyPr wrap="square" lIns="0" tIns="0" rIns="0" bIns="0" anchor="t">
            <a:noAutofit/>
          </a:bodyPr>
          <a:lstStyle/>
          <a:p>
            <a:pPr algn="l"/>
            <a:r>
              <a:rPr sz="1100" b="1" i="0">
                <a:solidFill>
                  <a:srgbClr val="9CC9E6"/>
                </a:solidFill>
                <a:latin typeface="Open Sans"/>
              </a:rPr>
              <a:t>THE NETWORK ITSELF</a:t>
            </a:r>
          </a:p>
        </p:txBody>
      </p:sp>
      <p:sp>
        <p:nvSpPr>
          <p:cNvPr id="27" name="TextBox 26"/>
          <p:cNvSpPr txBox="1"/>
          <p:nvPr/>
        </p:nvSpPr>
        <p:spPr>
          <a:xfrm>
            <a:off x="8229600" y="2011680"/>
            <a:ext cx="3291840" cy="2011680"/>
          </a:xfrm>
          <a:prstGeom prst="rect">
            <a:avLst/>
          </a:prstGeom>
          <a:noFill/>
        </p:spPr>
        <p:txBody>
          <a:bodyPr wrap="square" lIns="0" tIns="0" rIns="0" bIns="0" anchor="t">
            <a:noAutofit/>
          </a:bodyPr>
          <a:lstStyle/>
          <a:p>
            <a:pPr algn="l"/>
            <a:r>
              <a:rPr sz="1300" b="0" i="0">
                <a:solidFill>
                  <a:srgbClr val="FFFFFF"/>
                </a:solidFill>
                <a:latin typeface="Courier New"/>
              </a:rPr>
              <a:t>nn.Sequential(</a:t>
            </a:r>
          </a:p>
          <a:p>
            <a:pPr algn="l"/>
            <a:r>
              <a:rPr sz="1300" b="0" i="0">
                <a:solidFill>
                  <a:srgbClr val="FFFFFF"/>
                </a:solidFill>
                <a:latin typeface="Courier New"/>
              </a:rPr>
              <a:t>  nn.Linear(n_in, 32),</a:t>
            </a:r>
          </a:p>
          <a:p>
            <a:pPr algn="l"/>
            <a:r>
              <a:rPr sz="1300" b="0" i="0">
                <a:solidFill>
                  <a:srgbClr val="FFFFFF"/>
                </a:solidFill>
                <a:latin typeface="Courier New"/>
              </a:rPr>
              <a:t>  nn.ReLU(),</a:t>
            </a:r>
          </a:p>
          <a:p>
            <a:pPr algn="l"/>
            <a:r>
              <a:rPr sz="1300" b="0" i="0">
                <a:solidFill>
                  <a:srgbClr val="FFFFFF"/>
                </a:solidFill>
                <a:latin typeface="Courier New"/>
              </a:rPr>
              <a:t>  nn.Linear(32, 32),</a:t>
            </a:r>
          </a:p>
          <a:p>
            <a:pPr algn="l"/>
            <a:r>
              <a:rPr sz="1300" b="0" i="0">
                <a:solidFill>
                  <a:srgbClr val="FFFFFF"/>
                </a:solidFill>
                <a:latin typeface="Courier New"/>
              </a:rPr>
              <a:t>  nn.ReLU(),</a:t>
            </a:r>
          </a:p>
          <a:p>
            <a:pPr algn="l"/>
            <a:r>
              <a:rPr sz="1300" b="0" i="0">
                <a:solidFill>
                  <a:srgbClr val="FFFFFF"/>
                </a:solidFill>
                <a:latin typeface="Courier New"/>
              </a:rPr>
              <a:t>  nn.Linear(32, 1))</a:t>
            </a:r>
          </a:p>
        </p:txBody>
      </p:sp>
      <p:sp>
        <p:nvSpPr>
          <p:cNvPr id="28" name="TextBox 27"/>
          <p:cNvSpPr txBox="1"/>
          <p:nvPr/>
        </p:nvSpPr>
        <p:spPr>
          <a:xfrm>
            <a:off x="8229600" y="3749039"/>
            <a:ext cx="3291840" cy="2377440"/>
          </a:xfrm>
          <a:prstGeom prst="rect">
            <a:avLst/>
          </a:prstGeom>
          <a:noFill/>
        </p:spPr>
        <p:txBody>
          <a:bodyPr wrap="square" lIns="0" tIns="0" rIns="0" bIns="0" anchor="t">
            <a:noAutofit/>
          </a:bodyPr>
          <a:lstStyle/>
          <a:p>
            <a:pPr algn="l"/>
            <a:r>
              <a:rPr sz="1300" b="0" i="0">
                <a:solidFill>
                  <a:srgbClr val="FFFFFF"/>
                </a:solidFill>
                <a:latin typeface="Open Sans"/>
              </a:rPr>
              <a:t>A few lines, nearly identical in every exercise (Ex. 2 and 3 add dropout). Swapping it for a bigger one changed the results far less than the five choices on the left.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 developers ask: the code</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What a programmer still wonders after reading the comments</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If a line of code surprises you, check the plain-language comment first: every line has one.</a:t>
            </a:r>
          </a:p>
        </p:txBody>
      </p:sp>
      <p:sp>
        <p:nvSpPr>
          <p:cNvPr id="6" name="TextBox 5"/>
          <p:cNvSpPr txBox="1"/>
          <p:nvPr/>
        </p:nvSpPr>
        <p:spPr>
          <a:xfrm>
            <a:off x="457200" y="146304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7" name="TextBox 6"/>
          <p:cNvSpPr txBox="1"/>
          <p:nvPr/>
        </p:nvSpPr>
        <p:spPr>
          <a:xfrm>
            <a:off x="914400" y="150876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Why no sigmoid in the model, but one at prediction time?</a:t>
            </a:r>
          </a:p>
        </p:txBody>
      </p:sp>
      <p:sp>
        <p:nvSpPr>
          <p:cNvPr id="8" name="TextBox 7"/>
          <p:cNvSpPr txBox="1"/>
          <p:nvPr/>
        </p:nvSpPr>
        <p:spPr>
          <a:xfrm>
            <a:off x="4754880" y="1508760"/>
            <a:ext cx="6949440" cy="1051560"/>
          </a:xfrm>
          <a:prstGeom prst="rect">
            <a:avLst/>
          </a:prstGeom>
          <a:noFill/>
        </p:spPr>
        <p:txBody>
          <a:bodyPr wrap="square" lIns="0" tIns="0" rIns="0" bIns="0" anchor="t">
            <a:noAutofit/>
          </a:bodyPr>
          <a:lstStyle/>
          <a:p>
            <a:pPr algn="l"/>
            <a:r>
              <a:rPr sz="1300" b="0" i="0">
                <a:solidFill>
                  <a:srgbClr val="0C3D6E"/>
                </a:solidFill>
                <a:latin typeface="Courier New"/>
              </a:rPr>
              <a:t>nn.BCEWithLogitsLoss</a:t>
            </a:r>
            <a:r>
              <a:rPr sz="1300" b="0" i="0">
                <a:solidFill>
                  <a:srgbClr val="1A2733"/>
                </a:solidFill>
                <a:latin typeface="Open Sans"/>
              </a:rPr>
              <a:t> applies the sigmoid inside the loss, in a numerically stable way. So the network outputs raw scores (logits), and we call </a:t>
            </a:r>
            <a:r>
              <a:rPr sz="1300" b="0" i="0">
                <a:solidFill>
                  <a:srgbClr val="0C3D6E"/>
                </a:solidFill>
                <a:latin typeface="Courier New"/>
              </a:rPr>
              <a:t>torch.sigmoid</a:t>
            </a:r>
            <a:r>
              <a:rPr sz="1300" b="0" i="0">
                <a:solidFill>
                  <a:srgbClr val="1A2733"/>
                </a:solidFill>
                <a:latin typeface="Open Sans"/>
              </a:rPr>
              <a:t> only when we want probabilities.</a:t>
            </a:r>
          </a:p>
        </p:txBody>
      </p:sp>
      <p:cxnSp>
        <p:nvCxnSpPr>
          <p:cNvPr id="9" name="Connector 8"/>
          <p:cNvCxnSpPr/>
          <p:nvPr/>
        </p:nvCxnSpPr>
        <p:spPr>
          <a:xfrm>
            <a:off x="457200" y="260604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69748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11" name="TextBox 10"/>
          <p:cNvSpPr txBox="1"/>
          <p:nvPr/>
        </p:nvSpPr>
        <p:spPr>
          <a:xfrm>
            <a:off x="914400" y="274320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Why 150 epochs in Ex. 1 and only 15 in Ex. 2?</a:t>
            </a:r>
          </a:p>
        </p:txBody>
      </p:sp>
      <p:sp>
        <p:nvSpPr>
          <p:cNvPr id="12" name="TextBox 11"/>
          <p:cNvSpPr txBox="1"/>
          <p:nvPr/>
        </p:nvSpPr>
        <p:spPr>
          <a:xfrm>
            <a:off x="4754880" y="2743200"/>
            <a:ext cx="6949440" cy="1051560"/>
          </a:xfrm>
          <a:prstGeom prst="rect">
            <a:avLst/>
          </a:prstGeom>
          <a:noFill/>
        </p:spPr>
        <p:txBody>
          <a:bodyPr wrap="square" lIns="0" tIns="0" rIns="0" bIns="0" anchor="t">
            <a:noAutofit/>
          </a:bodyPr>
          <a:lstStyle/>
          <a:p>
            <a:pPr algn="l"/>
            <a:r>
              <a:rPr sz="1300" b="0" i="0">
                <a:solidFill>
                  <a:srgbClr val="1A2733"/>
                </a:solidFill>
                <a:latin typeface="Open Sans"/>
              </a:rPr>
              <a:t>An epoch is one pass over the training set. Ex. 1: 717 days, about 23 batches of 32. Ex. 2: 34 392 hours, about 135 batches of 256. Both runs make roughly 2 000 to 3 500 weight updates. Compare updates, not epochs.</a:t>
            </a:r>
          </a:p>
        </p:txBody>
      </p:sp>
      <p:cxnSp>
        <p:nvCxnSpPr>
          <p:cNvPr id="13" name="Connector 12"/>
          <p:cNvCxnSpPr/>
          <p:nvPr/>
        </p:nvCxnSpPr>
        <p:spPr>
          <a:xfrm>
            <a:off x="457200" y="384048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393192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15" name="TextBox 14"/>
          <p:cNvSpPr txBox="1"/>
          <p:nvPr/>
        </p:nvSpPr>
        <p:spPr>
          <a:xfrm>
            <a:off x="914400" y="397764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Why Adam and not plain SGD?</a:t>
            </a:r>
          </a:p>
        </p:txBody>
      </p:sp>
      <p:sp>
        <p:nvSpPr>
          <p:cNvPr id="16" name="TextBox 15"/>
          <p:cNvSpPr txBox="1"/>
          <p:nvPr/>
        </p:nvSpPr>
        <p:spPr>
          <a:xfrm>
            <a:off x="4754880" y="3977640"/>
            <a:ext cx="6949440" cy="1051560"/>
          </a:xfrm>
          <a:prstGeom prst="rect">
            <a:avLst/>
          </a:prstGeom>
          <a:noFill/>
        </p:spPr>
        <p:txBody>
          <a:bodyPr wrap="square" lIns="0" tIns="0" rIns="0" bIns="0" anchor="t">
            <a:noAutofit/>
          </a:bodyPr>
          <a:lstStyle/>
          <a:p>
            <a:pPr algn="l"/>
            <a:r>
              <a:rPr sz="1300" b="0" i="0">
                <a:solidFill>
                  <a:srgbClr val="1A2733"/>
                </a:solidFill>
                <a:latin typeface="Open Sans"/>
              </a:rPr>
              <a:t>Adam adapts the step size of each weight, so it usually works with its default settings. SGD with momentum can match it, but needs more tuning of the learning rate. In a lab, Adam removes one knob.</a:t>
            </a:r>
          </a:p>
        </p:txBody>
      </p:sp>
      <p:cxnSp>
        <p:nvCxnSpPr>
          <p:cNvPr id="17" name="Connector 16"/>
          <p:cNvCxnSpPr/>
          <p:nvPr/>
        </p:nvCxnSpPr>
        <p:spPr>
          <a:xfrm>
            <a:off x="457200" y="507492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516636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19" name="TextBox 18"/>
          <p:cNvSpPr txBox="1"/>
          <p:nvPr/>
        </p:nvSpPr>
        <p:spPr>
          <a:xfrm>
            <a:off x="914400" y="521208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Where is the GPU?</a:t>
            </a:r>
          </a:p>
        </p:txBody>
      </p:sp>
      <p:sp>
        <p:nvSpPr>
          <p:cNvPr id="20" name="TextBox 19"/>
          <p:cNvSpPr txBox="1"/>
          <p:nvPr/>
        </p:nvSpPr>
        <p:spPr>
          <a:xfrm>
            <a:off x="4754880" y="5212080"/>
            <a:ext cx="6949440" cy="1051560"/>
          </a:xfrm>
          <a:prstGeom prst="rect">
            <a:avLst/>
          </a:prstGeom>
          <a:noFill/>
        </p:spPr>
        <p:txBody>
          <a:bodyPr wrap="square" lIns="0" tIns="0" rIns="0" bIns="0" anchor="t">
            <a:noAutofit/>
          </a:bodyPr>
          <a:lstStyle/>
          <a:p>
            <a:pPr algn="l"/>
            <a:r>
              <a:rPr sz="1300" b="0" i="0">
                <a:solidFill>
                  <a:srgbClr val="1A2733"/>
                </a:solidFill>
                <a:latin typeface="Open Sans"/>
              </a:rPr>
              <a:t>The Ex. 1 network has under 2 000 weights and trains in seconds on a CPU. GPUs pay off with millions of weights and large batches; here, moving data to the GPU would cost more than it saves.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 developers ask: the engineering</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Reproducibility, deployment, debugging, and the honest question about alternatives</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Neural networks pull ahead on images, text, audio, sequences and very large datasets. Pick the tool after the baseline, not before.</a:t>
            </a:r>
          </a:p>
        </p:txBody>
      </p:sp>
      <p:sp>
        <p:nvSpPr>
          <p:cNvPr id="6" name="TextBox 5"/>
          <p:cNvSpPr txBox="1"/>
          <p:nvPr/>
        </p:nvSpPr>
        <p:spPr>
          <a:xfrm>
            <a:off x="457200" y="146304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7" name="TextBox 6"/>
          <p:cNvSpPr txBox="1"/>
          <p:nvPr/>
        </p:nvSpPr>
        <p:spPr>
          <a:xfrm>
            <a:off x="914400" y="150876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Will I get the same numbers on Colab and on my PC?</a:t>
            </a:r>
          </a:p>
        </p:txBody>
      </p:sp>
      <p:sp>
        <p:nvSpPr>
          <p:cNvPr id="8" name="TextBox 7"/>
          <p:cNvSpPr txBox="1"/>
          <p:nvPr/>
        </p:nvSpPr>
        <p:spPr>
          <a:xfrm>
            <a:off x="4754880" y="1508760"/>
            <a:ext cx="6949440" cy="1051560"/>
          </a:xfrm>
          <a:prstGeom prst="rect">
            <a:avLst/>
          </a:prstGeom>
          <a:noFill/>
        </p:spPr>
        <p:txBody>
          <a:bodyPr wrap="square" lIns="0" tIns="0" rIns="0" bIns="0" anchor="t">
            <a:noAutofit/>
          </a:bodyPr>
          <a:lstStyle/>
          <a:p>
            <a:pPr algn="l"/>
            <a:r>
              <a:rPr sz="1300" b="0" i="0">
                <a:solidFill>
                  <a:srgbClr val="0C3D6E"/>
                </a:solidFill>
                <a:latin typeface="Courier New"/>
              </a:rPr>
              <a:t>torch.manual_seed</a:t>
            </a:r>
            <a:r>
              <a:rPr sz="1300" b="0" i="0">
                <a:solidFill>
                  <a:srgbClr val="1A2733"/>
                </a:solidFill>
                <a:latin typeface="Open Sans"/>
              </a:rPr>
              <a:t> fixes the random start on one setup. Different hardware, library versions or thread counts can still change the last decimals. Expect close, not identical.</a:t>
            </a:r>
          </a:p>
        </p:txBody>
      </p:sp>
      <p:cxnSp>
        <p:nvCxnSpPr>
          <p:cNvPr id="9" name="Connector 8"/>
          <p:cNvCxnSpPr/>
          <p:nvPr/>
        </p:nvCxnSpPr>
        <p:spPr>
          <a:xfrm>
            <a:off x="457200" y="260604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69748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11" name="TextBox 10"/>
          <p:cNvSpPr txBox="1"/>
          <p:nvPr/>
        </p:nvSpPr>
        <p:spPr>
          <a:xfrm>
            <a:off x="914400" y="274320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Why are mean and spread saved next to the weights?</a:t>
            </a:r>
          </a:p>
        </p:txBody>
      </p:sp>
      <p:sp>
        <p:nvSpPr>
          <p:cNvPr id="12" name="TextBox 11"/>
          <p:cNvSpPr txBox="1"/>
          <p:nvPr/>
        </p:nvSpPr>
        <p:spPr>
          <a:xfrm>
            <a:off x="4754880" y="2743200"/>
            <a:ext cx="6949440" cy="1051560"/>
          </a:xfrm>
          <a:prstGeom prst="rect">
            <a:avLst/>
          </a:prstGeom>
          <a:noFill/>
        </p:spPr>
        <p:txBody>
          <a:bodyPr wrap="square" lIns="0" tIns="0" rIns="0" bIns="0" anchor="t">
            <a:noAutofit/>
          </a:bodyPr>
          <a:lstStyle/>
          <a:p>
            <a:pPr algn="l"/>
            <a:r>
              <a:rPr sz="1300" b="0" i="0">
                <a:solidFill>
                  <a:srgbClr val="1A2733"/>
                </a:solidFill>
                <a:latin typeface="Open Sans"/>
              </a:rPr>
              <a:t>The network has only seen scaled inputs. Without the training-period mean and spread, a service would feed it numbers on the wrong scale. Ex. 3 stores them in the model card.</a:t>
            </a:r>
          </a:p>
        </p:txBody>
      </p:sp>
      <p:cxnSp>
        <p:nvCxnSpPr>
          <p:cNvPr id="13" name="Connector 12"/>
          <p:cNvCxnSpPr/>
          <p:nvPr/>
        </p:nvCxnSpPr>
        <p:spPr>
          <a:xfrm>
            <a:off x="457200" y="384048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393192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15" name="TextBox 14"/>
          <p:cNvSpPr txBox="1"/>
          <p:nvPr/>
        </p:nvSpPr>
        <p:spPr>
          <a:xfrm>
            <a:off x="914400" y="3977640"/>
            <a:ext cx="3566160" cy="1005840"/>
          </a:xfrm>
          <a:prstGeom prst="rect">
            <a:avLst/>
          </a:prstGeom>
          <a:noFill/>
        </p:spPr>
        <p:txBody>
          <a:bodyPr wrap="square" lIns="0" tIns="0" rIns="0" bIns="0" anchor="t">
            <a:noAutofit/>
          </a:bodyPr>
          <a:lstStyle/>
          <a:p>
            <a:pPr algn="l"/>
            <a:r>
              <a:rPr sz="1500" b="1" i="0">
                <a:solidFill>
                  <a:srgbClr val="0C3D6E"/>
                </a:solidFill>
                <a:latin typeface="Open Sans"/>
              </a:rPr>
              <a:t>No if/else anywhere: how do I debug a wrong prediction?</a:t>
            </a:r>
          </a:p>
        </p:txBody>
      </p:sp>
      <p:sp>
        <p:nvSpPr>
          <p:cNvPr id="16" name="TextBox 15"/>
          <p:cNvSpPr txBox="1"/>
          <p:nvPr/>
        </p:nvSpPr>
        <p:spPr>
          <a:xfrm>
            <a:off x="4754880" y="3977640"/>
            <a:ext cx="6949440" cy="1051560"/>
          </a:xfrm>
          <a:prstGeom prst="rect">
            <a:avLst/>
          </a:prstGeom>
          <a:noFill/>
        </p:spPr>
        <p:txBody>
          <a:bodyPr wrap="square" lIns="0" tIns="0" rIns="0" bIns="0" anchor="t">
            <a:noAutofit/>
          </a:bodyPr>
          <a:lstStyle/>
          <a:p>
            <a:pPr algn="l"/>
            <a:r>
              <a:rPr sz="1300" b="0" i="0">
                <a:solidFill>
                  <a:srgbClr val="1A2733"/>
                </a:solidFill>
                <a:latin typeface="Open Sans"/>
              </a:rPr>
              <a:t>Inputs first: units, order, missing values (Ex. 3 shows a units mistake the service accepts). Then the model: activations, what-if changes, input importance (Ex. 1 Part 2, 2S-2).</a:t>
            </a:r>
          </a:p>
        </p:txBody>
      </p:sp>
      <p:cxnSp>
        <p:nvCxnSpPr>
          <p:cNvPr id="17" name="Connector 16"/>
          <p:cNvCxnSpPr/>
          <p:nvPr/>
        </p:nvCxnSpPr>
        <p:spPr>
          <a:xfrm>
            <a:off x="457200" y="507492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5166360"/>
            <a:ext cx="457200" cy="457200"/>
          </a:xfrm>
          <a:prstGeom prst="rect">
            <a:avLst/>
          </a:prstGeom>
          <a:noFill/>
        </p:spPr>
        <p:txBody>
          <a:bodyPr wrap="square" lIns="0" tIns="0" rIns="0" bIns="0" anchor="t">
            <a:noAutofit/>
          </a:bodyPr>
          <a:lstStyle/>
          <a:p>
            <a:pPr algn="l"/>
            <a:r>
              <a:rPr sz="2200" b="1" i="0">
                <a:solidFill>
                  <a:srgbClr val="3399CC"/>
                </a:solidFill>
                <a:latin typeface="Open Sans"/>
              </a:rPr>
              <a:t>Q</a:t>
            </a:r>
          </a:p>
        </p:txBody>
      </p:sp>
      <p:sp>
        <p:nvSpPr>
          <p:cNvPr id="19" name="TextBox 18"/>
          <p:cNvSpPr txBox="1"/>
          <p:nvPr/>
        </p:nvSpPr>
        <p:spPr>
          <a:xfrm>
            <a:off x="914400" y="5212080"/>
            <a:ext cx="3566160" cy="1005840"/>
          </a:xfrm>
          <a:prstGeom prst="rect">
            <a:avLst/>
          </a:prstGeom>
          <a:noFill/>
        </p:spPr>
        <p:txBody>
          <a:bodyPr wrap="square" lIns="0" tIns="0" rIns="0" bIns="0" anchor="t">
            <a:noAutofit/>
          </a:bodyPr>
          <a:lstStyle/>
          <a:p>
            <a:pPr algn="l"/>
            <a:r>
              <a:rPr sz="1500" b="1" i="0">
                <a:solidFill>
                  <a:srgbClr val="0C3D6E"/>
                </a:solidFill>
                <a:latin typeface="Open Sans"/>
              </a:rPr>
              <a:t>Would gradient boosting do better here?</a:t>
            </a:r>
          </a:p>
        </p:txBody>
      </p:sp>
      <p:sp>
        <p:nvSpPr>
          <p:cNvPr id="20" name="TextBox 19"/>
          <p:cNvSpPr txBox="1"/>
          <p:nvPr/>
        </p:nvSpPr>
        <p:spPr>
          <a:xfrm>
            <a:off x="4754880" y="5212080"/>
            <a:ext cx="6949440" cy="1051560"/>
          </a:xfrm>
          <a:prstGeom prst="rect">
            <a:avLst/>
          </a:prstGeom>
          <a:noFill/>
        </p:spPr>
        <p:txBody>
          <a:bodyPr wrap="square" lIns="0" tIns="0" rIns="0" bIns="0" anchor="t">
            <a:noAutofit/>
          </a:bodyPr>
          <a:lstStyle/>
          <a:p>
            <a:pPr algn="l"/>
            <a:r>
              <a:rPr sz="1300" b="0" i="0">
                <a:solidFill>
                  <a:srgbClr val="1A2733"/>
                </a:solidFill>
                <a:latin typeface="Open Sans"/>
              </a:rPr>
              <a:t>Probably as well, maybe better. On small tables of numbers, boosted trees (XGBoost, LightGBM) often match or beat neural networks with less tuning. We use a network because the course is about how they learn; the workflow is the same.</a:t>
            </a:r>
          </a:p>
        </p:txBody>
      </p:sp>
      <p:sp>
        <p:nvSpPr>
          <p:cNvPr id="21" name="TextBox 20"/>
          <p:cNvSpPr txBox="1"/>
          <p:nvPr/>
        </p:nvSpPr>
        <p:spPr>
          <a:xfrm>
            <a:off x="4754880" y="6053328"/>
            <a:ext cx="6949440" cy="411480"/>
          </a:xfrm>
          <a:prstGeom prst="rect">
            <a:avLst/>
          </a:prstGeom>
          <a:noFill/>
        </p:spPr>
        <p:txBody>
          <a:bodyPr wrap="square" lIns="0" tIns="0" rIns="0" bIns="0" anchor="t">
            <a:noAutofit/>
          </a:bodyPr>
          <a:lstStyle/>
          <a:p>
            <a:pPr algn="l"/>
            <a:r>
              <a:rPr sz="1000" b="0" i="1">
                <a:solidFill>
                  <a:srgbClr val="6B7B8D"/>
                </a:solidFill>
                <a:latin typeface="Open Sans"/>
              </a:rPr>
              <a:t>Grinsztajn, Oyallon &amp; Varoquaux (2022), “Why do tree-based models still outperform deep learning on tabular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Loss functions: pick by the kind of answer</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The loss is what training minimises; choose it from the output the network must produce</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Loss and reported metric can differ: Ex. 2 trains on cross-entropy but is judged on recall and PR-AUC.</a:t>
            </a:r>
          </a:p>
        </p:txBody>
      </p:sp>
      <p:sp>
        <p:nvSpPr>
          <p:cNvPr id="6" name="TextBox 5"/>
          <p:cNvSpPr txBox="1"/>
          <p:nvPr/>
        </p:nvSpPr>
        <p:spPr>
          <a:xfrm>
            <a:off x="548640" y="1463040"/>
            <a:ext cx="2286000" cy="274320"/>
          </a:xfrm>
          <a:prstGeom prst="rect">
            <a:avLst/>
          </a:prstGeom>
          <a:noFill/>
        </p:spPr>
        <p:txBody>
          <a:bodyPr wrap="square" lIns="0" tIns="0" rIns="0" bIns="0" anchor="t">
            <a:noAutofit/>
          </a:bodyPr>
          <a:lstStyle/>
          <a:p>
            <a:pPr algn="l"/>
            <a:r>
              <a:rPr sz="1100" b="1" i="0">
                <a:solidFill>
                  <a:srgbClr val="6B7B8D"/>
                </a:solidFill>
                <a:latin typeface="Open Sans"/>
              </a:rPr>
              <a:t>THE ANSWER IS…</a:t>
            </a:r>
          </a:p>
        </p:txBody>
      </p:sp>
      <p:sp>
        <p:nvSpPr>
          <p:cNvPr id="7" name="TextBox 6"/>
          <p:cNvSpPr txBox="1"/>
          <p:nvPr/>
        </p:nvSpPr>
        <p:spPr>
          <a:xfrm>
            <a:off x="2880360" y="1463040"/>
            <a:ext cx="1874519" cy="274320"/>
          </a:xfrm>
          <a:prstGeom prst="rect">
            <a:avLst/>
          </a:prstGeom>
          <a:noFill/>
        </p:spPr>
        <p:txBody>
          <a:bodyPr wrap="square" lIns="0" tIns="0" rIns="0" bIns="0" anchor="t">
            <a:noAutofit/>
          </a:bodyPr>
          <a:lstStyle/>
          <a:p>
            <a:pPr algn="l"/>
            <a:r>
              <a:rPr sz="1100" b="1" i="0">
                <a:solidFill>
                  <a:srgbClr val="6B7B8D"/>
                </a:solidFill>
                <a:latin typeface="Open Sans"/>
              </a:rPr>
              <a:t>LOSS</a:t>
            </a:r>
          </a:p>
        </p:txBody>
      </p:sp>
      <p:sp>
        <p:nvSpPr>
          <p:cNvPr id="8" name="TextBox 7"/>
          <p:cNvSpPr txBox="1"/>
          <p:nvPr/>
        </p:nvSpPr>
        <p:spPr>
          <a:xfrm>
            <a:off x="4800600" y="1463040"/>
            <a:ext cx="2926080" cy="274320"/>
          </a:xfrm>
          <a:prstGeom prst="rect">
            <a:avLst/>
          </a:prstGeom>
          <a:noFill/>
        </p:spPr>
        <p:txBody>
          <a:bodyPr wrap="square" lIns="0" tIns="0" rIns="0" bIns="0" anchor="t">
            <a:noAutofit/>
          </a:bodyPr>
          <a:lstStyle/>
          <a:p>
            <a:pPr algn="l"/>
            <a:r>
              <a:rPr sz="1100" b="1" i="0">
                <a:solidFill>
                  <a:srgbClr val="6B7B8D"/>
                </a:solidFill>
                <a:latin typeface="Open Sans"/>
              </a:rPr>
              <a:t>IDEA</a:t>
            </a:r>
          </a:p>
        </p:txBody>
      </p:sp>
      <p:sp>
        <p:nvSpPr>
          <p:cNvPr id="9" name="TextBox 8"/>
          <p:cNvSpPr txBox="1"/>
          <p:nvPr/>
        </p:nvSpPr>
        <p:spPr>
          <a:xfrm>
            <a:off x="7772400" y="1463040"/>
            <a:ext cx="2651760" cy="274320"/>
          </a:xfrm>
          <a:prstGeom prst="rect">
            <a:avLst/>
          </a:prstGeom>
          <a:noFill/>
        </p:spPr>
        <p:txBody>
          <a:bodyPr wrap="square" lIns="0" tIns="0" rIns="0" bIns="0" anchor="t">
            <a:noAutofit/>
          </a:bodyPr>
          <a:lstStyle/>
          <a:p>
            <a:pPr algn="l"/>
            <a:r>
              <a:rPr sz="1100" b="1" i="0">
                <a:solidFill>
                  <a:srgbClr val="6B7B8D"/>
                </a:solidFill>
                <a:latin typeface="Open Sans"/>
              </a:rPr>
              <a:t>PYTORCH</a:t>
            </a:r>
          </a:p>
        </p:txBody>
      </p:sp>
      <p:sp>
        <p:nvSpPr>
          <p:cNvPr id="10" name="TextBox 9"/>
          <p:cNvSpPr txBox="1"/>
          <p:nvPr/>
        </p:nvSpPr>
        <p:spPr>
          <a:xfrm>
            <a:off x="10469880" y="1463040"/>
            <a:ext cx="1371600" cy="274320"/>
          </a:xfrm>
          <a:prstGeom prst="rect">
            <a:avLst/>
          </a:prstGeom>
          <a:noFill/>
        </p:spPr>
        <p:txBody>
          <a:bodyPr wrap="square" lIns="0" tIns="0" rIns="0" bIns="0" anchor="t">
            <a:noAutofit/>
          </a:bodyPr>
          <a:lstStyle/>
          <a:p>
            <a:pPr algn="l"/>
            <a:r>
              <a:rPr sz="1100" b="1" i="0">
                <a:solidFill>
                  <a:srgbClr val="6B7B8D"/>
                </a:solidFill>
                <a:latin typeface="Open Sans"/>
              </a:rPr>
              <a:t>IN THE LAB</a:t>
            </a:r>
          </a:p>
        </p:txBody>
      </p:sp>
      <p:sp>
        <p:nvSpPr>
          <p:cNvPr id="11" name="Rectangle 10"/>
          <p:cNvSpPr/>
          <p:nvPr/>
        </p:nvSpPr>
        <p:spPr>
          <a:xfrm>
            <a:off x="457200" y="1783080"/>
            <a:ext cx="11274552" cy="658368"/>
          </a:xfrm>
          <a:prstGeom prst="rect">
            <a:avLst/>
          </a:prstGeom>
          <a:solidFill>
            <a:srgbClr val="F3F5F8"/>
          </a:solidFill>
          <a:ln>
            <a:noFill/>
          </a:ln>
          <a:effectLst/>
        </p:spPr>
        <p:txBody>
          <a:bodyPr rtlCol="0" anchor="ctr"/>
          <a:lstStyle/>
          <a:p>
            <a:pPr algn="ctr"/>
            <a:endParaRPr/>
          </a:p>
        </p:txBody>
      </p:sp>
      <p:sp>
        <p:nvSpPr>
          <p:cNvPr id="12" name="TextBox 11"/>
          <p:cNvSpPr txBox="1"/>
          <p:nvPr/>
        </p:nvSpPr>
        <p:spPr>
          <a:xfrm>
            <a:off x="548640" y="1783080"/>
            <a:ext cx="2194560" cy="658368"/>
          </a:xfrm>
          <a:prstGeom prst="rect">
            <a:avLst/>
          </a:prstGeom>
          <a:noFill/>
        </p:spPr>
        <p:txBody>
          <a:bodyPr wrap="square" lIns="0" tIns="0" rIns="0" bIns="0" anchor="ctr">
            <a:noAutofit/>
          </a:bodyPr>
          <a:lstStyle/>
          <a:p>
            <a:pPr algn="l"/>
            <a:r>
              <a:rPr sz="1300" b="1" i="0">
                <a:solidFill>
                  <a:srgbClr val="0C3D6E"/>
                </a:solidFill>
                <a:latin typeface="Open Sans"/>
              </a:rPr>
              <a:t>a number</a:t>
            </a:r>
          </a:p>
        </p:txBody>
      </p:sp>
      <p:sp>
        <p:nvSpPr>
          <p:cNvPr id="13" name="TextBox 12"/>
          <p:cNvSpPr txBox="1"/>
          <p:nvPr/>
        </p:nvSpPr>
        <p:spPr>
          <a:xfrm>
            <a:off x="2880360" y="1783080"/>
            <a:ext cx="1783079" cy="658368"/>
          </a:xfrm>
          <a:prstGeom prst="rect">
            <a:avLst/>
          </a:prstGeom>
          <a:noFill/>
        </p:spPr>
        <p:txBody>
          <a:bodyPr wrap="square" lIns="0" tIns="0" rIns="0" bIns="0" anchor="ctr">
            <a:noAutofit/>
          </a:bodyPr>
          <a:lstStyle/>
          <a:p>
            <a:pPr algn="l"/>
            <a:r>
              <a:rPr sz="1300" b="0" i="0">
                <a:solidFill>
                  <a:srgbClr val="1A2733"/>
                </a:solidFill>
                <a:latin typeface="Open Sans"/>
              </a:rPr>
              <a:t>Mean squared error</a:t>
            </a:r>
          </a:p>
        </p:txBody>
      </p:sp>
      <p:sp>
        <p:nvSpPr>
          <p:cNvPr id="14" name="TextBox 13"/>
          <p:cNvSpPr txBox="1"/>
          <p:nvPr/>
        </p:nvSpPr>
        <p:spPr>
          <a:xfrm>
            <a:off x="4800600" y="1783080"/>
            <a:ext cx="2834640" cy="658368"/>
          </a:xfrm>
          <a:prstGeom prst="rect">
            <a:avLst/>
          </a:prstGeom>
          <a:noFill/>
        </p:spPr>
        <p:txBody>
          <a:bodyPr wrap="square" lIns="0" tIns="0" rIns="0" bIns="0" anchor="ctr">
            <a:noAutofit/>
          </a:bodyPr>
          <a:lstStyle/>
          <a:p>
            <a:pPr algn="l"/>
            <a:r>
              <a:rPr sz="1300" b="0" i="0">
                <a:solidFill>
                  <a:srgbClr val="1A2733"/>
                </a:solidFill>
                <a:latin typeface="Open Sans"/>
              </a:rPr>
              <a:t>Large errors weigh much more</a:t>
            </a:r>
          </a:p>
        </p:txBody>
      </p:sp>
      <p:sp>
        <p:nvSpPr>
          <p:cNvPr id="15" name="TextBox 14"/>
          <p:cNvSpPr txBox="1"/>
          <p:nvPr/>
        </p:nvSpPr>
        <p:spPr>
          <a:xfrm>
            <a:off x="7772400" y="1783080"/>
            <a:ext cx="2560320" cy="658368"/>
          </a:xfrm>
          <a:prstGeom prst="rect">
            <a:avLst/>
          </a:prstGeom>
          <a:noFill/>
        </p:spPr>
        <p:txBody>
          <a:bodyPr wrap="square" lIns="0" tIns="0" rIns="0" bIns="0" anchor="ctr">
            <a:noAutofit/>
          </a:bodyPr>
          <a:lstStyle/>
          <a:p>
            <a:pPr algn="l"/>
            <a:r>
              <a:rPr sz="1200" b="0" i="0">
                <a:solidFill>
                  <a:srgbClr val="0C3D6E"/>
                </a:solidFill>
                <a:latin typeface="Courier New"/>
              </a:rPr>
              <a:t>nn.MSELoss()</a:t>
            </a:r>
          </a:p>
        </p:txBody>
      </p:sp>
      <p:sp>
        <p:nvSpPr>
          <p:cNvPr id="16" name="TextBox 15"/>
          <p:cNvSpPr txBox="1"/>
          <p:nvPr/>
        </p:nvSpPr>
        <p:spPr>
          <a:xfrm>
            <a:off x="10469880" y="1783080"/>
            <a:ext cx="1280160" cy="658368"/>
          </a:xfrm>
          <a:prstGeom prst="rect">
            <a:avLst/>
          </a:prstGeom>
          <a:noFill/>
        </p:spPr>
        <p:txBody>
          <a:bodyPr wrap="square" lIns="0" tIns="0" rIns="0" bIns="0" anchor="ctr">
            <a:noAutofit/>
          </a:bodyPr>
          <a:lstStyle/>
          <a:p>
            <a:pPr algn="l"/>
            <a:r>
              <a:rPr sz="1300" b="0" i="0">
                <a:solidFill>
                  <a:srgbClr val="1A2733"/>
                </a:solidFill>
                <a:latin typeface="Open Sans"/>
              </a:rPr>
              <a:t>Ex. 1</a:t>
            </a:r>
          </a:p>
        </p:txBody>
      </p:sp>
      <p:sp>
        <p:nvSpPr>
          <p:cNvPr id="17" name="Rectangle 16"/>
          <p:cNvSpPr/>
          <p:nvPr/>
        </p:nvSpPr>
        <p:spPr>
          <a:xfrm>
            <a:off x="457200" y="2441448"/>
            <a:ext cx="11274552" cy="658368"/>
          </a:xfrm>
          <a:prstGeom prst="rect">
            <a:avLst/>
          </a:prstGeom>
          <a:solidFill>
            <a:srgbClr val="FFFFFF"/>
          </a:solidFill>
          <a:ln>
            <a:noFill/>
          </a:ln>
          <a:effectLst/>
        </p:spPr>
        <p:txBody>
          <a:bodyPr rtlCol="0" anchor="ctr"/>
          <a:lstStyle/>
          <a:p>
            <a:pPr algn="ctr"/>
            <a:endParaRPr/>
          </a:p>
        </p:txBody>
      </p:sp>
      <p:sp>
        <p:nvSpPr>
          <p:cNvPr id="18" name="TextBox 17"/>
          <p:cNvSpPr txBox="1"/>
          <p:nvPr/>
        </p:nvSpPr>
        <p:spPr>
          <a:xfrm>
            <a:off x="548640" y="2441448"/>
            <a:ext cx="2194560" cy="658368"/>
          </a:xfrm>
          <a:prstGeom prst="rect">
            <a:avLst/>
          </a:prstGeom>
          <a:noFill/>
        </p:spPr>
        <p:txBody>
          <a:bodyPr wrap="square" lIns="0" tIns="0" rIns="0" bIns="0" anchor="ctr">
            <a:noAutofit/>
          </a:bodyPr>
          <a:lstStyle/>
          <a:p>
            <a:pPr algn="l"/>
            <a:r>
              <a:rPr sz="1300" b="1" i="0">
                <a:solidFill>
                  <a:srgbClr val="0C3D6E"/>
                </a:solidFill>
                <a:latin typeface="Open Sans"/>
              </a:rPr>
              <a:t>a number, with outliers</a:t>
            </a:r>
          </a:p>
        </p:txBody>
      </p:sp>
      <p:sp>
        <p:nvSpPr>
          <p:cNvPr id="19" name="TextBox 18"/>
          <p:cNvSpPr txBox="1"/>
          <p:nvPr/>
        </p:nvSpPr>
        <p:spPr>
          <a:xfrm>
            <a:off x="2880360" y="2441448"/>
            <a:ext cx="1783079" cy="658368"/>
          </a:xfrm>
          <a:prstGeom prst="rect">
            <a:avLst/>
          </a:prstGeom>
          <a:noFill/>
        </p:spPr>
        <p:txBody>
          <a:bodyPr wrap="square" lIns="0" tIns="0" rIns="0" bIns="0" anchor="ctr">
            <a:noAutofit/>
          </a:bodyPr>
          <a:lstStyle/>
          <a:p>
            <a:pPr algn="l"/>
            <a:r>
              <a:rPr sz="1300" b="0" i="0">
                <a:solidFill>
                  <a:srgbClr val="1A2733"/>
                </a:solidFill>
                <a:latin typeface="Open Sans"/>
              </a:rPr>
              <a:t>Mean absolute error</a:t>
            </a:r>
          </a:p>
        </p:txBody>
      </p:sp>
      <p:sp>
        <p:nvSpPr>
          <p:cNvPr id="20" name="TextBox 19"/>
          <p:cNvSpPr txBox="1"/>
          <p:nvPr/>
        </p:nvSpPr>
        <p:spPr>
          <a:xfrm>
            <a:off x="4800600" y="2441448"/>
            <a:ext cx="2834640" cy="658368"/>
          </a:xfrm>
          <a:prstGeom prst="rect">
            <a:avLst/>
          </a:prstGeom>
          <a:noFill/>
        </p:spPr>
        <p:txBody>
          <a:bodyPr wrap="square" lIns="0" tIns="0" rIns="0" bIns="0" anchor="ctr">
            <a:noAutofit/>
          </a:bodyPr>
          <a:lstStyle/>
          <a:p>
            <a:pPr algn="l"/>
            <a:r>
              <a:rPr sz="1300" b="0" i="0">
                <a:solidFill>
                  <a:srgbClr val="1A2733"/>
                </a:solidFill>
                <a:latin typeface="Open Sans"/>
              </a:rPr>
              <a:t>Every unit of error counts the same</a:t>
            </a:r>
          </a:p>
        </p:txBody>
      </p:sp>
      <p:sp>
        <p:nvSpPr>
          <p:cNvPr id="21" name="TextBox 20"/>
          <p:cNvSpPr txBox="1"/>
          <p:nvPr/>
        </p:nvSpPr>
        <p:spPr>
          <a:xfrm>
            <a:off x="7772400" y="2441448"/>
            <a:ext cx="2560320" cy="658368"/>
          </a:xfrm>
          <a:prstGeom prst="rect">
            <a:avLst/>
          </a:prstGeom>
          <a:noFill/>
        </p:spPr>
        <p:txBody>
          <a:bodyPr wrap="square" lIns="0" tIns="0" rIns="0" bIns="0" anchor="ctr">
            <a:noAutofit/>
          </a:bodyPr>
          <a:lstStyle/>
          <a:p>
            <a:pPr algn="l"/>
            <a:r>
              <a:rPr sz="1200" b="0" i="0">
                <a:solidFill>
                  <a:srgbClr val="0C3D6E"/>
                </a:solidFill>
                <a:latin typeface="Courier New"/>
              </a:rPr>
              <a:t>nn.L1Loss()</a:t>
            </a:r>
          </a:p>
        </p:txBody>
      </p:sp>
      <p:sp>
        <p:nvSpPr>
          <p:cNvPr id="22" name="TextBox 21"/>
          <p:cNvSpPr txBox="1"/>
          <p:nvPr/>
        </p:nvSpPr>
        <p:spPr>
          <a:xfrm>
            <a:off x="10469880" y="2441448"/>
            <a:ext cx="1280160" cy="658368"/>
          </a:xfrm>
          <a:prstGeom prst="rect">
            <a:avLst/>
          </a:prstGeom>
          <a:noFill/>
        </p:spPr>
        <p:txBody>
          <a:bodyPr wrap="square" lIns="0" tIns="0" rIns="0" bIns="0" anchor="ctr">
            <a:noAutofit/>
          </a:bodyPr>
          <a:lstStyle/>
          <a:p>
            <a:pPr algn="l"/>
            <a:r>
              <a:rPr sz="1300" b="0" i="0">
                <a:solidFill>
                  <a:srgbClr val="1A2733"/>
                </a:solidFill>
                <a:latin typeface="Open Sans"/>
              </a:rPr>
              <a:t>Ex. 1, §10 idea</a:t>
            </a:r>
          </a:p>
        </p:txBody>
      </p:sp>
      <p:sp>
        <p:nvSpPr>
          <p:cNvPr id="23" name="Rectangle 22"/>
          <p:cNvSpPr/>
          <p:nvPr/>
        </p:nvSpPr>
        <p:spPr>
          <a:xfrm>
            <a:off x="457200" y="3099815"/>
            <a:ext cx="11274552" cy="658368"/>
          </a:xfrm>
          <a:prstGeom prst="rect">
            <a:avLst/>
          </a:prstGeom>
          <a:solidFill>
            <a:srgbClr val="F3F5F8"/>
          </a:solidFill>
          <a:ln>
            <a:noFill/>
          </a:ln>
          <a:effectLst/>
        </p:spPr>
        <p:txBody>
          <a:bodyPr rtlCol="0" anchor="ctr"/>
          <a:lstStyle/>
          <a:p>
            <a:pPr algn="ctr"/>
            <a:endParaRPr/>
          </a:p>
        </p:txBody>
      </p:sp>
      <p:sp>
        <p:nvSpPr>
          <p:cNvPr id="24" name="TextBox 23"/>
          <p:cNvSpPr txBox="1"/>
          <p:nvPr/>
        </p:nvSpPr>
        <p:spPr>
          <a:xfrm>
            <a:off x="548640" y="3099815"/>
            <a:ext cx="2194560" cy="658368"/>
          </a:xfrm>
          <a:prstGeom prst="rect">
            <a:avLst/>
          </a:prstGeom>
          <a:noFill/>
        </p:spPr>
        <p:txBody>
          <a:bodyPr wrap="square" lIns="0" tIns="0" rIns="0" bIns="0" anchor="ctr">
            <a:noAutofit/>
          </a:bodyPr>
          <a:lstStyle/>
          <a:p>
            <a:pPr algn="l"/>
            <a:r>
              <a:rPr sz="1300" b="1" i="0">
                <a:solidFill>
                  <a:srgbClr val="0C3D6E"/>
                </a:solidFill>
                <a:latin typeface="Open Sans"/>
              </a:rPr>
              <a:t>a number, a compromise</a:t>
            </a:r>
          </a:p>
        </p:txBody>
      </p:sp>
      <p:sp>
        <p:nvSpPr>
          <p:cNvPr id="25" name="TextBox 24"/>
          <p:cNvSpPr txBox="1"/>
          <p:nvPr/>
        </p:nvSpPr>
        <p:spPr>
          <a:xfrm>
            <a:off x="2880360" y="3099815"/>
            <a:ext cx="1783079" cy="658368"/>
          </a:xfrm>
          <a:prstGeom prst="rect">
            <a:avLst/>
          </a:prstGeom>
          <a:noFill/>
        </p:spPr>
        <p:txBody>
          <a:bodyPr wrap="square" lIns="0" tIns="0" rIns="0" bIns="0" anchor="ctr">
            <a:noAutofit/>
          </a:bodyPr>
          <a:lstStyle/>
          <a:p>
            <a:pPr algn="l"/>
            <a:r>
              <a:rPr sz="1300" b="0" i="0">
                <a:solidFill>
                  <a:srgbClr val="1A2733"/>
                </a:solidFill>
                <a:latin typeface="Open Sans"/>
              </a:rPr>
              <a:t>Huber</a:t>
            </a:r>
          </a:p>
        </p:txBody>
      </p:sp>
      <p:sp>
        <p:nvSpPr>
          <p:cNvPr id="26" name="TextBox 25"/>
          <p:cNvSpPr txBox="1"/>
          <p:nvPr/>
        </p:nvSpPr>
        <p:spPr>
          <a:xfrm>
            <a:off x="4800600" y="3099815"/>
            <a:ext cx="2834640" cy="658368"/>
          </a:xfrm>
          <a:prstGeom prst="rect">
            <a:avLst/>
          </a:prstGeom>
          <a:noFill/>
        </p:spPr>
        <p:txBody>
          <a:bodyPr wrap="square" lIns="0" tIns="0" rIns="0" bIns="0" anchor="ctr">
            <a:noAutofit/>
          </a:bodyPr>
          <a:lstStyle/>
          <a:p>
            <a:pPr algn="l"/>
            <a:r>
              <a:rPr sz="1300" b="0" i="0">
                <a:solidFill>
                  <a:srgbClr val="1A2733"/>
                </a:solidFill>
                <a:latin typeface="Open Sans"/>
              </a:rPr>
              <a:t>Squared when small, linear when large</a:t>
            </a:r>
          </a:p>
        </p:txBody>
      </p:sp>
      <p:sp>
        <p:nvSpPr>
          <p:cNvPr id="27" name="TextBox 26"/>
          <p:cNvSpPr txBox="1"/>
          <p:nvPr/>
        </p:nvSpPr>
        <p:spPr>
          <a:xfrm>
            <a:off x="7772400" y="3099815"/>
            <a:ext cx="2560320" cy="658368"/>
          </a:xfrm>
          <a:prstGeom prst="rect">
            <a:avLst/>
          </a:prstGeom>
          <a:noFill/>
        </p:spPr>
        <p:txBody>
          <a:bodyPr wrap="square" lIns="0" tIns="0" rIns="0" bIns="0" anchor="ctr">
            <a:noAutofit/>
          </a:bodyPr>
          <a:lstStyle/>
          <a:p>
            <a:pPr algn="l"/>
            <a:r>
              <a:rPr sz="1200" b="0" i="0">
                <a:solidFill>
                  <a:srgbClr val="0C3D6E"/>
                </a:solidFill>
                <a:latin typeface="Courier New"/>
              </a:rPr>
              <a:t>nn.HuberLoss()</a:t>
            </a:r>
          </a:p>
        </p:txBody>
      </p:sp>
      <p:sp>
        <p:nvSpPr>
          <p:cNvPr id="28" name="TextBox 27"/>
          <p:cNvSpPr txBox="1"/>
          <p:nvPr/>
        </p:nvSpPr>
        <p:spPr>
          <a:xfrm>
            <a:off x="10469880" y="3099815"/>
            <a:ext cx="1280160" cy="658368"/>
          </a:xfrm>
          <a:prstGeom prst="rect">
            <a:avLst/>
          </a:prstGeom>
          <a:noFill/>
        </p:spPr>
        <p:txBody>
          <a:bodyPr wrap="square" lIns="0" tIns="0" rIns="0" bIns="0" anchor="ctr">
            <a:noAutofit/>
          </a:bodyPr>
          <a:lstStyle/>
          <a:p>
            <a:pPr algn="l"/>
            <a:r>
              <a:rPr sz="1300" b="0" i="0">
                <a:solidFill>
                  <a:srgbClr val="1A2733"/>
                </a:solidFill>
                <a:latin typeface="Open Sans"/>
              </a:rPr>
              <a:t>–</a:t>
            </a:r>
          </a:p>
        </p:txBody>
      </p:sp>
      <p:sp>
        <p:nvSpPr>
          <p:cNvPr id="29" name="Rectangle 28"/>
          <p:cNvSpPr/>
          <p:nvPr/>
        </p:nvSpPr>
        <p:spPr>
          <a:xfrm>
            <a:off x="457200" y="3758183"/>
            <a:ext cx="11274552" cy="658368"/>
          </a:xfrm>
          <a:prstGeom prst="rect">
            <a:avLst/>
          </a:prstGeom>
          <a:solidFill>
            <a:srgbClr val="FFFFFF"/>
          </a:solidFill>
          <a:ln>
            <a:noFill/>
          </a:ln>
          <a:effectLst/>
        </p:spPr>
        <p:txBody>
          <a:bodyPr rtlCol="0" anchor="ctr"/>
          <a:lstStyle/>
          <a:p>
            <a:pPr algn="ctr"/>
            <a:endParaRPr/>
          </a:p>
        </p:txBody>
      </p:sp>
      <p:sp>
        <p:nvSpPr>
          <p:cNvPr id="30" name="TextBox 29"/>
          <p:cNvSpPr txBox="1"/>
          <p:nvPr/>
        </p:nvSpPr>
        <p:spPr>
          <a:xfrm>
            <a:off x="548640" y="3758183"/>
            <a:ext cx="2194560" cy="658368"/>
          </a:xfrm>
          <a:prstGeom prst="rect">
            <a:avLst/>
          </a:prstGeom>
          <a:noFill/>
        </p:spPr>
        <p:txBody>
          <a:bodyPr wrap="square" lIns="0" tIns="0" rIns="0" bIns="0" anchor="ctr">
            <a:noAutofit/>
          </a:bodyPr>
          <a:lstStyle/>
          <a:p>
            <a:pPr algn="l"/>
            <a:r>
              <a:rPr sz="1300" b="1" i="0">
                <a:solidFill>
                  <a:srgbClr val="0C3D6E"/>
                </a:solidFill>
                <a:latin typeface="Open Sans"/>
              </a:rPr>
              <a:t>yes / no</a:t>
            </a:r>
          </a:p>
        </p:txBody>
      </p:sp>
      <p:sp>
        <p:nvSpPr>
          <p:cNvPr id="31" name="TextBox 30"/>
          <p:cNvSpPr txBox="1"/>
          <p:nvPr/>
        </p:nvSpPr>
        <p:spPr>
          <a:xfrm>
            <a:off x="2880360" y="3758183"/>
            <a:ext cx="1783079" cy="658368"/>
          </a:xfrm>
          <a:prstGeom prst="rect">
            <a:avLst/>
          </a:prstGeom>
          <a:noFill/>
        </p:spPr>
        <p:txBody>
          <a:bodyPr wrap="square" lIns="0" tIns="0" rIns="0" bIns="0" anchor="ctr">
            <a:noAutofit/>
          </a:bodyPr>
          <a:lstStyle/>
          <a:p>
            <a:pPr algn="l"/>
            <a:r>
              <a:rPr sz="1300" b="0" i="0">
                <a:solidFill>
                  <a:srgbClr val="1A2733"/>
                </a:solidFill>
                <a:latin typeface="Open Sans"/>
              </a:rPr>
              <a:t>Binary cross-entropy</a:t>
            </a:r>
          </a:p>
        </p:txBody>
      </p:sp>
      <p:sp>
        <p:nvSpPr>
          <p:cNvPr id="32" name="TextBox 31"/>
          <p:cNvSpPr txBox="1"/>
          <p:nvPr/>
        </p:nvSpPr>
        <p:spPr>
          <a:xfrm>
            <a:off x="4800600" y="3758183"/>
            <a:ext cx="2834640" cy="658368"/>
          </a:xfrm>
          <a:prstGeom prst="rect">
            <a:avLst/>
          </a:prstGeom>
          <a:noFill/>
        </p:spPr>
        <p:txBody>
          <a:bodyPr wrap="square" lIns="0" tIns="0" rIns="0" bIns="0" anchor="ctr">
            <a:noAutofit/>
          </a:bodyPr>
          <a:lstStyle/>
          <a:p>
            <a:pPr algn="l"/>
            <a:r>
              <a:rPr sz="1300" b="0" i="0">
                <a:solidFill>
                  <a:srgbClr val="1A2733"/>
                </a:solidFill>
                <a:latin typeface="Open Sans"/>
              </a:rPr>
              <a:t>Penalises confident wrong answers; pos_weight for rare positives</a:t>
            </a:r>
          </a:p>
        </p:txBody>
      </p:sp>
      <p:sp>
        <p:nvSpPr>
          <p:cNvPr id="33" name="TextBox 32"/>
          <p:cNvSpPr txBox="1"/>
          <p:nvPr/>
        </p:nvSpPr>
        <p:spPr>
          <a:xfrm>
            <a:off x="7772400" y="3758183"/>
            <a:ext cx="2560320" cy="658368"/>
          </a:xfrm>
          <a:prstGeom prst="rect">
            <a:avLst/>
          </a:prstGeom>
          <a:noFill/>
        </p:spPr>
        <p:txBody>
          <a:bodyPr wrap="square" lIns="0" tIns="0" rIns="0" bIns="0" anchor="ctr">
            <a:noAutofit/>
          </a:bodyPr>
          <a:lstStyle/>
          <a:p>
            <a:pPr algn="l"/>
            <a:r>
              <a:rPr sz="1200" b="0" i="0">
                <a:solidFill>
                  <a:srgbClr val="0C3D6E"/>
                </a:solidFill>
                <a:latin typeface="Courier New"/>
              </a:rPr>
              <a:t>nn.BCEWithLogitsLoss(</a:t>
            </a:r>
          </a:p>
          <a:p>
            <a:pPr algn="l"/>
            <a:r>
              <a:rPr sz="1200" b="0" i="0">
                <a:solidFill>
                  <a:srgbClr val="0C3D6E"/>
                </a:solidFill>
                <a:latin typeface="Courier New"/>
              </a:rPr>
              <a:t>  pos_weight=…)</a:t>
            </a:r>
          </a:p>
        </p:txBody>
      </p:sp>
      <p:sp>
        <p:nvSpPr>
          <p:cNvPr id="34" name="TextBox 33"/>
          <p:cNvSpPr txBox="1"/>
          <p:nvPr/>
        </p:nvSpPr>
        <p:spPr>
          <a:xfrm>
            <a:off x="10469880" y="3758183"/>
            <a:ext cx="1280160" cy="658368"/>
          </a:xfrm>
          <a:prstGeom prst="rect">
            <a:avLst/>
          </a:prstGeom>
          <a:noFill/>
        </p:spPr>
        <p:txBody>
          <a:bodyPr wrap="square" lIns="0" tIns="0" rIns="0" bIns="0" anchor="ctr">
            <a:noAutofit/>
          </a:bodyPr>
          <a:lstStyle/>
          <a:p>
            <a:pPr algn="l"/>
            <a:r>
              <a:rPr sz="1300" b="0" i="0">
                <a:solidFill>
                  <a:srgbClr val="1A2733"/>
                </a:solidFill>
                <a:latin typeface="Open Sans"/>
              </a:rPr>
              <a:t>Ex. 2, 2S, 3</a:t>
            </a:r>
          </a:p>
        </p:txBody>
      </p:sp>
      <p:sp>
        <p:nvSpPr>
          <p:cNvPr id="35" name="Rectangle 34"/>
          <p:cNvSpPr/>
          <p:nvPr/>
        </p:nvSpPr>
        <p:spPr>
          <a:xfrm>
            <a:off x="457200" y="4416551"/>
            <a:ext cx="11274552" cy="658368"/>
          </a:xfrm>
          <a:prstGeom prst="rect">
            <a:avLst/>
          </a:prstGeom>
          <a:solidFill>
            <a:srgbClr val="F3F5F8"/>
          </a:solidFill>
          <a:ln>
            <a:noFill/>
          </a:ln>
          <a:effectLst/>
        </p:spPr>
        <p:txBody>
          <a:bodyPr rtlCol="0" anchor="ctr"/>
          <a:lstStyle/>
          <a:p>
            <a:pPr algn="ctr"/>
            <a:endParaRPr/>
          </a:p>
        </p:txBody>
      </p:sp>
      <p:sp>
        <p:nvSpPr>
          <p:cNvPr id="36" name="TextBox 35"/>
          <p:cNvSpPr txBox="1"/>
          <p:nvPr/>
        </p:nvSpPr>
        <p:spPr>
          <a:xfrm>
            <a:off x="548640" y="4416551"/>
            <a:ext cx="2194560" cy="658368"/>
          </a:xfrm>
          <a:prstGeom prst="rect">
            <a:avLst/>
          </a:prstGeom>
          <a:noFill/>
        </p:spPr>
        <p:txBody>
          <a:bodyPr wrap="square" lIns="0" tIns="0" rIns="0" bIns="0" anchor="ctr">
            <a:noAutofit/>
          </a:bodyPr>
          <a:lstStyle/>
          <a:p>
            <a:pPr algn="l"/>
            <a:r>
              <a:rPr sz="1300" b="1" i="0">
                <a:solidFill>
                  <a:srgbClr val="0C3D6E"/>
                </a:solidFill>
                <a:latin typeface="Open Sans"/>
              </a:rPr>
              <a:t>one of N classes</a:t>
            </a:r>
          </a:p>
        </p:txBody>
      </p:sp>
      <p:sp>
        <p:nvSpPr>
          <p:cNvPr id="37" name="TextBox 36"/>
          <p:cNvSpPr txBox="1"/>
          <p:nvPr/>
        </p:nvSpPr>
        <p:spPr>
          <a:xfrm>
            <a:off x="2880360" y="4416551"/>
            <a:ext cx="1783079" cy="658368"/>
          </a:xfrm>
          <a:prstGeom prst="rect">
            <a:avLst/>
          </a:prstGeom>
          <a:noFill/>
        </p:spPr>
        <p:txBody>
          <a:bodyPr wrap="square" lIns="0" tIns="0" rIns="0" bIns="0" anchor="ctr">
            <a:noAutofit/>
          </a:bodyPr>
          <a:lstStyle/>
          <a:p>
            <a:pPr algn="l"/>
            <a:r>
              <a:rPr sz="1300" b="0" i="0">
                <a:solidFill>
                  <a:srgbClr val="1A2733"/>
                </a:solidFill>
                <a:latin typeface="Open Sans"/>
              </a:rPr>
              <a:t>Cross-entropy</a:t>
            </a:r>
          </a:p>
        </p:txBody>
      </p:sp>
      <p:sp>
        <p:nvSpPr>
          <p:cNvPr id="38" name="TextBox 37"/>
          <p:cNvSpPr txBox="1"/>
          <p:nvPr/>
        </p:nvSpPr>
        <p:spPr>
          <a:xfrm>
            <a:off x="4800600" y="4416551"/>
            <a:ext cx="2834640" cy="658368"/>
          </a:xfrm>
          <a:prstGeom prst="rect">
            <a:avLst/>
          </a:prstGeom>
          <a:noFill/>
        </p:spPr>
        <p:txBody>
          <a:bodyPr wrap="square" lIns="0" tIns="0" rIns="0" bIns="0" anchor="ctr">
            <a:noAutofit/>
          </a:bodyPr>
          <a:lstStyle/>
          <a:p>
            <a:pPr algn="l"/>
            <a:r>
              <a:rPr sz="1300" b="0" i="0">
                <a:solidFill>
                  <a:srgbClr val="1A2733"/>
                </a:solidFill>
                <a:latin typeface="Open Sans"/>
              </a:rPr>
              <a:t>Same idea over N classes; weight= for imbalance</a:t>
            </a:r>
          </a:p>
        </p:txBody>
      </p:sp>
      <p:sp>
        <p:nvSpPr>
          <p:cNvPr id="39" name="TextBox 38"/>
          <p:cNvSpPr txBox="1"/>
          <p:nvPr/>
        </p:nvSpPr>
        <p:spPr>
          <a:xfrm>
            <a:off x="7772400" y="4416551"/>
            <a:ext cx="2560320" cy="658368"/>
          </a:xfrm>
          <a:prstGeom prst="rect">
            <a:avLst/>
          </a:prstGeom>
          <a:noFill/>
        </p:spPr>
        <p:txBody>
          <a:bodyPr wrap="square" lIns="0" tIns="0" rIns="0" bIns="0" anchor="ctr">
            <a:noAutofit/>
          </a:bodyPr>
          <a:lstStyle/>
          <a:p>
            <a:pPr algn="l"/>
            <a:r>
              <a:rPr sz="1200" b="0" i="0">
                <a:solidFill>
                  <a:srgbClr val="0C3D6E"/>
                </a:solidFill>
                <a:latin typeface="Courier New"/>
              </a:rPr>
              <a:t>nn.CrossEntropyLoss()</a:t>
            </a:r>
          </a:p>
        </p:txBody>
      </p:sp>
      <p:sp>
        <p:nvSpPr>
          <p:cNvPr id="40" name="TextBox 39"/>
          <p:cNvSpPr txBox="1"/>
          <p:nvPr/>
        </p:nvSpPr>
        <p:spPr>
          <a:xfrm>
            <a:off x="10469880" y="4416551"/>
            <a:ext cx="1280160" cy="658368"/>
          </a:xfrm>
          <a:prstGeom prst="rect">
            <a:avLst/>
          </a:prstGeom>
          <a:noFill/>
        </p:spPr>
        <p:txBody>
          <a:bodyPr wrap="square" lIns="0" tIns="0" rIns="0" bIns="0" anchor="ctr">
            <a:noAutofit/>
          </a:bodyPr>
          <a:lstStyle/>
          <a:p>
            <a:pPr algn="l"/>
            <a:r>
              <a:rPr sz="1300" b="0" i="0">
                <a:solidFill>
                  <a:srgbClr val="1A2733"/>
                </a:solidFill>
                <a:latin typeface="Open Sans"/>
              </a:rPr>
              <a:t>–</a:t>
            </a:r>
          </a:p>
        </p:txBody>
      </p:sp>
      <p:sp>
        <p:nvSpPr>
          <p:cNvPr id="41" name="Rectangle 40"/>
          <p:cNvSpPr/>
          <p:nvPr/>
        </p:nvSpPr>
        <p:spPr>
          <a:xfrm>
            <a:off x="457200" y="5257800"/>
            <a:ext cx="11274552" cy="1051560"/>
          </a:xfrm>
          <a:prstGeom prst="rect">
            <a:avLst/>
          </a:prstGeom>
          <a:solidFill>
            <a:srgbClr val="EAF3FA"/>
          </a:solidFill>
          <a:ln>
            <a:noFill/>
          </a:ln>
          <a:effectLst/>
        </p:spPr>
        <p:txBody>
          <a:bodyPr rtlCol="0" anchor="ctr"/>
          <a:lstStyle/>
          <a:p>
            <a:pPr algn="ctr"/>
            <a:endParaRPr/>
          </a:p>
        </p:txBody>
      </p:sp>
      <p:sp>
        <p:nvSpPr>
          <p:cNvPr id="42" name="TextBox 41"/>
          <p:cNvSpPr txBox="1"/>
          <p:nvPr/>
        </p:nvSpPr>
        <p:spPr>
          <a:xfrm>
            <a:off x="685800" y="5349240"/>
            <a:ext cx="10881360" cy="868680"/>
          </a:xfrm>
          <a:prstGeom prst="rect">
            <a:avLst/>
          </a:prstGeom>
          <a:noFill/>
        </p:spPr>
        <p:txBody>
          <a:bodyPr wrap="square" lIns="0" tIns="0" rIns="0" bIns="0" anchor="ctr">
            <a:noAutofit/>
          </a:bodyPr>
          <a:lstStyle/>
          <a:p>
            <a:pPr algn="l"/>
            <a:r>
              <a:rPr sz="1400" b="1" i="0">
                <a:solidFill>
                  <a:srgbClr val="E8742A"/>
                </a:solidFill>
                <a:latin typeface="Open Sans"/>
              </a:rPr>
              <a:t>Common silent bug  </a:t>
            </a:r>
            <a:r>
              <a:rPr sz="1400" b="0" i="0">
                <a:solidFill>
                  <a:srgbClr val="1A2733"/>
                </a:solidFill>
                <a:latin typeface="Open Sans"/>
              </a:rPr>
              <a:t>Both cross-entropy losses expect raw scores. Putting a sigmoid or softmax in the model before them does not crash: training runs, just worse. Apply sigmoid or softmax only when you need probabilities.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Regularisation: what it is and why we need it</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Making the model fit the training data a little less closely, so it does better on new data</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Judge regularisation on validation data: a worse training error is the expected price.</a:t>
            </a:r>
          </a:p>
        </p:txBody>
      </p:sp>
      <p:sp>
        <p:nvSpPr>
          <p:cNvPr id="6" name="TextBox 5"/>
          <p:cNvSpPr txBox="1"/>
          <p:nvPr/>
        </p:nvSpPr>
        <p:spPr>
          <a:xfrm>
            <a:off x="457200" y="1508760"/>
            <a:ext cx="4937760" cy="365760"/>
          </a:xfrm>
          <a:prstGeom prst="rect">
            <a:avLst/>
          </a:prstGeom>
          <a:noFill/>
        </p:spPr>
        <p:txBody>
          <a:bodyPr wrap="square" lIns="0" tIns="0" rIns="0" bIns="0" anchor="t">
            <a:noAutofit/>
          </a:bodyPr>
          <a:lstStyle/>
          <a:p>
            <a:pPr algn="l"/>
            <a:r>
              <a:rPr sz="1700" b="1" i="0">
                <a:solidFill>
                  <a:srgbClr val="0C3D6E"/>
                </a:solidFill>
                <a:latin typeface="Open Sans"/>
              </a:rPr>
              <a:t>The problem: memorising</a:t>
            </a:r>
          </a:p>
        </p:txBody>
      </p:sp>
      <p:sp>
        <p:nvSpPr>
          <p:cNvPr id="7" name="TextBox 6"/>
          <p:cNvSpPr txBox="1"/>
          <p:nvPr/>
        </p:nvSpPr>
        <p:spPr>
          <a:xfrm>
            <a:off x="457200" y="1920240"/>
            <a:ext cx="4937760" cy="1463040"/>
          </a:xfrm>
          <a:prstGeom prst="rect">
            <a:avLst/>
          </a:prstGeom>
          <a:noFill/>
        </p:spPr>
        <p:txBody>
          <a:bodyPr wrap="square" lIns="0" tIns="0" rIns="0" bIns="0" anchor="t">
            <a:noAutofit/>
          </a:bodyPr>
          <a:lstStyle/>
          <a:p>
            <a:pPr algn="l"/>
            <a:r>
              <a:rPr sz="1400" b="0" i="0">
                <a:solidFill>
                  <a:srgbClr val="1A2733"/>
                </a:solidFill>
                <a:latin typeface="Open Sans"/>
              </a:rPr>
              <a:t>A flexible network can learn the training period by heart, noise included: strikes, odd days, one-off fog events. Training error keeps falling, validation error stops falling or rises.</a:t>
            </a:r>
          </a:p>
        </p:txBody>
      </p:sp>
      <p:sp>
        <p:nvSpPr>
          <p:cNvPr id="8" name="TextBox 7"/>
          <p:cNvSpPr txBox="1"/>
          <p:nvPr/>
        </p:nvSpPr>
        <p:spPr>
          <a:xfrm>
            <a:off x="457200" y="3429000"/>
            <a:ext cx="4937760" cy="365760"/>
          </a:xfrm>
          <a:prstGeom prst="rect">
            <a:avLst/>
          </a:prstGeom>
          <a:noFill/>
        </p:spPr>
        <p:txBody>
          <a:bodyPr wrap="square" lIns="0" tIns="0" rIns="0" bIns="0" anchor="t">
            <a:noAutofit/>
          </a:bodyPr>
          <a:lstStyle/>
          <a:p>
            <a:pPr algn="l"/>
            <a:r>
              <a:rPr sz="1700" b="1" i="0">
                <a:solidFill>
                  <a:srgbClr val="0C3D6E"/>
                </a:solidFill>
                <a:latin typeface="Open Sans"/>
              </a:rPr>
              <a:t>The fix: limit the freedom</a:t>
            </a:r>
          </a:p>
        </p:txBody>
      </p:sp>
      <p:sp>
        <p:nvSpPr>
          <p:cNvPr id="9" name="TextBox 8"/>
          <p:cNvSpPr txBox="1"/>
          <p:nvPr/>
        </p:nvSpPr>
        <p:spPr>
          <a:xfrm>
            <a:off x="457200" y="3840480"/>
            <a:ext cx="4937760" cy="1280160"/>
          </a:xfrm>
          <a:prstGeom prst="rect">
            <a:avLst/>
          </a:prstGeom>
          <a:noFill/>
        </p:spPr>
        <p:txBody>
          <a:bodyPr wrap="square" lIns="0" tIns="0" rIns="0" bIns="0" anchor="t">
            <a:noAutofit/>
          </a:bodyPr>
          <a:lstStyle/>
          <a:p>
            <a:pPr algn="l"/>
            <a:r>
              <a:rPr sz="1400" b="0" i="0">
                <a:solidFill>
                  <a:srgbClr val="1A2733"/>
                </a:solidFill>
                <a:latin typeface="Open Sans"/>
              </a:rPr>
              <a:t>Penalise large weights, switch neurons off at random, stop early, or simply use a smaller model. Each one trades a little training accuracy for better behaviour on data the model has not seen.</a:t>
            </a:r>
          </a:p>
        </p:txBody>
      </p:sp>
      <p:sp>
        <p:nvSpPr>
          <p:cNvPr id="10" name="Rectangle 9"/>
          <p:cNvSpPr/>
          <p:nvPr/>
        </p:nvSpPr>
        <p:spPr>
          <a:xfrm>
            <a:off x="457200" y="5257800"/>
            <a:ext cx="4937760" cy="1051560"/>
          </a:xfrm>
          <a:prstGeom prst="rect">
            <a:avLst/>
          </a:prstGeom>
          <a:solidFill>
            <a:srgbClr val="EAF3FA"/>
          </a:solidFill>
          <a:ln>
            <a:noFill/>
          </a:ln>
          <a:effectLst/>
        </p:spPr>
        <p:txBody>
          <a:bodyPr rtlCol="0" anchor="ctr"/>
          <a:lstStyle/>
          <a:p>
            <a:pPr algn="ctr"/>
            <a:endParaRPr/>
          </a:p>
        </p:txBody>
      </p:sp>
      <p:sp>
        <p:nvSpPr>
          <p:cNvPr id="11" name="TextBox 10"/>
          <p:cNvSpPr txBox="1"/>
          <p:nvPr/>
        </p:nvSpPr>
        <p:spPr>
          <a:xfrm>
            <a:off x="640080" y="5303520"/>
            <a:ext cx="4572000" cy="960120"/>
          </a:xfrm>
          <a:prstGeom prst="rect">
            <a:avLst/>
          </a:prstGeom>
          <a:noFill/>
        </p:spPr>
        <p:txBody>
          <a:bodyPr wrap="square" lIns="0" tIns="0" rIns="0" bIns="0" anchor="ctr">
            <a:noAutofit/>
          </a:bodyPr>
          <a:lstStyle/>
          <a:p>
            <a:pPr algn="l"/>
            <a:r>
              <a:rPr sz="1300" b="1" i="0">
                <a:solidFill>
                  <a:srgbClr val="0C3D6E"/>
                </a:solidFill>
                <a:latin typeface="Open Sans"/>
              </a:rPr>
              <a:t>Ex. 2, 256 neurons:  </a:t>
            </a:r>
            <a:r>
              <a:rPr sz="1300" b="0" i="0">
                <a:solidFill>
                  <a:srgbClr val="1A2733"/>
                </a:solidFill>
                <a:latin typeface="Open Sans"/>
              </a:rPr>
              <a:t>validation PR-AUC 0.657 without dropout, 0.679 with dropout 0.3.</a:t>
            </a:r>
          </a:p>
        </p:txBody>
      </p:sp>
      <p:graphicFrame>
        <p:nvGraphicFramePr>
          <p:cNvPr id="12" name="Chart 11"/>
          <p:cNvGraphicFramePr>
            <a:graphicFrameLocks noGrp="1"/>
          </p:cNvGraphicFramePr>
          <p:nvPr/>
        </p:nvGraphicFramePr>
        <p:xfrm>
          <a:off x="5852160" y="1463040"/>
          <a:ext cx="5879592" cy="484632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Regularisation: where to find it in PyTorch</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Mostly one argument or one layer; early stopping is the exception</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pos_weight is not regularisation: it changes what the model is rewarded for, not how closely it fits.</a:t>
            </a:r>
          </a:p>
        </p:txBody>
      </p:sp>
      <p:sp>
        <p:nvSpPr>
          <p:cNvPr id="6" name="TextBox 5"/>
          <p:cNvSpPr txBox="1"/>
          <p:nvPr/>
        </p:nvSpPr>
        <p:spPr>
          <a:xfrm>
            <a:off x="548640" y="1463040"/>
            <a:ext cx="2286000" cy="274320"/>
          </a:xfrm>
          <a:prstGeom prst="rect">
            <a:avLst/>
          </a:prstGeom>
          <a:noFill/>
        </p:spPr>
        <p:txBody>
          <a:bodyPr wrap="square" lIns="0" tIns="0" rIns="0" bIns="0" anchor="t">
            <a:noAutofit/>
          </a:bodyPr>
          <a:lstStyle/>
          <a:p>
            <a:pPr algn="l"/>
            <a:r>
              <a:rPr sz="1100" b="1" i="0">
                <a:solidFill>
                  <a:srgbClr val="6B7B8D"/>
                </a:solidFill>
                <a:latin typeface="Open Sans"/>
              </a:rPr>
              <a:t>TECHNIQUE</a:t>
            </a:r>
          </a:p>
        </p:txBody>
      </p:sp>
      <p:sp>
        <p:nvSpPr>
          <p:cNvPr id="7" name="TextBox 6"/>
          <p:cNvSpPr txBox="1"/>
          <p:nvPr/>
        </p:nvSpPr>
        <p:spPr>
          <a:xfrm>
            <a:off x="2834640" y="1463040"/>
            <a:ext cx="3108960" cy="274320"/>
          </a:xfrm>
          <a:prstGeom prst="rect">
            <a:avLst/>
          </a:prstGeom>
          <a:noFill/>
        </p:spPr>
        <p:txBody>
          <a:bodyPr wrap="square" lIns="0" tIns="0" rIns="0" bIns="0" anchor="t">
            <a:noAutofit/>
          </a:bodyPr>
          <a:lstStyle/>
          <a:p>
            <a:pPr algn="l"/>
            <a:r>
              <a:rPr sz="1100" b="1" i="0">
                <a:solidFill>
                  <a:srgbClr val="6B7B8D"/>
                </a:solidFill>
                <a:latin typeface="Open Sans"/>
              </a:rPr>
              <a:t>WHAT IT DOES</a:t>
            </a:r>
          </a:p>
        </p:txBody>
      </p:sp>
      <p:sp>
        <p:nvSpPr>
          <p:cNvPr id="8" name="TextBox 7"/>
          <p:cNvSpPr txBox="1"/>
          <p:nvPr/>
        </p:nvSpPr>
        <p:spPr>
          <a:xfrm>
            <a:off x="5943600" y="1463040"/>
            <a:ext cx="4069080" cy="274320"/>
          </a:xfrm>
          <a:prstGeom prst="rect">
            <a:avLst/>
          </a:prstGeom>
          <a:noFill/>
        </p:spPr>
        <p:txBody>
          <a:bodyPr wrap="square" lIns="0" tIns="0" rIns="0" bIns="0" anchor="t">
            <a:noAutofit/>
          </a:bodyPr>
          <a:lstStyle/>
          <a:p>
            <a:pPr algn="l"/>
            <a:r>
              <a:rPr sz="1100" b="1" i="0">
                <a:solidFill>
                  <a:srgbClr val="6B7B8D"/>
                </a:solidFill>
                <a:latin typeface="Open Sans"/>
              </a:rPr>
              <a:t>IN PYTORCH</a:t>
            </a:r>
          </a:p>
        </p:txBody>
      </p:sp>
      <p:sp>
        <p:nvSpPr>
          <p:cNvPr id="9" name="TextBox 8"/>
          <p:cNvSpPr txBox="1"/>
          <p:nvPr/>
        </p:nvSpPr>
        <p:spPr>
          <a:xfrm>
            <a:off x="10012680" y="1463040"/>
            <a:ext cx="1810512" cy="274320"/>
          </a:xfrm>
          <a:prstGeom prst="rect">
            <a:avLst/>
          </a:prstGeom>
          <a:noFill/>
        </p:spPr>
        <p:txBody>
          <a:bodyPr wrap="square" lIns="0" tIns="0" rIns="0" bIns="0" anchor="t">
            <a:noAutofit/>
          </a:bodyPr>
          <a:lstStyle/>
          <a:p>
            <a:pPr algn="l"/>
            <a:r>
              <a:rPr sz="1100" b="1" i="0">
                <a:solidFill>
                  <a:srgbClr val="6B7B8D"/>
                </a:solidFill>
                <a:latin typeface="Open Sans"/>
              </a:rPr>
              <a:t>IN THE LAB</a:t>
            </a:r>
          </a:p>
        </p:txBody>
      </p:sp>
      <p:sp>
        <p:nvSpPr>
          <p:cNvPr id="10" name="Rectangle 9"/>
          <p:cNvSpPr/>
          <p:nvPr/>
        </p:nvSpPr>
        <p:spPr>
          <a:xfrm>
            <a:off x="457200" y="1783080"/>
            <a:ext cx="11274552" cy="713232"/>
          </a:xfrm>
          <a:prstGeom prst="rect">
            <a:avLst/>
          </a:prstGeom>
          <a:solidFill>
            <a:srgbClr val="F3F5F8"/>
          </a:solidFill>
          <a:ln>
            <a:noFill/>
          </a:ln>
          <a:effectLst/>
        </p:spPr>
        <p:txBody>
          <a:bodyPr rtlCol="0" anchor="ctr"/>
          <a:lstStyle/>
          <a:p>
            <a:pPr algn="ctr"/>
            <a:endParaRPr/>
          </a:p>
        </p:txBody>
      </p:sp>
      <p:sp>
        <p:nvSpPr>
          <p:cNvPr id="11" name="TextBox 10"/>
          <p:cNvSpPr txBox="1"/>
          <p:nvPr/>
        </p:nvSpPr>
        <p:spPr>
          <a:xfrm>
            <a:off x="548640" y="1783080"/>
            <a:ext cx="2148840" cy="713232"/>
          </a:xfrm>
          <a:prstGeom prst="rect">
            <a:avLst/>
          </a:prstGeom>
          <a:noFill/>
        </p:spPr>
        <p:txBody>
          <a:bodyPr wrap="square" lIns="0" tIns="0" rIns="0" bIns="0" anchor="ctr">
            <a:noAutofit/>
          </a:bodyPr>
          <a:lstStyle/>
          <a:p>
            <a:pPr algn="l"/>
            <a:r>
              <a:rPr sz="1300" b="1" i="0">
                <a:solidFill>
                  <a:srgbClr val="0C3D6E"/>
                </a:solidFill>
                <a:latin typeface="Open Sans"/>
              </a:rPr>
              <a:t>Weight decay</a:t>
            </a:r>
          </a:p>
        </p:txBody>
      </p:sp>
      <p:sp>
        <p:nvSpPr>
          <p:cNvPr id="12" name="TextBox 11"/>
          <p:cNvSpPr txBox="1"/>
          <p:nvPr/>
        </p:nvSpPr>
        <p:spPr>
          <a:xfrm>
            <a:off x="2834640" y="1783080"/>
            <a:ext cx="2971800" cy="713232"/>
          </a:xfrm>
          <a:prstGeom prst="rect">
            <a:avLst/>
          </a:prstGeom>
          <a:noFill/>
        </p:spPr>
        <p:txBody>
          <a:bodyPr wrap="square" lIns="0" tIns="0" rIns="0" bIns="0" anchor="ctr">
            <a:noAutofit/>
          </a:bodyPr>
          <a:lstStyle/>
          <a:p>
            <a:pPr algn="l"/>
            <a:r>
              <a:rPr sz="1300" b="0" i="0">
                <a:solidFill>
                  <a:srgbClr val="1A2733"/>
                </a:solidFill>
                <a:latin typeface="Open Sans"/>
              </a:rPr>
              <a:t>Pulls every weight a little toward zero at each step</a:t>
            </a:r>
          </a:p>
        </p:txBody>
      </p:sp>
      <p:sp>
        <p:nvSpPr>
          <p:cNvPr id="13" name="TextBox 12"/>
          <p:cNvSpPr txBox="1"/>
          <p:nvPr/>
        </p:nvSpPr>
        <p:spPr>
          <a:xfrm>
            <a:off x="5943600" y="1783080"/>
            <a:ext cx="3931920" cy="713232"/>
          </a:xfrm>
          <a:prstGeom prst="rect">
            <a:avLst/>
          </a:prstGeom>
          <a:noFill/>
        </p:spPr>
        <p:txBody>
          <a:bodyPr wrap="square" lIns="0" tIns="0" rIns="0" bIns="0" anchor="ctr">
            <a:noAutofit/>
          </a:bodyPr>
          <a:lstStyle/>
          <a:p>
            <a:pPr algn="l"/>
            <a:r>
              <a:rPr sz="1200" b="0" i="0">
                <a:solidFill>
                  <a:srgbClr val="0C3D6E"/>
                </a:solidFill>
                <a:latin typeface="Courier New"/>
              </a:rPr>
              <a:t>torch.optim.AdamW(</a:t>
            </a:r>
          </a:p>
          <a:p>
            <a:pPr algn="l"/>
            <a:r>
              <a:rPr sz="1200" b="0" i="0">
                <a:solidFill>
                  <a:srgbClr val="0C3D6E"/>
                </a:solidFill>
                <a:latin typeface="Courier New"/>
              </a:rPr>
              <a:t>  params, weight_decay=0.01)</a:t>
            </a:r>
          </a:p>
        </p:txBody>
      </p:sp>
      <p:sp>
        <p:nvSpPr>
          <p:cNvPr id="14" name="TextBox 13"/>
          <p:cNvSpPr txBox="1"/>
          <p:nvPr/>
        </p:nvSpPr>
        <p:spPr>
          <a:xfrm>
            <a:off x="10012680" y="1783080"/>
            <a:ext cx="1673352" cy="713232"/>
          </a:xfrm>
          <a:prstGeom prst="rect">
            <a:avLst/>
          </a:prstGeom>
          <a:noFill/>
        </p:spPr>
        <p:txBody>
          <a:bodyPr wrap="square" lIns="0" tIns="0" rIns="0" bIns="0" anchor="ctr">
            <a:noAutofit/>
          </a:bodyPr>
          <a:lstStyle/>
          <a:p>
            <a:pPr algn="l"/>
            <a:r>
              <a:rPr sz="1300" b="0" i="0">
                <a:solidFill>
                  <a:srgbClr val="1A2733"/>
                </a:solidFill>
                <a:latin typeface="Open Sans"/>
              </a:rPr>
              <a:t>Ex. 1 §7.2</a:t>
            </a:r>
          </a:p>
        </p:txBody>
      </p:sp>
      <p:sp>
        <p:nvSpPr>
          <p:cNvPr id="15" name="Rectangle 14"/>
          <p:cNvSpPr/>
          <p:nvPr/>
        </p:nvSpPr>
        <p:spPr>
          <a:xfrm>
            <a:off x="457200" y="2496312"/>
            <a:ext cx="11274552" cy="713232"/>
          </a:xfrm>
          <a:prstGeom prst="rect">
            <a:avLst/>
          </a:prstGeom>
          <a:solidFill>
            <a:srgbClr val="FFFFFF"/>
          </a:solidFill>
          <a:ln>
            <a:noFill/>
          </a:ln>
          <a:effectLst/>
        </p:spPr>
        <p:txBody>
          <a:bodyPr rtlCol="0" anchor="ctr"/>
          <a:lstStyle/>
          <a:p>
            <a:pPr algn="ctr"/>
            <a:endParaRPr/>
          </a:p>
        </p:txBody>
      </p:sp>
      <p:sp>
        <p:nvSpPr>
          <p:cNvPr id="16" name="TextBox 15"/>
          <p:cNvSpPr txBox="1"/>
          <p:nvPr/>
        </p:nvSpPr>
        <p:spPr>
          <a:xfrm>
            <a:off x="548640" y="2496312"/>
            <a:ext cx="2148840" cy="713232"/>
          </a:xfrm>
          <a:prstGeom prst="rect">
            <a:avLst/>
          </a:prstGeom>
          <a:noFill/>
        </p:spPr>
        <p:txBody>
          <a:bodyPr wrap="square" lIns="0" tIns="0" rIns="0" bIns="0" anchor="ctr">
            <a:noAutofit/>
          </a:bodyPr>
          <a:lstStyle/>
          <a:p>
            <a:pPr algn="l"/>
            <a:r>
              <a:rPr sz="1300" b="1" i="0">
                <a:solidFill>
                  <a:srgbClr val="0C3D6E"/>
                </a:solidFill>
                <a:latin typeface="Open Sans"/>
              </a:rPr>
              <a:t>Dropout</a:t>
            </a:r>
          </a:p>
        </p:txBody>
      </p:sp>
      <p:sp>
        <p:nvSpPr>
          <p:cNvPr id="17" name="TextBox 16"/>
          <p:cNvSpPr txBox="1"/>
          <p:nvPr/>
        </p:nvSpPr>
        <p:spPr>
          <a:xfrm>
            <a:off x="2834640" y="2496312"/>
            <a:ext cx="2971800" cy="713232"/>
          </a:xfrm>
          <a:prstGeom prst="rect">
            <a:avLst/>
          </a:prstGeom>
          <a:noFill/>
        </p:spPr>
        <p:txBody>
          <a:bodyPr wrap="square" lIns="0" tIns="0" rIns="0" bIns="0" anchor="ctr">
            <a:noAutofit/>
          </a:bodyPr>
          <a:lstStyle/>
          <a:p>
            <a:pPr algn="l"/>
            <a:r>
              <a:rPr sz="1300" b="0" i="0">
                <a:solidFill>
                  <a:srgbClr val="1A2733"/>
                </a:solidFill>
                <a:latin typeface="Open Sans"/>
              </a:rPr>
              <a:t>Switches off a random share of neurons while training</a:t>
            </a:r>
          </a:p>
        </p:txBody>
      </p:sp>
      <p:sp>
        <p:nvSpPr>
          <p:cNvPr id="18" name="TextBox 17"/>
          <p:cNvSpPr txBox="1"/>
          <p:nvPr/>
        </p:nvSpPr>
        <p:spPr>
          <a:xfrm>
            <a:off x="5943600" y="2496312"/>
            <a:ext cx="3931920" cy="713232"/>
          </a:xfrm>
          <a:prstGeom prst="rect">
            <a:avLst/>
          </a:prstGeom>
          <a:noFill/>
        </p:spPr>
        <p:txBody>
          <a:bodyPr wrap="square" lIns="0" tIns="0" rIns="0" bIns="0" anchor="ctr">
            <a:noAutofit/>
          </a:bodyPr>
          <a:lstStyle/>
          <a:p>
            <a:pPr algn="l"/>
            <a:r>
              <a:rPr sz="1200" b="0" i="0">
                <a:solidFill>
                  <a:srgbClr val="0C3D6E"/>
                </a:solidFill>
                <a:latin typeface="Courier New"/>
              </a:rPr>
              <a:t>nn.Dropout(p=0.1)</a:t>
            </a:r>
          </a:p>
          <a:p>
            <a:pPr algn="l"/>
            <a:r>
              <a:rPr sz="1200" b="0" i="0">
                <a:solidFill>
                  <a:srgbClr val="0C3D6E"/>
                </a:solidFill>
                <a:latin typeface="Courier New"/>
              </a:rPr>
              <a:t>model.train() / model.eval()</a:t>
            </a:r>
          </a:p>
        </p:txBody>
      </p:sp>
      <p:sp>
        <p:nvSpPr>
          <p:cNvPr id="19" name="TextBox 18"/>
          <p:cNvSpPr txBox="1"/>
          <p:nvPr/>
        </p:nvSpPr>
        <p:spPr>
          <a:xfrm>
            <a:off x="10012680" y="2496312"/>
            <a:ext cx="1673352" cy="713232"/>
          </a:xfrm>
          <a:prstGeom prst="rect">
            <a:avLst/>
          </a:prstGeom>
          <a:noFill/>
        </p:spPr>
        <p:txBody>
          <a:bodyPr wrap="square" lIns="0" tIns="0" rIns="0" bIns="0" anchor="ctr">
            <a:noAutofit/>
          </a:bodyPr>
          <a:lstStyle/>
          <a:p>
            <a:pPr algn="l"/>
            <a:r>
              <a:rPr sz="1300" b="0" i="0">
                <a:solidFill>
                  <a:srgbClr val="1A2733"/>
                </a:solidFill>
                <a:latin typeface="Open Sans"/>
              </a:rPr>
              <a:t>Ex. 2, Ex. 3</a:t>
            </a:r>
          </a:p>
        </p:txBody>
      </p:sp>
      <p:sp>
        <p:nvSpPr>
          <p:cNvPr id="20" name="Rectangle 19"/>
          <p:cNvSpPr/>
          <p:nvPr/>
        </p:nvSpPr>
        <p:spPr>
          <a:xfrm>
            <a:off x="457200" y="3209544"/>
            <a:ext cx="11274552" cy="713232"/>
          </a:xfrm>
          <a:prstGeom prst="rect">
            <a:avLst/>
          </a:prstGeom>
          <a:solidFill>
            <a:srgbClr val="F3F5F8"/>
          </a:solidFill>
          <a:ln>
            <a:noFill/>
          </a:ln>
          <a:effectLst/>
        </p:spPr>
        <p:txBody>
          <a:bodyPr rtlCol="0" anchor="ctr"/>
          <a:lstStyle/>
          <a:p>
            <a:pPr algn="ctr"/>
            <a:endParaRPr/>
          </a:p>
        </p:txBody>
      </p:sp>
      <p:sp>
        <p:nvSpPr>
          <p:cNvPr id="21" name="TextBox 20"/>
          <p:cNvSpPr txBox="1"/>
          <p:nvPr/>
        </p:nvSpPr>
        <p:spPr>
          <a:xfrm>
            <a:off x="548640" y="3209544"/>
            <a:ext cx="2148840" cy="713232"/>
          </a:xfrm>
          <a:prstGeom prst="rect">
            <a:avLst/>
          </a:prstGeom>
          <a:noFill/>
        </p:spPr>
        <p:txBody>
          <a:bodyPr wrap="square" lIns="0" tIns="0" rIns="0" bIns="0" anchor="ctr">
            <a:noAutofit/>
          </a:bodyPr>
          <a:lstStyle/>
          <a:p>
            <a:pPr algn="l"/>
            <a:r>
              <a:rPr sz="1300" b="1" i="0">
                <a:solidFill>
                  <a:srgbClr val="0C3D6E"/>
                </a:solidFill>
                <a:latin typeface="Open Sans"/>
              </a:rPr>
              <a:t>Early stopping</a:t>
            </a:r>
          </a:p>
        </p:txBody>
      </p:sp>
      <p:sp>
        <p:nvSpPr>
          <p:cNvPr id="22" name="TextBox 21"/>
          <p:cNvSpPr txBox="1"/>
          <p:nvPr/>
        </p:nvSpPr>
        <p:spPr>
          <a:xfrm>
            <a:off x="2834640" y="3209544"/>
            <a:ext cx="2971800" cy="713232"/>
          </a:xfrm>
          <a:prstGeom prst="rect">
            <a:avLst/>
          </a:prstGeom>
          <a:noFill/>
        </p:spPr>
        <p:txBody>
          <a:bodyPr wrap="square" lIns="0" tIns="0" rIns="0" bIns="0" anchor="ctr">
            <a:noAutofit/>
          </a:bodyPr>
          <a:lstStyle/>
          <a:p>
            <a:pPr algn="l"/>
            <a:r>
              <a:rPr sz="1300" b="0" i="0">
                <a:solidFill>
                  <a:srgbClr val="1A2733"/>
                </a:solidFill>
                <a:latin typeface="Open Sans"/>
              </a:rPr>
              <a:t>Stops when validation error stops improving; keeps the best weights</a:t>
            </a:r>
          </a:p>
        </p:txBody>
      </p:sp>
      <p:sp>
        <p:nvSpPr>
          <p:cNvPr id="23" name="TextBox 22"/>
          <p:cNvSpPr txBox="1"/>
          <p:nvPr/>
        </p:nvSpPr>
        <p:spPr>
          <a:xfrm>
            <a:off x="5943600" y="3209544"/>
            <a:ext cx="3931920" cy="713232"/>
          </a:xfrm>
          <a:prstGeom prst="rect">
            <a:avLst/>
          </a:prstGeom>
          <a:noFill/>
        </p:spPr>
        <p:txBody>
          <a:bodyPr wrap="square" lIns="0" tIns="0" rIns="0" bIns="0" anchor="ctr">
            <a:noAutofit/>
          </a:bodyPr>
          <a:lstStyle/>
          <a:p>
            <a:pPr algn="l"/>
            <a:r>
              <a:rPr sz="1200" b="0" i="0">
                <a:solidFill>
                  <a:srgbClr val="0C3D6E"/>
                </a:solidFill>
                <a:latin typeface="Open Sans"/>
              </a:rPr>
              <a:t>Not built in: a few lines in the loop (a callback in Lightning)</a:t>
            </a:r>
          </a:p>
        </p:txBody>
      </p:sp>
      <p:sp>
        <p:nvSpPr>
          <p:cNvPr id="24" name="TextBox 23"/>
          <p:cNvSpPr txBox="1"/>
          <p:nvPr/>
        </p:nvSpPr>
        <p:spPr>
          <a:xfrm>
            <a:off x="10012680" y="3209544"/>
            <a:ext cx="1673352" cy="713232"/>
          </a:xfrm>
          <a:prstGeom prst="rect">
            <a:avLst/>
          </a:prstGeom>
          <a:noFill/>
        </p:spPr>
        <p:txBody>
          <a:bodyPr wrap="square" lIns="0" tIns="0" rIns="0" bIns="0" anchor="ctr">
            <a:noAutofit/>
          </a:bodyPr>
          <a:lstStyle/>
          <a:p>
            <a:pPr algn="l"/>
            <a:r>
              <a:rPr sz="1300" b="0" i="0">
                <a:solidFill>
                  <a:srgbClr val="1A2733"/>
                </a:solidFill>
                <a:latin typeface="Open Sans"/>
              </a:rPr>
              <a:t>Ex. 1, challenge C</a:t>
            </a:r>
          </a:p>
        </p:txBody>
      </p:sp>
      <p:sp>
        <p:nvSpPr>
          <p:cNvPr id="25" name="Rectangle 24"/>
          <p:cNvSpPr/>
          <p:nvPr/>
        </p:nvSpPr>
        <p:spPr>
          <a:xfrm>
            <a:off x="457200" y="3922776"/>
            <a:ext cx="11274552" cy="713232"/>
          </a:xfrm>
          <a:prstGeom prst="rect">
            <a:avLst/>
          </a:prstGeom>
          <a:solidFill>
            <a:srgbClr val="FFFFFF"/>
          </a:solidFill>
          <a:ln>
            <a:noFill/>
          </a:ln>
          <a:effectLst/>
        </p:spPr>
        <p:txBody>
          <a:bodyPr rtlCol="0" anchor="ctr"/>
          <a:lstStyle/>
          <a:p>
            <a:pPr algn="ctr"/>
            <a:endParaRPr/>
          </a:p>
        </p:txBody>
      </p:sp>
      <p:sp>
        <p:nvSpPr>
          <p:cNvPr id="26" name="TextBox 25"/>
          <p:cNvSpPr txBox="1"/>
          <p:nvPr/>
        </p:nvSpPr>
        <p:spPr>
          <a:xfrm>
            <a:off x="548640" y="3922776"/>
            <a:ext cx="2148840" cy="713232"/>
          </a:xfrm>
          <a:prstGeom prst="rect">
            <a:avLst/>
          </a:prstGeom>
          <a:noFill/>
        </p:spPr>
        <p:txBody>
          <a:bodyPr wrap="square" lIns="0" tIns="0" rIns="0" bIns="0" anchor="ctr">
            <a:noAutofit/>
          </a:bodyPr>
          <a:lstStyle/>
          <a:p>
            <a:pPr algn="l"/>
            <a:r>
              <a:rPr sz="1300" b="1" i="0">
                <a:solidFill>
                  <a:srgbClr val="0C3D6E"/>
                </a:solidFill>
                <a:latin typeface="Open Sans"/>
              </a:rPr>
              <a:t>Smaller model</a:t>
            </a:r>
          </a:p>
        </p:txBody>
      </p:sp>
      <p:sp>
        <p:nvSpPr>
          <p:cNvPr id="27" name="TextBox 26"/>
          <p:cNvSpPr txBox="1"/>
          <p:nvPr/>
        </p:nvSpPr>
        <p:spPr>
          <a:xfrm>
            <a:off x="2834640" y="3922776"/>
            <a:ext cx="2971800" cy="713232"/>
          </a:xfrm>
          <a:prstGeom prst="rect">
            <a:avLst/>
          </a:prstGeom>
          <a:noFill/>
        </p:spPr>
        <p:txBody>
          <a:bodyPr wrap="square" lIns="0" tIns="0" rIns="0" bIns="0" anchor="ctr">
            <a:noAutofit/>
          </a:bodyPr>
          <a:lstStyle/>
          <a:p>
            <a:pPr algn="l"/>
            <a:r>
              <a:rPr sz="1300" b="0" i="0">
                <a:solidFill>
                  <a:srgbClr val="1A2733"/>
                </a:solidFill>
                <a:latin typeface="Open Sans"/>
              </a:rPr>
              <a:t>Less capacity to memorise</a:t>
            </a:r>
          </a:p>
        </p:txBody>
      </p:sp>
      <p:sp>
        <p:nvSpPr>
          <p:cNvPr id="28" name="TextBox 27"/>
          <p:cNvSpPr txBox="1"/>
          <p:nvPr/>
        </p:nvSpPr>
        <p:spPr>
          <a:xfrm>
            <a:off x="5943600" y="3922776"/>
            <a:ext cx="3931920" cy="713232"/>
          </a:xfrm>
          <a:prstGeom prst="rect">
            <a:avLst/>
          </a:prstGeom>
          <a:noFill/>
        </p:spPr>
        <p:txBody>
          <a:bodyPr wrap="square" lIns="0" tIns="0" rIns="0" bIns="0" anchor="ctr">
            <a:noAutofit/>
          </a:bodyPr>
          <a:lstStyle/>
          <a:p>
            <a:pPr algn="l"/>
            <a:r>
              <a:rPr sz="1200" b="0" i="0">
                <a:solidFill>
                  <a:srgbClr val="0C3D6E"/>
                </a:solidFill>
                <a:latin typeface="Courier New"/>
              </a:rPr>
              <a:t>hidden=32 instead of 256;</a:t>
            </a:r>
          </a:p>
          <a:p>
            <a:pPr algn="l"/>
            <a:r>
              <a:rPr sz="1200" b="0" i="0">
                <a:solidFill>
                  <a:srgbClr val="0C3D6E"/>
                </a:solidFill>
                <a:latin typeface="Courier New"/>
              </a:rPr>
              <a:t>fewer inputs (look-back 7)</a:t>
            </a:r>
          </a:p>
        </p:txBody>
      </p:sp>
      <p:sp>
        <p:nvSpPr>
          <p:cNvPr id="29" name="TextBox 28"/>
          <p:cNvSpPr txBox="1"/>
          <p:nvPr/>
        </p:nvSpPr>
        <p:spPr>
          <a:xfrm>
            <a:off x="10012680" y="3922776"/>
            <a:ext cx="1673352" cy="713232"/>
          </a:xfrm>
          <a:prstGeom prst="rect">
            <a:avLst/>
          </a:prstGeom>
          <a:noFill/>
        </p:spPr>
        <p:txBody>
          <a:bodyPr wrap="square" lIns="0" tIns="0" rIns="0" bIns="0" anchor="ctr">
            <a:noAutofit/>
          </a:bodyPr>
          <a:lstStyle/>
          <a:p>
            <a:pPr algn="l"/>
            <a:r>
              <a:rPr sz="1300" b="0" i="0">
                <a:solidFill>
                  <a:srgbClr val="1A2733"/>
                </a:solidFill>
                <a:latin typeface="Open Sans"/>
              </a:rPr>
              <a:t>Ex. 1 §7.2–7.3</a:t>
            </a:r>
          </a:p>
        </p:txBody>
      </p:sp>
      <p:sp>
        <p:nvSpPr>
          <p:cNvPr id="30" name="Rectangle 29"/>
          <p:cNvSpPr/>
          <p:nvPr/>
        </p:nvSpPr>
        <p:spPr>
          <a:xfrm>
            <a:off x="457200" y="4636008"/>
            <a:ext cx="11274552" cy="713232"/>
          </a:xfrm>
          <a:prstGeom prst="rect">
            <a:avLst/>
          </a:prstGeom>
          <a:solidFill>
            <a:srgbClr val="F3F5F8"/>
          </a:solidFill>
          <a:ln>
            <a:noFill/>
          </a:ln>
          <a:effectLst/>
        </p:spPr>
        <p:txBody>
          <a:bodyPr rtlCol="0" anchor="ctr"/>
          <a:lstStyle/>
          <a:p>
            <a:pPr algn="ctr"/>
            <a:endParaRPr/>
          </a:p>
        </p:txBody>
      </p:sp>
      <p:sp>
        <p:nvSpPr>
          <p:cNvPr id="31" name="TextBox 30"/>
          <p:cNvSpPr txBox="1"/>
          <p:nvPr/>
        </p:nvSpPr>
        <p:spPr>
          <a:xfrm>
            <a:off x="548640" y="4636008"/>
            <a:ext cx="2148840" cy="713232"/>
          </a:xfrm>
          <a:prstGeom prst="rect">
            <a:avLst/>
          </a:prstGeom>
          <a:noFill/>
        </p:spPr>
        <p:txBody>
          <a:bodyPr wrap="square" lIns="0" tIns="0" rIns="0" bIns="0" anchor="ctr">
            <a:noAutofit/>
          </a:bodyPr>
          <a:lstStyle/>
          <a:p>
            <a:pPr algn="l"/>
            <a:r>
              <a:rPr sz="1300" b="1" i="0">
                <a:solidFill>
                  <a:srgbClr val="0C3D6E"/>
                </a:solidFill>
                <a:latin typeface="Open Sans"/>
              </a:rPr>
              <a:t>More data</a:t>
            </a:r>
          </a:p>
        </p:txBody>
      </p:sp>
      <p:sp>
        <p:nvSpPr>
          <p:cNvPr id="32" name="TextBox 31"/>
          <p:cNvSpPr txBox="1"/>
          <p:nvPr/>
        </p:nvSpPr>
        <p:spPr>
          <a:xfrm>
            <a:off x="2834640" y="4636008"/>
            <a:ext cx="2971800" cy="713232"/>
          </a:xfrm>
          <a:prstGeom prst="rect">
            <a:avLst/>
          </a:prstGeom>
          <a:noFill/>
        </p:spPr>
        <p:txBody>
          <a:bodyPr wrap="square" lIns="0" tIns="0" rIns="0" bIns="0" anchor="ctr">
            <a:noAutofit/>
          </a:bodyPr>
          <a:lstStyle/>
          <a:p>
            <a:pPr algn="l"/>
            <a:r>
              <a:rPr sz="1300" b="0" i="0">
                <a:solidFill>
                  <a:srgbClr val="1A2733"/>
                </a:solidFill>
                <a:latin typeface="Open Sans"/>
              </a:rPr>
              <a:t>Harder to memorise; augmentation creates variants</a:t>
            </a:r>
          </a:p>
        </p:txBody>
      </p:sp>
      <p:sp>
        <p:nvSpPr>
          <p:cNvPr id="33" name="TextBox 32"/>
          <p:cNvSpPr txBox="1"/>
          <p:nvPr/>
        </p:nvSpPr>
        <p:spPr>
          <a:xfrm>
            <a:off x="5943600" y="4636008"/>
            <a:ext cx="3931920" cy="713232"/>
          </a:xfrm>
          <a:prstGeom prst="rect">
            <a:avLst/>
          </a:prstGeom>
          <a:noFill/>
        </p:spPr>
        <p:txBody>
          <a:bodyPr wrap="square" lIns="0" tIns="0" rIns="0" bIns="0" anchor="ctr">
            <a:noAutofit/>
          </a:bodyPr>
          <a:lstStyle/>
          <a:p>
            <a:pPr algn="l"/>
            <a:r>
              <a:rPr sz="1200" b="0" i="0">
                <a:solidFill>
                  <a:srgbClr val="0C3D6E"/>
                </a:solidFill>
                <a:latin typeface="Courier New"/>
              </a:rPr>
              <a:t>torchvision.transforms</a:t>
            </a:r>
          </a:p>
          <a:p>
            <a:pPr algn="l"/>
            <a:r>
              <a:rPr sz="1200" b="0" i="0">
                <a:solidFill>
                  <a:srgbClr val="0C3D6E"/>
                </a:solidFill>
                <a:latin typeface="Courier New"/>
              </a:rPr>
              <a:t>(images)</a:t>
            </a:r>
          </a:p>
        </p:txBody>
      </p:sp>
      <p:sp>
        <p:nvSpPr>
          <p:cNvPr id="34" name="TextBox 33"/>
          <p:cNvSpPr txBox="1"/>
          <p:nvPr/>
        </p:nvSpPr>
        <p:spPr>
          <a:xfrm>
            <a:off x="10012680" y="4636008"/>
            <a:ext cx="1673352" cy="713232"/>
          </a:xfrm>
          <a:prstGeom prst="rect">
            <a:avLst/>
          </a:prstGeom>
          <a:noFill/>
        </p:spPr>
        <p:txBody>
          <a:bodyPr wrap="square" lIns="0" tIns="0" rIns="0" bIns="0" anchor="ctr">
            <a:noAutofit/>
          </a:bodyPr>
          <a:lstStyle/>
          <a:p>
            <a:pPr algn="l"/>
            <a:r>
              <a:rPr sz="1300" b="0" i="0">
                <a:solidFill>
                  <a:srgbClr val="1A2733"/>
                </a:solidFill>
                <a:latin typeface="Open Sans"/>
              </a:rPr>
              <a:t>–</a:t>
            </a:r>
          </a:p>
        </p:txBody>
      </p:sp>
      <p:sp>
        <p:nvSpPr>
          <p:cNvPr id="35" name="Rectangle 34"/>
          <p:cNvSpPr/>
          <p:nvPr/>
        </p:nvSpPr>
        <p:spPr>
          <a:xfrm>
            <a:off x="457200" y="5486400"/>
            <a:ext cx="11274552" cy="841248"/>
          </a:xfrm>
          <a:prstGeom prst="rect">
            <a:avLst/>
          </a:prstGeom>
          <a:solidFill>
            <a:srgbClr val="EAF3FA"/>
          </a:solidFill>
          <a:ln>
            <a:noFill/>
          </a:ln>
          <a:effectLst/>
        </p:spPr>
        <p:txBody>
          <a:bodyPr rtlCol="0" anchor="ctr"/>
          <a:lstStyle/>
          <a:p>
            <a:pPr algn="ctr"/>
            <a:endParaRPr/>
          </a:p>
        </p:txBody>
      </p:sp>
      <p:sp>
        <p:nvSpPr>
          <p:cNvPr id="36" name="TextBox 35"/>
          <p:cNvSpPr txBox="1"/>
          <p:nvPr/>
        </p:nvSpPr>
        <p:spPr>
          <a:xfrm>
            <a:off x="685800" y="5486400"/>
            <a:ext cx="10881360" cy="841248"/>
          </a:xfrm>
          <a:prstGeom prst="rect">
            <a:avLst/>
          </a:prstGeom>
          <a:noFill/>
        </p:spPr>
        <p:txBody>
          <a:bodyPr wrap="square" lIns="0" tIns="0" rIns="0" bIns="0" anchor="ctr">
            <a:noAutofit/>
          </a:bodyPr>
          <a:lstStyle/>
          <a:p>
            <a:pPr algn="l"/>
            <a:r>
              <a:rPr sz="1300" b="1" i="0">
                <a:solidFill>
                  <a:srgbClr val="0C3D6E"/>
                </a:solidFill>
                <a:latin typeface="Open Sans"/>
              </a:rPr>
              <a:t>Adam or AdamW?  </a:t>
            </a:r>
            <a:r>
              <a:rPr sz="1300" b="0" i="0">
                <a:solidFill>
                  <a:srgbClr val="1A2733"/>
                </a:solidFill>
                <a:latin typeface="Open Sans"/>
              </a:rPr>
              <a:t>The labs use Adam(weight_decay=…), which adds the penalty to the gradient, where Adam rescales it. AdamW applies it separately and is the usual choice in practice.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lab to real project: the data</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The exercises start where most real projects spend most of their time</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Budget the data work first: it sets the ceiling for any model.</a:t>
            </a:r>
          </a:p>
        </p:txBody>
      </p:sp>
      <p:sp>
        <p:nvSpPr>
          <p:cNvPr id="6" name="TextBox 5"/>
          <p:cNvSpPr txBox="1"/>
          <p:nvPr/>
        </p:nvSpPr>
        <p:spPr>
          <a:xfrm>
            <a:off x="2377440" y="1463040"/>
            <a:ext cx="4206240" cy="320040"/>
          </a:xfrm>
          <a:prstGeom prst="rect">
            <a:avLst/>
          </a:prstGeom>
          <a:noFill/>
        </p:spPr>
        <p:txBody>
          <a:bodyPr wrap="square" lIns="0" tIns="0" rIns="0" bIns="0" anchor="t">
            <a:noAutofit/>
          </a:bodyPr>
          <a:lstStyle/>
          <a:p>
            <a:pPr algn="l"/>
            <a:r>
              <a:rPr sz="1200" b="1" i="0">
                <a:solidFill>
                  <a:srgbClr val="6B7B8D"/>
                </a:solidFill>
                <a:latin typeface="Open Sans"/>
              </a:rPr>
              <a:t>IN THE LAB</a:t>
            </a:r>
          </a:p>
        </p:txBody>
      </p:sp>
      <p:sp>
        <p:nvSpPr>
          <p:cNvPr id="7" name="TextBox 6"/>
          <p:cNvSpPr txBox="1"/>
          <p:nvPr/>
        </p:nvSpPr>
        <p:spPr>
          <a:xfrm>
            <a:off x="6949440" y="1463040"/>
            <a:ext cx="4754880" cy="320040"/>
          </a:xfrm>
          <a:prstGeom prst="rect">
            <a:avLst/>
          </a:prstGeom>
          <a:noFill/>
        </p:spPr>
        <p:txBody>
          <a:bodyPr wrap="square" lIns="0" tIns="0" rIns="0" bIns="0" anchor="t">
            <a:noAutofit/>
          </a:bodyPr>
          <a:lstStyle/>
          <a:p>
            <a:pPr algn="l"/>
            <a:r>
              <a:rPr sz="1200" b="1" i="0">
                <a:solidFill>
                  <a:srgbClr val="E8742A"/>
                </a:solidFill>
                <a:latin typeface="Open Sans"/>
              </a:rPr>
              <a:t>IN A REAL PROJECT</a:t>
            </a:r>
          </a:p>
        </p:txBody>
      </p:sp>
      <p:sp>
        <p:nvSpPr>
          <p:cNvPr id="8" name="TextBox 7"/>
          <p:cNvSpPr txBox="1"/>
          <p:nvPr/>
        </p:nvSpPr>
        <p:spPr>
          <a:xfrm>
            <a:off x="457200" y="1828800"/>
            <a:ext cx="1737360" cy="822960"/>
          </a:xfrm>
          <a:prstGeom prst="rect">
            <a:avLst/>
          </a:prstGeom>
          <a:noFill/>
        </p:spPr>
        <p:txBody>
          <a:bodyPr wrap="square" lIns="0" tIns="0" rIns="0" bIns="0" anchor="ctr">
            <a:noAutofit/>
          </a:bodyPr>
          <a:lstStyle/>
          <a:p>
            <a:pPr algn="l"/>
            <a:r>
              <a:rPr sz="1500" b="1" i="0">
                <a:solidFill>
                  <a:srgbClr val="0C3D6E"/>
                </a:solidFill>
                <a:latin typeface="Open Sans"/>
              </a:rPr>
              <a:t>Sources</a:t>
            </a:r>
          </a:p>
        </p:txBody>
      </p:sp>
      <p:sp>
        <p:nvSpPr>
          <p:cNvPr id="9" name="TextBox 8"/>
          <p:cNvSpPr txBox="1"/>
          <p:nvPr/>
        </p:nvSpPr>
        <p:spPr>
          <a:xfrm>
            <a:off x="2377440" y="1828800"/>
            <a:ext cx="3931920" cy="822960"/>
          </a:xfrm>
          <a:prstGeom prst="rect">
            <a:avLst/>
          </a:prstGeom>
          <a:noFill/>
        </p:spPr>
        <p:txBody>
          <a:bodyPr wrap="square" lIns="0" tIns="0" rIns="0" bIns="0" anchor="ctr">
            <a:noAutofit/>
          </a:bodyPr>
          <a:lstStyle/>
          <a:p>
            <a:pPr algn="l"/>
            <a:r>
              <a:rPr sz="1300" b="0" i="0">
                <a:solidFill>
                  <a:srgbClr val="6B7B8D"/>
                </a:solidFill>
                <a:latin typeface="Open Sans"/>
              </a:rPr>
              <a:t>One or two clean public CSV files, already downloaded</a:t>
            </a:r>
          </a:p>
        </p:txBody>
      </p:sp>
      <p:cxnSp>
        <p:nvCxnSpPr>
          <p:cNvPr id="10" name="Connector 9"/>
          <p:cNvCxnSpPr/>
          <p:nvPr/>
        </p:nvCxnSpPr>
        <p:spPr>
          <a:xfrm>
            <a:off x="6446520" y="2240280"/>
            <a:ext cx="365760" cy="0"/>
          </a:xfrm>
          <a:prstGeom prst="line">
            <a:avLst/>
          </a:prstGeom>
          <a:ln w="19050">
            <a:solidFill>
              <a:srgbClr val="E8742A"/>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49440" y="1828800"/>
            <a:ext cx="4754880" cy="822960"/>
          </a:xfrm>
          <a:prstGeom prst="rect">
            <a:avLst/>
          </a:prstGeom>
          <a:noFill/>
        </p:spPr>
        <p:txBody>
          <a:bodyPr wrap="square" lIns="0" tIns="0" rIns="0" bIns="0" anchor="ctr">
            <a:noAutofit/>
          </a:bodyPr>
          <a:lstStyle/>
          <a:p>
            <a:pPr algn="l"/>
            <a:r>
              <a:rPr sz="1300" b="0" i="0">
                <a:solidFill>
                  <a:srgbClr val="1A2733"/>
                </a:solidFill>
                <a:latin typeface="Open Sans"/>
              </a:rPr>
              <a:t>Several systems (NM, airport databases, METAR and RVR feeds, schedules), each with its owner, format and access rules</a:t>
            </a:r>
          </a:p>
        </p:txBody>
      </p:sp>
      <p:cxnSp>
        <p:nvCxnSpPr>
          <p:cNvPr id="12" name="Connector 11"/>
          <p:cNvCxnSpPr/>
          <p:nvPr/>
        </p:nvCxnSpPr>
        <p:spPr>
          <a:xfrm>
            <a:off x="457200" y="269748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743200"/>
            <a:ext cx="1737360" cy="822960"/>
          </a:xfrm>
          <a:prstGeom prst="rect">
            <a:avLst/>
          </a:prstGeom>
          <a:noFill/>
        </p:spPr>
        <p:txBody>
          <a:bodyPr wrap="square" lIns="0" tIns="0" rIns="0" bIns="0" anchor="ctr">
            <a:noAutofit/>
          </a:bodyPr>
          <a:lstStyle/>
          <a:p>
            <a:pPr algn="l"/>
            <a:r>
              <a:rPr sz="1500" b="1" i="0">
                <a:solidFill>
                  <a:srgbClr val="0C3D6E"/>
                </a:solidFill>
                <a:latin typeface="Open Sans"/>
              </a:rPr>
              <a:t>Joining</a:t>
            </a:r>
          </a:p>
        </p:txBody>
      </p:sp>
      <p:sp>
        <p:nvSpPr>
          <p:cNvPr id="14" name="TextBox 13"/>
          <p:cNvSpPr txBox="1"/>
          <p:nvPr/>
        </p:nvSpPr>
        <p:spPr>
          <a:xfrm>
            <a:off x="2377440" y="2743200"/>
            <a:ext cx="3931920" cy="822960"/>
          </a:xfrm>
          <a:prstGeom prst="rect">
            <a:avLst/>
          </a:prstGeom>
          <a:noFill/>
        </p:spPr>
        <p:txBody>
          <a:bodyPr wrap="square" lIns="0" tIns="0" rIns="0" bIns="0" anchor="ctr">
            <a:noAutofit/>
          </a:bodyPr>
          <a:lstStyle/>
          <a:p>
            <a:pPr algn="l"/>
            <a:r>
              <a:rPr sz="1300" b="0" i="0">
                <a:solidFill>
                  <a:srgbClr val="6B7B8D"/>
                </a:solidFill>
                <a:latin typeface="Open Sans"/>
              </a:rPr>
              <a:t>One airport, one time step</a:t>
            </a:r>
          </a:p>
        </p:txBody>
      </p:sp>
      <p:cxnSp>
        <p:nvCxnSpPr>
          <p:cNvPr id="15" name="Connector 14"/>
          <p:cNvCxnSpPr/>
          <p:nvPr/>
        </p:nvCxnSpPr>
        <p:spPr>
          <a:xfrm>
            <a:off x="6446520" y="3154680"/>
            <a:ext cx="365760" cy="0"/>
          </a:xfrm>
          <a:prstGeom prst="line">
            <a:avLst/>
          </a:prstGeom>
          <a:ln w="19050">
            <a:solidFill>
              <a:srgbClr val="E8742A"/>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949440" y="2743200"/>
            <a:ext cx="4754880" cy="822960"/>
          </a:xfrm>
          <a:prstGeom prst="rect">
            <a:avLst/>
          </a:prstGeom>
          <a:noFill/>
        </p:spPr>
        <p:txBody>
          <a:bodyPr wrap="square" lIns="0" tIns="0" rIns="0" bIns="0" anchor="ctr">
            <a:noAutofit/>
          </a:bodyPr>
          <a:lstStyle/>
          <a:p>
            <a:pPr algn="l"/>
            <a:r>
              <a:rPr sz="1300" b="0" i="0">
                <a:solidFill>
                  <a:srgbClr val="1A2733"/>
                </a:solidFill>
                <a:latin typeface="Open Sans"/>
              </a:rPr>
              <a:t>Time zones, sampling rates and identifiers to align (UTC vs local, ICAO vs IATA codes)</a:t>
            </a:r>
          </a:p>
        </p:txBody>
      </p:sp>
      <p:cxnSp>
        <p:nvCxnSpPr>
          <p:cNvPr id="17" name="Connector 16"/>
          <p:cNvCxnSpPr/>
          <p:nvPr/>
        </p:nvCxnSpPr>
        <p:spPr>
          <a:xfrm>
            <a:off x="457200" y="361188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3657600"/>
            <a:ext cx="1737360" cy="822960"/>
          </a:xfrm>
          <a:prstGeom prst="rect">
            <a:avLst/>
          </a:prstGeom>
          <a:noFill/>
        </p:spPr>
        <p:txBody>
          <a:bodyPr wrap="square" lIns="0" tIns="0" rIns="0" bIns="0" anchor="ctr">
            <a:noAutofit/>
          </a:bodyPr>
          <a:lstStyle/>
          <a:p>
            <a:pPr algn="l"/>
            <a:r>
              <a:rPr sz="1500" b="1" i="0">
                <a:solidFill>
                  <a:srgbClr val="0C3D6E"/>
                </a:solidFill>
                <a:latin typeface="Open Sans"/>
              </a:rPr>
              <a:t>Labels</a:t>
            </a:r>
          </a:p>
        </p:txBody>
      </p:sp>
      <p:sp>
        <p:nvSpPr>
          <p:cNvPr id="19" name="TextBox 18"/>
          <p:cNvSpPr txBox="1"/>
          <p:nvPr/>
        </p:nvSpPr>
        <p:spPr>
          <a:xfrm>
            <a:off x="2377440" y="3657600"/>
            <a:ext cx="3931920" cy="822960"/>
          </a:xfrm>
          <a:prstGeom prst="rect">
            <a:avLst/>
          </a:prstGeom>
          <a:noFill/>
        </p:spPr>
        <p:txBody>
          <a:bodyPr wrap="square" lIns="0" tIns="0" rIns="0" bIns="0" anchor="ctr">
            <a:noAutofit/>
          </a:bodyPr>
          <a:lstStyle/>
          <a:p>
            <a:pPr algn="l"/>
            <a:r>
              <a:rPr sz="1300" b="0" i="0">
                <a:solidFill>
                  <a:srgbClr val="6B7B8D"/>
                </a:solidFill>
                <a:latin typeface="Open Sans"/>
              </a:rPr>
              <a:t>Derived from the data itself (visibility below 1 500 m)</a:t>
            </a:r>
          </a:p>
        </p:txBody>
      </p:sp>
      <p:cxnSp>
        <p:nvCxnSpPr>
          <p:cNvPr id="20" name="Connector 19"/>
          <p:cNvCxnSpPr/>
          <p:nvPr/>
        </p:nvCxnSpPr>
        <p:spPr>
          <a:xfrm>
            <a:off x="6446520" y="4069080"/>
            <a:ext cx="365760" cy="0"/>
          </a:xfrm>
          <a:prstGeom prst="line">
            <a:avLst/>
          </a:prstGeom>
          <a:ln w="19050">
            <a:solidFill>
              <a:srgbClr val="E8742A"/>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949440" y="3657600"/>
            <a:ext cx="4754880" cy="822960"/>
          </a:xfrm>
          <a:prstGeom prst="rect">
            <a:avLst/>
          </a:prstGeom>
          <a:noFill/>
        </p:spPr>
        <p:txBody>
          <a:bodyPr wrap="square" lIns="0" tIns="0" rIns="0" bIns="0" anchor="ctr">
            <a:noAutofit/>
          </a:bodyPr>
          <a:lstStyle/>
          <a:p>
            <a:pPr algn="l"/>
            <a:r>
              <a:rPr sz="1300" b="0" i="0">
                <a:solidFill>
                  <a:srgbClr val="1A2733"/>
                </a:solidFill>
                <a:latin typeface="Open Sans"/>
              </a:rPr>
              <a:t>Often live elsewhere (LVP logs, incident reports) or must be produced by experts</a:t>
            </a:r>
          </a:p>
        </p:txBody>
      </p:sp>
      <p:cxnSp>
        <p:nvCxnSpPr>
          <p:cNvPr id="22" name="Connector 21"/>
          <p:cNvCxnSpPr/>
          <p:nvPr/>
        </p:nvCxnSpPr>
        <p:spPr>
          <a:xfrm>
            <a:off x="457200" y="452628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4572000"/>
            <a:ext cx="1737360" cy="822960"/>
          </a:xfrm>
          <a:prstGeom prst="rect">
            <a:avLst/>
          </a:prstGeom>
          <a:noFill/>
        </p:spPr>
        <p:txBody>
          <a:bodyPr wrap="square" lIns="0" tIns="0" rIns="0" bIns="0" anchor="ctr">
            <a:noAutofit/>
          </a:bodyPr>
          <a:lstStyle/>
          <a:p>
            <a:pPr algn="l"/>
            <a:r>
              <a:rPr sz="1500" b="1" i="0">
                <a:solidFill>
                  <a:srgbClr val="0C3D6E"/>
                </a:solidFill>
                <a:latin typeface="Open Sans"/>
              </a:rPr>
              <a:t>Cleaning</a:t>
            </a:r>
          </a:p>
        </p:txBody>
      </p:sp>
      <p:sp>
        <p:nvSpPr>
          <p:cNvPr id="24" name="TextBox 23"/>
          <p:cNvSpPr txBox="1"/>
          <p:nvPr/>
        </p:nvSpPr>
        <p:spPr>
          <a:xfrm>
            <a:off x="2377440" y="4572000"/>
            <a:ext cx="3931920" cy="822960"/>
          </a:xfrm>
          <a:prstGeom prst="rect">
            <a:avLst/>
          </a:prstGeom>
          <a:noFill/>
        </p:spPr>
        <p:txBody>
          <a:bodyPr wrap="square" lIns="0" tIns="0" rIns="0" bIns="0" anchor="ctr">
            <a:noAutofit/>
          </a:bodyPr>
          <a:lstStyle/>
          <a:p>
            <a:pPr algn="l"/>
            <a:r>
              <a:rPr sz="1300" b="0" i="0">
                <a:solidFill>
                  <a:srgbClr val="6B7B8D"/>
                </a:solidFill>
                <a:latin typeface="Open Sans"/>
              </a:rPr>
              <a:t>A few impossible values, fixed in one cell</a:t>
            </a:r>
          </a:p>
        </p:txBody>
      </p:sp>
      <p:cxnSp>
        <p:nvCxnSpPr>
          <p:cNvPr id="25" name="Connector 24"/>
          <p:cNvCxnSpPr/>
          <p:nvPr/>
        </p:nvCxnSpPr>
        <p:spPr>
          <a:xfrm>
            <a:off x="6446520" y="4983480"/>
            <a:ext cx="365760" cy="0"/>
          </a:xfrm>
          <a:prstGeom prst="line">
            <a:avLst/>
          </a:prstGeom>
          <a:ln w="19050">
            <a:solidFill>
              <a:srgbClr val="E8742A"/>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949440" y="4572000"/>
            <a:ext cx="4754880" cy="822960"/>
          </a:xfrm>
          <a:prstGeom prst="rect">
            <a:avLst/>
          </a:prstGeom>
          <a:noFill/>
        </p:spPr>
        <p:txBody>
          <a:bodyPr wrap="square" lIns="0" tIns="0" rIns="0" bIns="0" anchor="ctr">
            <a:noAutofit/>
          </a:bodyPr>
          <a:lstStyle/>
          <a:p>
            <a:pPr algn="l"/>
            <a:r>
              <a:rPr sz="1300" b="0" i="0">
                <a:solidFill>
                  <a:srgbClr val="1A2733"/>
                </a:solidFill>
                <a:latin typeface="Open Sans"/>
              </a:rPr>
              <a:t>Gaps, duplicates, sensor changes, late corrections: usually the largest effort</a:t>
            </a:r>
          </a:p>
        </p:txBody>
      </p:sp>
      <p:cxnSp>
        <p:nvCxnSpPr>
          <p:cNvPr id="27" name="Connector 26"/>
          <p:cNvCxnSpPr/>
          <p:nvPr/>
        </p:nvCxnSpPr>
        <p:spPr>
          <a:xfrm>
            <a:off x="457200" y="5440680"/>
            <a:ext cx="11274552" cy="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5486400"/>
            <a:ext cx="1737360" cy="822960"/>
          </a:xfrm>
          <a:prstGeom prst="rect">
            <a:avLst/>
          </a:prstGeom>
          <a:noFill/>
        </p:spPr>
        <p:txBody>
          <a:bodyPr wrap="square" lIns="0" tIns="0" rIns="0" bIns="0" anchor="ctr">
            <a:noAutofit/>
          </a:bodyPr>
          <a:lstStyle/>
          <a:p>
            <a:pPr algn="l"/>
            <a:r>
              <a:rPr sz="1500" b="1" i="0">
                <a:solidFill>
                  <a:srgbClr val="0C3D6E"/>
                </a:solidFill>
                <a:latin typeface="Open Sans"/>
              </a:rPr>
              <a:t>Leakage</a:t>
            </a:r>
          </a:p>
        </p:txBody>
      </p:sp>
      <p:sp>
        <p:nvSpPr>
          <p:cNvPr id="29" name="TextBox 28"/>
          <p:cNvSpPr txBox="1"/>
          <p:nvPr/>
        </p:nvSpPr>
        <p:spPr>
          <a:xfrm>
            <a:off x="2377440" y="5486400"/>
            <a:ext cx="3931920" cy="822960"/>
          </a:xfrm>
          <a:prstGeom prst="rect">
            <a:avLst/>
          </a:prstGeom>
          <a:noFill/>
        </p:spPr>
        <p:txBody>
          <a:bodyPr wrap="square" lIns="0" tIns="0" rIns="0" bIns="0" anchor="ctr">
            <a:noAutofit/>
          </a:bodyPr>
          <a:lstStyle/>
          <a:p>
            <a:pPr algn="l"/>
            <a:r>
              <a:rPr sz="1300" b="0" i="0">
                <a:solidFill>
                  <a:srgbClr val="6B7B8D"/>
                </a:solidFill>
                <a:latin typeface="Open Sans"/>
              </a:rPr>
              <a:t>A time-based split is enough</a:t>
            </a:r>
          </a:p>
        </p:txBody>
      </p:sp>
      <p:cxnSp>
        <p:nvCxnSpPr>
          <p:cNvPr id="30" name="Connector 29"/>
          <p:cNvCxnSpPr/>
          <p:nvPr/>
        </p:nvCxnSpPr>
        <p:spPr>
          <a:xfrm>
            <a:off x="6446520" y="5897880"/>
            <a:ext cx="365760" cy="0"/>
          </a:xfrm>
          <a:prstGeom prst="line">
            <a:avLst/>
          </a:prstGeom>
          <a:ln w="19050">
            <a:solidFill>
              <a:srgbClr val="E8742A"/>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949440" y="5486400"/>
            <a:ext cx="4754880" cy="822960"/>
          </a:xfrm>
          <a:prstGeom prst="rect">
            <a:avLst/>
          </a:prstGeom>
          <a:noFill/>
        </p:spPr>
        <p:txBody>
          <a:bodyPr wrap="square" lIns="0" tIns="0" rIns="0" bIns="0" anchor="ctr">
            <a:noAutofit/>
          </a:bodyPr>
          <a:lstStyle/>
          <a:p>
            <a:pPr algn="l"/>
            <a:r>
              <a:rPr sz="1300" b="0" i="0">
                <a:solidFill>
                  <a:srgbClr val="1A2733"/>
                </a:solidFill>
                <a:latin typeface="Open Sans"/>
              </a:rPr>
              <a:t>Also check what is really known at prediction time: tomorrow's schedule yes, tomorrow's actual traffic no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lab to real project: pipelines and memory</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Automate the data path, and stop assuming the dataset fits in memory</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If you cannot rebuild the training set with one command, you cannot retrain safely.</a:t>
            </a:r>
          </a:p>
        </p:txBody>
      </p:sp>
      <p:sp>
        <p:nvSpPr>
          <p:cNvPr id="6" name="Rounded Rectangle 5"/>
          <p:cNvSpPr/>
          <p:nvPr/>
        </p:nvSpPr>
        <p:spPr>
          <a:xfrm>
            <a:off x="457200" y="1463040"/>
            <a:ext cx="1600200" cy="777240"/>
          </a:xfrm>
          <a:prstGeom prst="roundRect">
            <a:avLst>
              <a:gd name="adj" fmla="val 12000"/>
            </a:avLst>
          </a:prstGeom>
          <a:solidFill>
            <a:srgbClr val="EAF3FA"/>
          </a:solidFill>
          <a:ln>
            <a:noFill/>
          </a:ln>
          <a:effectLst/>
        </p:spPr>
        <p:txBody>
          <a:bodyPr rtlCol="0" anchor="ctr"/>
          <a:lstStyle/>
          <a:p>
            <a:pPr algn="ctr"/>
            <a:endParaRPr/>
          </a:p>
        </p:txBody>
      </p:sp>
      <p:sp>
        <p:nvSpPr>
          <p:cNvPr id="7" name="TextBox 6"/>
          <p:cNvSpPr txBox="1"/>
          <p:nvPr/>
        </p:nvSpPr>
        <p:spPr>
          <a:xfrm>
            <a:off x="457200" y="1463040"/>
            <a:ext cx="1600200" cy="777240"/>
          </a:xfrm>
          <a:prstGeom prst="rect">
            <a:avLst/>
          </a:prstGeom>
          <a:noFill/>
        </p:spPr>
        <p:txBody>
          <a:bodyPr wrap="square" lIns="0" tIns="0" rIns="0" bIns="0" anchor="ctr">
            <a:noAutofit/>
          </a:bodyPr>
          <a:lstStyle/>
          <a:p>
            <a:pPr algn="ctr"/>
            <a:r>
              <a:rPr sz="1200" b="1" i="0">
                <a:solidFill>
                  <a:srgbClr val="0C3D6E"/>
                </a:solidFill>
                <a:latin typeface="Open Sans"/>
              </a:rPr>
              <a:t>Sources</a:t>
            </a:r>
          </a:p>
        </p:txBody>
      </p:sp>
      <p:cxnSp>
        <p:nvCxnSpPr>
          <p:cNvPr id="8" name="Connector 7"/>
          <p:cNvCxnSpPr/>
          <p:nvPr/>
        </p:nvCxnSpPr>
        <p:spPr>
          <a:xfrm>
            <a:off x="2093976" y="1851660"/>
            <a:ext cx="265176" cy="0"/>
          </a:xfrm>
          <a:prstGeom prst="line">
            <a:avLst/>
          </a:prstGeom>
          <a:ln w="19050">
            <a:solidFill>
              <a:srgbClr val="3399C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95728" y="1463040"/>
            <a:ext cx="1600200" cy="777240"/>
          </a:xfrm>
          <a:prstGeom prst="roundRect">
            <a:avLst>
              <a:gd name="adj" fmla="val 12000"/>
            </a:avLst>
          </a:prstGeom>
          <a:solidFill>
            <a:srgbClr val="EAF3FA"/>
          </a:solidFill>
          <a:ln>
            <a:noFill/>
          </a:ln>
          <a:effectLst/>
        </p:spPr>
        <p:txBody>
          <a:bodyPr rtlCol="0" anchor="ctr"/>
          <a:lstStyle/>
          <a:p>
            <a:pPr algn="ctr"/>
            <a:endParaRPr/>
          </a:p>
        </p:txBody>
      </p:sp>
      <p:sp>
        <p:nvSpPr>
          <p:cNvPr id="10" name="TextBox 9"/>
          <p:cNvSpPr txBox="1"/>
          <p:nvPr/>
        </p:nvSpPr>
        <p:spPr>
          <a:xfrm>
            <a:off x="2395728" y="1463040"/>
            <a:ext cx="1600200" cy="777240"/>
          </a:xfrm>
          <a:prstGeom prst="rect">
            <a:avLst/>
          </a:prstGeom>
          <a:noFill/>
        </p:spPr>
        <p:txBody>
          <a:bodyPr wrap="square" lIns="0" tIns="0" rIns="0" bIns="0" anchor="ctr">
            <a:noAutofit/>
          </a:bodyPr>
          <a:lstStyle/>
          <a:p>
            <a:pPr algn="ctr"/>
            <a:r>
              <a:rPr sz="1200" b="1" i="0">
                <a:solidFill>
                  <a:srgbClr val="0C3D6E"/>
                </a:solidFill>
                <a:latin typeface="Open Sans"/>
              </a:rPr>
              <a:t>Scheduled</a:t>
            </a:r>
          </a:p>
          <a:p>
            <a:pPr algn="ctr"/>
            <a:r>
              <a:rPr sz="1200" b="1" i="0">
                <a:solidFill>
                  <a:srgbClr val="0C3D6E"/>
                </a:solidFill>
                <a:latin typeface="Open Sans"/>
              </a:rPr>
              <a:t>ingestion</a:t>
            </a:r>
          </a:p>
        </p:txBody>
      </p:sp>
      <p:cxnSp>
        <p:nvCxnSpPr>
          <p:cNvPr id="11" name="Connector 10"/>
          <p:cNvCxnSpPr/>
          <p:nvPr/>
        </p:nvCxnSpPr>
        <p:spPr>
          <a:xfrm>
            <a:off x="4032504" y="1851660"/>
            <a:ext cx="265176" cy="0"/>
          </a:xfrm>
          <a:prstGeom prst="line">
            <a:avLst/>
          </a:prstGeom>
          <a:ln w="19050">
            <a:solidFill>
              <a:srgbClr val="3399C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34256" y="1463040"/>
            <a:ext cx="1600200" cy="777240"/>
          </a:xfrm>
          <a:prstGeom prst="roundRect">
            <a:avLst>
              <a:gd name="adj" fmla="val 12000"/>
            </a:avLst>
          </a:prstGeom>
          <a:solidFill>
            <a:srgbClr val="EAF3FA"/>
          </a:solidFill>
          <a:ln>
            <a:noFill/>
          </a:ln>
          <a:effectLst/>
        </p:spPr>
        <p:txBody>
          <a:bodyPr rtlCol="0" anchor="ctr"/>
          <a:lstStyle/>
          <a:p>
            <a:pPr algn="ctr"/>
            <a:endParaRPr/>
          </a:p>
        </p:txBody>
      </p:sp>
      <p:sp>
        <p:nvSpPr>
          <p:cNvPr id="13" name="TextBox 12"/>
          <p:cNvSpPr txBox="1"/>
          <p:nvPr/>
        </p:nvSpPr>
        <p:spPr>
          <a:xfrm>
            <a:off x="4334256" y="1463040"/>
            <a:ext cx="1600200" cy="777240"/>
          </a:xfrm>
          <a:prstGeom prst="rect">
            <a:avLst/>
          </a:prstGeom>
          <a:noFill/>
        </p:spPr>
        <p:txBody>
          <a:bodyPr wrap="square" lIns="0" tIns="0" rIns="0" bIns="0" anchor="ctr">
            <a:noAutofit/>
          </a:bodyPr>
          <a:lstStyle/>
          <a:p>
            <a:pPr algn="ctr"/>
            <a:r>
              <a:rPr sz="1200" b="1" i="0">
                <a:solidFill>
                  <a:srgbClr val="0C3D6E"/>
                </a:solidFill>
                <a:latin typeface="Open Sans"/>
              </a:rPr>
              <a:t>Versioned</a:t>
            </a:r>
          </a:p>
          <a:p>
            <a:pPr algn="ctr"/>
            <a:r>
              <a:rPr sz="1200" b="1" i="0">
                <a:solidFill>
                  <a:srgbClr val="0C3D6E"/>
                </a:solidFill>
                <a:latin typeface="Open Sans"/>
              </a:rPr>
              <a:t>storage</a:t>
            </a:r>
          </a:p>
        </p:txBody>
      </p:sp>
      <p:cxnSp>
        <p:nvCxnSpPr>
          <p:cNvPr id="14" name="Connector 13"/>
          <p:cNvCxnSpPr/>
          <p:nvPr/>
        </p:nvCxnSpPr>
        <p:spPr>
          <a:xfrm>
            <a:off x="5971032" y="1851660"/>
            <a:ext cx="265176" cy="0"/>
          </a:xfrm>
          <a:prstGeom prst="line">
            <a:avLst/>
          </a:prstGeom>
          <a:ln w="19050">
            <a:solidFill>
              <a:srgbClr val="3399C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72784" y="1463040"/>
            <a:ext cx="1600200" cy="777240"/>
          </a:xfrm>
          <a:prstGeom prst="roundRect">
            <a:avLst>
              <a:gd name="adj" fmla="val 12000"/>
            </a:avLst>
          </a:prstGeom>
          <a:solidFill>
            <a:srgbClr val="0C3D6E"/>
          </a:solidFill>
          <a:ln>
            <a:noFill/>
          </a:ln>
          <a:effectLst/>
        </p:spPr>
        <p:txBody>
          <a:bodyPr rtlCol="0" anchor="ctr"/>
          <a:lstStyle/>
          <a:p>
            <a:pPr algn="ctr"/>
            <a:endParaRPr/>
          </a:p>
        </p:txBody>
      </p:sp>
      <p:sp>
        <p:nvSpPr>
          <p:cNvPr id="16" name="TextBox 15"/>
          <p:cNvSpPr txBox="1"/>
          <p:nvPr/>
        </p:nvSpPr>
        <p:spPr>
          <a:xfrm>
            <a:off x="6272784" y="1463040"/>
            <a:ext cx="1600200" cy="777240"/>
          </a:xfrm>
          <a:prstGeom prst="rect">
            <a:avLst/>
          </a:prstGeom>
          <a:noFill/>
        </p:spPr>
        <p:txBody>
          <a:bodyPr wrap="square" lIns="0" tIns="0" rIns="0" bIns="0" anchor="ctr">
            <a:noAutofit/>
          </a:bodyPr>
          <a:lstStyle/>
          <a:p>
            <a:pPr algn="ctr"/>
            <a:r>
              <a:rPr sz="1200" b="1" i="0">
                <a:solidFill>
                  <a:srgbClr val="FFFFFF"/>
                </a:solidFill>
                <a:latin typeface="Open Sans"/>
              </a:rPr>
              <a:t>Dataset</a:t>
            </a:r>
          </a:p>
          <a:p>
            <a:pPr algn="ctr"/>
            <a:r>
              <a:rPr sz="1200" b="1" i="0">
                <a:solidFill>
                  <a:srgbClr val="FFFFFF"/>
                </a:solidFill>
                <a:latin typeface="Open Sans"/>
              </a:rPr>
              <a:t>(reads from disk)</a:t>
            </a:r>
          </a:p>
        </p:txBody>
      </p:sp>
      <p:cxnSp>
        <p:nvCxnSpPr>
          <p:cNvPr id="17" name="Connector 16"/>
          <p:cNvCxnSpPr/>
          <p:nvPr/>
        </p:nvCxnSpPr>
        <p:spPr>
          <a:xfrm>
            <a:off x="7909559" y="1851660"/>
            <a:ext cx="265177" cy="0"/>
          </a:xfrm>
          <a:prstGeom prst="line">
            <a:avLst/>
          </a:prstGeom>
          <a:ln w="19050">
            <a:solidFill>
              <a:srgbClr val="3399CC"/>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11312" y="1463040"/>
            <a:ext cx="1600200" cy="777240"/>
          </a:xfrm>
          <a:prstGeom prst="roundRect">
            <a:avLst>
              <a:gd name="adj" fmla="val 12000"/>
            </a:avLst>
          </a:prstGeom>
          <a:solidFill>
            <a:srgbClr val="0C3D6E"/>
          </a:solidFill>
          <a:ln>
            <a:noFill/>
          </a:ln>
          <a:effectLst/>
        </p:spPr>
        <p:txBody>
          <a:bodyPr rtlCol="0" anchor="ctr"/>
          <a:lstStyle/>
          <a:p>
            <a:pPr algn="ctr"/>
            <a:endParaRPr/>
          </a:p>
        </p:txBody>
      </p:sp>
      <p:sp>
        <p:nvSpPr>
          <p:cNvPr id="19" name="TextBox 18"/>
          <p:cNvSpPr txBox="1"/>
          <p:nvPr/>
        </p:nvSpPr>
        <p:spPr>
          <a:xfrm>
            <a:off x="8211312" y="1463040"/>
            <a:ext cx="1600200" cy="777240"/>
          </a:xfrm>
          <a:prstGeom prst="rect">
            <a:avLst/>
          </a:prstGeom>
          <a:noFill/>
        </p:spPr>
        <p:txBody>
          <a:bodyPr wrap="square" lIns="0" tIns="0" rIns="0" bIns="0" anchor="ctr">
            <a:noAutofit/>
          </a:bodyPr>
          <a:lstStyle/>
          <a:p>
            <a:pPr algn="ctr"/>
            <a:r>
              <a:rPr sz="1200" b="1" i="0">
                <a:solidFill>
                  <a:srgbClr val="FFFFFF"/>
                </a:solidFill>
                <a:latin typeface="Open Sans"/>
              </a:rPr>
              <a:t>DataLoader</a:t>
            </a:r>
          </a:p>
          <a:p>
            <a:pPr algn="ctr"/>
            <a:r>
              <a:rPr sz="1200" b="1" i="0">
                <a:solidFill>
                  <a:srgbClr val="FFFFFF"/>
                </a:solidFill>
                <a:latin typeface="Open Sans"/>
              </a:rPr>
              <a:t>(batches, workers)</a:t>
            </a:r>
          </a:p>
        </p:txBody>
      </p:sp>
      <p:cxnSp>
        <p:nvCxnSpPr>
          <p:cNvPr id="20" name="Connector 19"/>
          <p:cNvCxnSpPr/>
          <p:nvPr/>
        </p:nvCxnSpPr>
        <p:spPr>
          <a:xfrm>
            <a:off x="9848088" y="1851660"/>
            <a:ext cx="265176" cy="0"/>
          </a:xfrm>
          <a:prstGeom prst="line">
            <a:avLst/>
          </a:prstGeom>
          <a:ln w="19050">
            <a:solidFill>
              <a:srgbClr val="3399CC"/>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149840" y="1463040"/>
            <a:ext cx="1600200" cy="777240"/>
          </a:xfrm>
          <a:prstGeom prst="roundRect">
            <a:avLst>
              <a:gd name="adj" fmla="val 12000"/>
            </a:avLst>
          </a:prstGeom>
          <a:solidFill>
            <a:srgbClr val="EAF3FA"/>
          </a:solidFill>
          <a:ln>
            <a:noFill/>
          </a:ln>
          <a:effectLst/>
        </p:spPr>
        <p:txBody>
          <a:bodyPr rtlCol="0" anchor="ctr"/>
          <a:lstStyle/>
          <a:p>
            <a:pPr algn="ctr"/>
            <a:endParaRPr/>
          </a:p>
        </p:txBody>
      </p:sp>
      <p:sp>
        <p:nvSpPr>
          <p:cNvPr id="22" name="TextBox 21"/>
          <p:cNvSpPr txBox="1"/>
          <p:nvPr/>
        </p:nvSpPr>
        <p:spPr>
          <a:xfrm>
            <a:off x="10149840" y="1463040"/>
            <a:ext cx="1600200" cy="777240"/>
          </a:xfrm>
          <a:prstGeom prst="rect">
            <a:avLst/>
          </a:prstGeom>
          <a:noFill/>
        </p:spPr>
        <p:txBody>
          <a:bodyPr wrap="square" lIns="0" tIns="0" rIns="0" bIns="0" anchor="ctr">
            <a:noAutofit/>
          </a:bodyPr>
          <a:lstStyle/>
          <a:p>
            <a:pPr algn="ctr"/>
            <a:r>
              <a:rPr sz="1200" b="1" i="0">
                <a:solidFill>
                  <a:srgbClr val="0C3D6E"/>
                </a:solidFill>
                <a:latin typeface="Open Sans"/>
              </a:rPr>
              <a:t>Training</a:t>
            </a:r>
          </a:p>
        </p:txBody>
      </p:sp>
      <p:sp>
        <p:nvSpPr>
          <p:cNvPr id="23" name="TextBox 22"/>
          <p:cNvSpPr txBox="1"/>
          <p:nvPr/>
        </p:nvSpPr>
        <p:spPr>
          <a:xfrm>
            <a:off x="457200" y="2560320"/>
            <a:ext cx="5577840" cy="914400"/>
          </a:xfrm>
          <a:prstGeom prst="rect">
            <a:avLst/>
          </a:prstGeom>
          <a:noFill/>
        </p:spPr>
        <p:txBody>
          <a:bodyPr wrap="square" lIns="0" tIns="0" rIns="0" bIns="0" anchor="t">
            <a:noAutofit/>
          </a:bodyPr>
          <a:lstStyle/>
          <a:p>
            <a:pPr algn="l">
              <a:spcAft>
                <a:spcPts val="200"/>
              </a:spcAft>
            </a:pPr>
            <a:r>
              <a:rPr sz="1500" b="1" i="0">
                <a:solidFill>
                  <a:srgbClr val="0C3D6E"/>
                </a:solidFill>
                <a:latin typeface="Open Sans"/>
              </a:rPr>
              <a:t>Streamline the gathering</a:t>
            </a:r>
          </a:p>
          <a:p>
            <a:pPr algn="l"/>
            <a:r>
              <a:rPr sz="1300" b="0" i="0">
                <a:solidFill>
                  <a:srgbClr val="1A2733"/>
                </a:solidFill>
                <a:latin typeface="Open Sans"/>
              </a:rPr>
              <a:t>One scheduled job pulls and checks the data. No manual downloads, no copy-paste between files.</a:t>
            </a:r>
          </a:p>
        </p:txBody>
      </p:sp>
      <p:sp>
        <p:nvSpPr>
          <p:cNvPr id="24" name="TextBox 23"/>
          <p:cNvSpPr txBox="1"/>
          <p:nvPr/>
        </p:nvSpPr>
        <p:spPr>
          <a:xfrm>
            <a:off x="457200" y="3502152"/>
            <a:ext cx="5577840" cy="914400"/>
          </a:xfrm>
          <a:prstGeom prst="rect">
            <a:avLst/>
          </a:prstGeom>
          <a:noFill/>
        </p:spPr>
        <p:txBody>
          <a:bodyPr wrap="square" lIns="0" tIns="0" rIns="0" bIns="0" anchor="t">
            <a:noAutofit/>
          </a:bodyPr>
          <a:lstStyle/>
          <a:p>
            <a:pPr algn="l">
              <a:spcAft>
                <a:spcPts val="200"/>
              </a:spcAft>
            </a:pPr>
            <a:r>
              <a:rPr sz="1500" b="1" i="0">
                <a:solidFill>
                  <a:srgbClr val="0C3D6E"/>
                </a:solidFill>
                <a:latin typeface="Open Sans"/>
              </a:rPr>
              <a:t>Same code for training and serving</a:t>
            </a:r>
          </a:p>
          <a:p>
            <a:pPr algn="l"/>
            <a:r>
              <a:rPr sz="1300" b="0" i="0">
                <a:solidFill>
                  <a:srgbClr val="1A2733"/>
                </a:solidFill>
                <a:latin typeface="Open Sans"/>
              </a:rPr>
              <a:t>Ex. 3 already does it: lvp_core.py builds the inputs for both, so they cannot drift apart.</a:t>
            </a:r>
          </a:p>
        </p:txBody>
      </p:sp>
      <p:sp>
        <p:nvSpPr>
          <p:cNvPr id="25" name="TextBox 24"/>
          <p:cNvSpPr txBox="1"/>
          <p:nvPr/>
        </p:nvSpPr>
        <p:spPr>
          <a:xfrm>
            <a:off x="457200" y="4443984"/>
            <a:ext cx="5577840" cy="914400"/>
          </a:xfrm>
          <a:prstGeom prst="rect">
            <a:avLst/>
          </a:prstGeom>
          <a:noFill/>
        </p:spPr>
        <p:txBody>
          <a:bodyPr wrap="square" lIns="0" tIns="0" rIns="0" bIns="0" anchor="t">
            <a:noAutofit/>
          </a:bodyPr>
          <a:lstStyle/>
          <a:p>
            <a:pPr algn="l">
              <a:spcAft>
                <a:spcPts val="200"/>
              </a:spcAft>
            </a:pPr>
            <a:r>
              <a:rPr sz="1500" b="1" i="0">
                <a:solidFill>
                  <a:srgbClr val="0C3D6E"/>
                </a:solidFill>
                <a:latin typeface="Open Sans"/>
              </a:rPr>
              <a:t>Version data with the model</a:t>
            </a:r>
          </a:p>
          <a:p>
            <a:pPr algn="l"/>
            <a:r>
              <a:rPr sz="1300" b="0" i="0">
                <a:solidFill>
                  <a:srgbClr val="1A2733"/>
                </a:solidFill>
                <a:latin typeface="Open Sans"/>
              </a:rPr>
              <a:t>The model card should name the data, the period and the code that produced it.</a:t>
            </a:r>
          </a:p>
        </p:txBody>
      </p:sp>
      <p:sp>
        <p:nvSpPr>
          <p:cNvPr id="26" name="TextBox 25"/>
          <p:cNvSpPr txBox="1"/>
          <p:nvPr/>
        </p:nvSpPr>
        <p:spPr>
          <a:xfrm>
            <a:off x="457200" y="5385816"/>
            <a:ext cx="5577840" cy="914400"/>
          </a:xfrm>
          <a:prstGeom prst="rect">
            <a:avLst/>
          </a:prstGeom>
          <a:noFill/>
        </p:spPr>
        <p:txBody>
          <a:bodyPr wrap="square" lIns="0" tIns="0" rIns="0" bIns="0" anchor="t">
            <a:noAutofit/>
          </a:bodyPr>
          <a:lstStyle/>
          <a:p>
            <a:pPr algn="l">
              <a:spcAft>
                <a:spcPts val="200"/>
              </a:spcAft>
            </a:pPr>
            <a:r>
              <a:rPr sz="1500" b="1" i="0">
                <a:solidFill>
                  <a:srgbClr val="0C3D6E"/>
                </a:solidFill>
                <a:latin typeface="Open Sans"/>
              </a:rPr>
              <a:t>Watch it after release</a:t>
            </a:r>
          </a:p>
          <a:p>
            <a:pPr algn="l"/>
            <a:r>
              <a:rPr sz="1300" b="0" i="0">
                <a:solidFill>
                  <a:srgbClr val="1A2733"/>
                </a:solidFill>
                <a:latin typeface="Open Sans"/>
              </a:rPr>
              <a:t>Ex. 2: a threshold chosen for 80 % recall on 2024 gives 77.5 % on 2025. Data drift is normal; monitor and retrain.</a:t>
            </a:r>
          </a:p>
        </p:txBody>
      </p:sp>
      <p:sp>
        <p:nvSpPr>
          <p:cNvPr id="27" name="TextBox 26"/>
          <p:cNvSpPr txBox="1"/>
          <p:nvPr/>
        </p:nvSpPr>
        <p:spPr>
          <a:xfrm>
            <a:off x="6355080" y="2560320"/>
            <a:ext cx="5303520" cy="274320"/>
          </a:xfrm>
          <a:prstGeom prst="rect">
            <a:avLst/>
          </a:prstGeom>
          <a:noFill/>
        </p:spPr>
        <p:txBody>
          <a:bodyPr wrap="square" lIns="0" tIns="0" rIns="0" bIns="0" anchor="t">
            <a:noAutofit/>
          </a:bodyPr>
          <a:lstStyle/>
          <a:p>
            <a:pPr algn="l"/>
            <a:r>
              <a:rPr sz="1100" b="1" i="0">
                <a:solidFill>
                  <a:srgbClr val="6B7B8D"/>
                </a:solidFill>
                <a:latin typeface="Open Sans"/>
              </a:rPr>
              <a:t>BATCH BY BATCH FROM DISK</a:t>
            </a:r>
          </a:p>
        </p:txBody>
      </p:sp>
      <p:sp>
        <p:nvSpPr>
          <p:cNvPr id="28" name="Rectangle 27"/>
          <p:cNvSpPr/>
          <p:nvPr/>
        </p:nvSpPr>
        <p:spPr>
          <a:xfrm>
            <a:off x="6355080" y="2880360"/>
            <a:ext cx="5376672" cy="2240280"/>
          </a:xfrm>
          <a:prstGeom prst="rect">
            <a:avLst/>
          </a:prstGeom>
          <a:solidFill>
            <a:srgbClr val="F3F5F8"/>
          </a:solidFill>
          <a:ln>
            <a:noFill/>
          </a:ln>
          <a:effectLst/>
        </p:spPr>
        <p:txBody>
          <a:bodyPr rtlCol="0" anchor="ctr"/>
          <a:lstStyle/>
          <a:p>
            <a:pPr algn="ctr"/>
            <a:endParaRPr/>
          </a:p>
        </p:txBody>
      </p:sp>
      <p:sp>
        <p:nvSpPr>
          <p:cNvPr id="29" name="TextBox 28"/>
          <p:cNvSpPr txBox="1"/>
          <p:nvPr/>
        </p:nvSpPr>
        <p:spPr>
          <a:xfrm>
            <a:off x="6492240" y="2971800"/>
            <a:ext cx="5102352" cy="2057400"/>
          </a:xfrm>
          <a:prstGeom prst="rect">
            <a:avLst/>
          </a:prstGeom>
          <a:noFill/>
        </p:spPr>
        <p:txBody>
          <a:bodyPr wrap="square" lIns="0" tIns="0" rIns="0" bIns="0" anchor="t">
            <a:noAutofit/>
          </a:bodyPr>
          <a:lstStyle/>
          <a:p>
            <a:pPr algn="l">
              <a:spcAft>
                <a:spcPts val="200"/>
              </a:spcAft>
            </a:pPr>
            <a:r>
              <a:rPr sz="1050" b="0" i="0">
                <a:solidFill>
                  <a:srgbClr val="1A2733"/>
                </a:solidFill>
                <a:latin typeface="Courier New"/>
              </a:rPr>
              <a:t>X = np.load("X_train.npy", mmap_mode="r")  # on disk</a:t>
            </a:r>
          </a:p>
          <a:p>
            <a:pPr algn="l">
              <a:spcAft>
                <a:spcPts val="200"/>
              </a:spcAft>
            </a:pPr>
            <a:r>
              <a:rPr sz="1050" b="0" i="0">
                <a:solidFill>
                  <a:srgbClr val="1A2733"/>
                </a:solidFill>
                <a:latin typeface="Courier New"/>
              </a:rPr>
              <a:t>y = np.load("y_train.npy")</a:t>
            </a:r>
          </a:p>
          <a:p>
            <a:pPr algn="l">
              <a:spcAft>
                <a:spcPts val="200"/>
              </a:spcAft>
            </a:pPr>
            <a:endParaRPr sz="1050" b="0" i="0">
              <a:solidFill>
                <a:srgbClr val="1A2733"/>
              </a:solidFill>
              <a:latin typeface="Courier New"/>
            </a:endParaRPr>
          </a:p>
          <a:p>
            <a:pPr algn="l">
              <a:spcAft>
                <a:spcPts val="200"/>
              </a:spcAft>
            </a:pPr>
            <a:r>
              <a:rPr sz="1050" b="0" i="0">
                <a:solidFill>
                  <a:srgbClr val="1A2733"/>
                </a:solidFill>
                <a:latin typeface="Courier New"/>
              </a:rPr>
              <a:t>class Hours(Dataset):</a:t>
            </a:r>
          </a:p>
          <a:p>
            <a:pPr algn="l">
              <a:spcAft>
                <a:spcPts val="200"/>
              </a:spcAft>
            </a:pPr>
            <a:r>
              <a:rPr sz="1050" b="0" i="0">
                <a:solidFill>
                  <a:srgbClr val="1A2733"/>
                </a:solidFill>
                <a:latin typeface="Courier New"/>
              </a:rPr>
              <a:t>    def __len__(self): return len(X)</a:t>
            </a:r>
          </a:p>
          <a:p>
            <a:pPr algn="l">
              <a:spcAft>
                <a:spcPts val="200"/>
              </a:spcAft>
            </a:pPr>
            <a:r>
              <a:rPr sz="1050" b="0" i="0">
                <a:solidFill>
                  <a:srgbClr val="1A2733"/>
                </a:solidFill>
                <a:latin typeface="Courier New"/>
              </a:rPr>
              <a:t>    def __getitem__(self, i):            # read one row</a:t>
            </a:r>
          </a:p>
          <a:p>
            <a:pPr algn="l">
              <a:spcAft>
                <a:spcPts val="200"/>
              </a:spcAft>
            </a:pPr>
            <a:r>
              <a:rPr sz="1050" b="0" i="0">
                <a:solidFill>
                  <a:srgbClr val="1A2733"/>
                </a:solidFill>
                <a:latin typeface="Courier New"/>
              </a:rPr>
              <a:t>        return torch.from_numpy(np.array(X[i])), y[i]</a:t>
            </a:r>
          </a:p>
          <a:p>
            <a:pPr algn="l">
              <a:spcAft>
                <a:spcPts val="200"/>
              </a:spcAft>
            </a:pPr>
            <a:endParaRPr sz="1050" b="0" i="0">
              <a:solidFill>
                <a:srgbClr val="1A2733"/>
              </a:solidFill>
              <a:latin typeface="Courier New"/>
            </a:endParaRPr>
          </a:p>
          <a:p>
            <a:pPr algn="l">
              <a:spcAft>
                <a:spcPts val="200"/>
              </a:spcAft>
            </a:pPr>
            <a:r>
              <a:rPr sz="1050" b="0" i="0">
                <a:solidFill>
                  <a:srgbClr val="1A2733"/>
                </a:solidFill>
                <a:latin typeface="Courier New"/>
              </a:rPr>
              <a:t>loader = DataLoader(Hours(), batch_size=256,</a:t>
            </a:r>
          </a:p>
          <a:p>
            <a:pPr algn="l"/>
            <a:r>
              <a:rPr sz="1050" b="0" i="0">
                <a:solidFill>
                  <a:srgbClr val="1A2733"/>
                </a:solidFill>
                <a:latin typeface="Courier New"/>
              </a:rPr>
              <a:t>                    shuffle=True, num_workers=4)</a:t>
            </a:r>
          </a:p>
        </p:txBody>
      </p:sp>
      <p:sp>
        <p:nvSpPr>
          <p:cNvPr id="30" name="TextBox 29"/>
          <p:cNvSpPr txBox="1"/>
          <p:nvPr/>
        </p:nvSpPr>
        <p:spPr>
          <a:xfrm>
            <a:off x="6355080" y="5257800"/>
            <a:ext cx="5376672" cy="1097280"/>
          </a:xfrm>
          <a:prstGeom prst="rect">
            <a:avLst/>
          </a:prstGeom>
          <a:noFill/>
        </p:spPr>
        <p:txBody>
          <a:bodyPr wrap="square" lIns="0" tIns="0" rIns="0" bIns="0" anchor="t">
            <a:noAutofit/>
          </a:bodyPr>
          <a:lstStyle/>
          <a:p>
            <a:pPr algn="l"/>
            <a:r>
              <a:rPr sz="1200" b="0" i="0">
                <a:solidFill>
                  <a:srgbClr val="6B7B8D"/>
                </a:solidFill>
                <a:latin typeface="Open Sans"/>
              </a:rPr>
              <a:t>In the labs, about 52 000 rows sit in memory as one tensor. With years of data from many airports they won't: keep the data on disk and let the DataLoader fetch only the rows of the next batch.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Keep going: resources for hands-on practice</a:t>
            </a:r>
          </a:p>
        </p:txBody>
      </p:sp>
      <p:sp>
        <p:nvSpPr>
          <p:cNvPr id="3" name="TextBox 2"/>
          <p:cNvSpPr txBox="1"/>
          <p:nvPr/>
        </p:nvSpPr>
        <p:spPr>
          <a:xfrm>
            <a:off x="457200" y="896112"/>
            <a:ext cx="11247120" cy="365760"/>
          </a:xfrm>
          <a:prstGeom prst="rect">
            <a:avLst/>
          </a:prstGeom>
          <a:noFill/>
        </p:spPr>
        <p:txBody>
          <a:bodyPr wrap="square" lIns="0" tIns="0" rIns="0" bIns="0" anchor="t">
            <a:noAutofit/>
          </a:bodyPr>
          <a:lstStyle/>
          <a:p>
            <a:pPr algn="l"/>
            <a:r>
              <a:rPr sz="1600" b="0" i="1">
                <a:solidFill>
                  <a:srgbClr val="3399CC"/>
                </a:solidFill>
                <a:latin typeface="Open Sans"/>
              </a:rPr>
              <a:t>Free tutorials, ready datasets and pre-trained models, all usable from Colab</a:t>
            </a:r>
          </a:p>
        </p:txBody>
      </p:sp>
      <p:sp>
        <p:nvSpPr>
          <p:cNvPr id="4" name="Rectangle 3"/>
          <p:cNvSpPr/>
          <p:nvPr/>
        </p:nvSpPr>
        <p:spPr>
          <a:xfrm>
            <a:off x="0" y="6556248"/>
            <a:ext cx="12191695" cy="301752"/>
          </a:xfrm>
          <a:prstGeom prst="rect">
            <a:avLst/>
          </a:prstGeom>
          <a:solidFill>
            <a:srgbClr val="0C3D6E"/>
          </a:solidFill>
          <a:ln>
            <a:noFill/>
          </a:ln>
          <a:effectLst/>
        </p:spPr>
        <p:txBody>
          <a:bodyPr rtlCol="0" anchor="ctr"/>
          <a:lstStyle/>
          <a:p>
            <a:pPr algn="ctr"/>
            <a:endParaRPr/>
          </a:p>
        </p:txBody>
      </p:sp>
      <p:sp>
        <p:nvSpPr>
          <p:cNvPr id="5" name="TextBox 4"/>
          <p:cNvSpPr txBox="1"/>
          <p:nvPr/>
        </p:nvSpPr>
        <p:spPr>
          <a:xfrm>
            <a:off x="457200" y="6556248"/>
            <a:ext cx="11247120" cy="301752"/>
          </a:xfrm>
          <a:prstGeom prst="rect">
            <a:avLst/>
          </a:prstGeom>
          <a:noFill/>
        </p:spPr>
        <p:txBody>
          <a:bodyPr wrap="square" lIns="0" tIns="0" rIns="0" bIns="0" anchor="ctr">
            <a:noAutofit/>
          </a:bodyPr>
          <a:lstStyle/>
          <a:p>
            <a:pPr algn="l"/>
            <a:r>
              <a:rPr sz="1400" b="0" i="1">
                <a:solidFill>
                  <a:srgbClr val="FFFFFF"/>
                </a:solidFill>
                <a:latin typeface="Open Sans"/>
              </a:rPr>
              <a:t>Before using any dataset or model in a project, check its licence and how the data was collected.</a:t>
            </a:r>
          </a:p>
        </p:txBody>
      </p:sp>
      <p:sp>
        <p:nvSpPr>
          <p:cNvPr id="6" name="TextBox 5"/>
          <p:cNvSpPr txBox="1"/>
          <p:nvPr/>
        </p:nvSpPr>
        <p:spPr>
          <a:xfrm>
            <a:off x="457200" y="1417320"/>
            <a:ext cx="2544318" cy="274320"/>
          </a:xfrm>
          <a:prstGeom prst="rect">
            <a:avLst/>
          </a:prstGeom>
          <a:noFill/>
        </p:spPr>
        <p:txBody>
          <a:bodyPr wrap="square" lIns="0" tIns="0" rIns="0" bIns="0" anchor="t">
            <a:noAutofit/>
          </a:bodyPr>
          <a:lstStyle/>
          <a:p>
            <a:pPr algn="l"/>
            <a:r>
              <a:rPr sz="1200" b="1" i="0">
                <a:solidFill>
                  <a:srgbClr val="3399CC"/>
                </a:solidFill>
                <a:latin typeface="Open Sans"/>
              </a:rPr>
              <a:t>LEARN PYTORCH</a:t>
            </a:r>
          </a:p>
        </p:txBody>
      </p:sp>
      <p:sp>
        <p:nvSpPr>
          <p:cNvPr id="7" name="TextBox 6"/>
          <p:cNvSpPr txBox="1"/>
          <p:nvPr/>
        </p:nvSpPr>
        <p:spPr>
          <a:xfrm>
            <a:off x="457200" y="1783080"/>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PyTorch Tutorials</a:t>
            </a:r>
          </a:p>
          <a:p>
            <a:pPr algn="l">
              <a:spcAft>
                <a:spcPts val="100"/>
              </a:spcAft>
            </a:pPr>
            <a:r>
              <a:rPr sz="1100" b="0" i="0">
                <a:solidFill>
                  <a:srgbClr val="3399CC"/>
                </a:solidFill>
                <a:latin typeface="Open Sans"/>
                <a:hlinkClick r:id="rId2"/>
              </a:rPr>
              <a:t>pytorch.org/tutorials</a:t>
            </a:r>
          </a:p>
          <a:p>
            <a:pPr algn="l"/>
            <a:r>
              <a:rPr sz="1150" b="0" i="0">
                <a:solidFill>
                  <a:srgbClr val="1A2733"/>
                </a:solidFill>
                <a:latin typeface="Open Sans"/>
              </a:rPr>
              <a:t>The official path: start with “Learn the Basics”; every page opens in Colab</a:t>
            </a:r>
          </a:p>
        </p:txBody>
      </p:sp>
      <p:sp>
        <p:nvSpPr>
          <p:cNvPr id="8" name="TextBox 7"/>
          <p:cNvSpPr txBox="1"/>
          <p:nvPr/>
        </p:nvSpPr>
        <p:spPr>
          <a:xfrm>
            <a:off x="457200" y="2862072"/>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Learn PyTorch (D. Bourke)</a:t>
            </a:r>
          </a:p>
          <a:p>
            <a:pPr algn="l">
              <a:spcAft>
                <a:spcPts val="100"/>
              </a:spcAft>
            </a:pPr>
            <a:r>
              <a:rPr sz="1100" b="0" i="0">
                <a:solidFill>
                  <a:srgbClr val="3399CC"/>
                </a:solidFill>
                <a:latin typeface="Open Sans"/>
                <a:hlinkClick r:id="rId3"/>
              </a:rPr>
              <a:t>learnpytorch.io</a:t>
            </a:r>
          </a:p>
          <a:p>
            <a:pPr algn="l"/>
            <a:r>
              <a:rPr sz="1150" b="0" i="0">
                <a:solidFill>
                  <a:srgbClr val="1A2733"/>
                </a:solidFill>
                <a:latin typeface="Open Sans"/>
              </a:rPr>
              <a:t>Free notebook course, from tensors to deployment</a:t>
            </a:r>
          </a:p>
        </p:txBody>
      </p:sp>
      <p:sp>
        <p:nvSpPr>
          <p:cNvPr id="9" name="TextBox 8"/>
          <p:cNvSpPr txBox="1"/>
          <p:nvPr/>
        </p:nvSpPr>
        <p:spPr>
          <a:xfrm>
            <a:off x="457200" y="3941063"/>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Dive into Deep Learning</a:t>
            </a:r>
          </a:p>
          <a:p>
            <a:pPr algn="l">
              <a:spcAft>
                <a:spcPts val="100"/>
              </a:spcAft>
            </a:pPr>
            <a:r>
              <a:rPr sz="1100" b="0" i="0">
                <a:solidFill>
                  <a:srgbClr val="3399CC"/>
                </a:solidFill>
                <a:latin typeface="Open Sans"/>
                <a:hlinkClick r:id="rId4"/>
              </a:rPr>
              <a:t>d2l.ai</a:t>
            </a:r>
          </a:p>
          <a:p>
            <a:pPr algn="l"/>
            <a:r>
              <a:rPr sz="1150" b="0" i="0">
                <a:solidFill>
                  <a:srgbClr val="1A2733"/>
                </a:solidFill>
                <a:latin typeface="Open Sans"/>
              </a:rPr>
              <a:t>Open book with runnable PyTorch code in every chapter</a:t>
            </a:r>
          </a:p>
        </p:txBody>
      </p:sp>
      <p:cxnSp>
        <p:nvCxnSpPr>
          <p:cNvPr id="10" name="Connector 9"/>
          <p:cNvCxnSpPr/>
          <p:nvPr/>
        </p:nvCxnSpPr>
        <p:spPr>
          <a:xfrm>
            <a:off x="3166110" y="1463040"/>
            <a:ext cx="0" cy="352044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275838" y="1417320"/>
            <a:ext cx="2544318" cy="274320"/>
          </a:xfrm>
          <a:prstGeom prst="rect">
            <a:avLst/>
          </a:prstGeom>
          <a:noFill/>
        </p:spPr>
        <p:txBody>
          <a:bodyPr wrap="square" lIns="0" tIns="0" rIns="0" bIns="0" anchor="t">
            <a:noAutofit/>
          </a:bodyPr>
          <a:lstStyle/>
          <a:p>
            <a:pPr algn="l"/>
            <a:r>
              <a:rPr sz="1200" b="1" i="0">
                <a:solidFill>
                  <a:srgbClr val="0C3D6E"/>
                </a:solidFill>
                <a:latin typeface="Open Sans"/>
              </a:rPr>
              <a:t>FIND DATASETS</a:t>
            </a:r>
          </a:p>
        </p:txBody>
      </p:sp>
      <p:sp>
        <p:nvSpPr>
          <p:cNvPr id="12" name="TextBox 11"/>
          <p:cNvSpPr txBox="1"/>
          <p:nvPr/>
        </p:nvSpPr>
        <p:spPr>
          <a:xfrm>
            <a:off x="3275838" y="1783080"/>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Hugging Face Datasets</a:t>
            </a:r>
          </a:p>
          <a:p>
            <a:pPr algn="l">
              <a:spcAft>
                <a:spcPts val="100"/>
              </a:spcAft>
            </a:pPr>
            <a:r>
              <a:rPr sz="1100" b="0" i="0">
                <a:solidFill>
                  <a:srgbClr val="3399CC"/>
                </a:solidFill>
                <a:latin typeface="Open Sans"/>
                <a:hlinkClick r:id="rId5"/>
              </a:rPr>
              <a:t>huggingface.co/datasets</a:t>
            </a:r>
          </a:p>
          <a:p>
            <a:pPr algn="l"/>
            <a:r>
              <a:rPr sz="1150" b="0" i="0">
                <a:solidFill>
                  <a:srgbClr val="1A2733"/>
                </a:solidFill>
                <a:latin typeface="Open Sans"/>
              </a:rPr>
              <a:t>Hundreds of thousands of datasets, loaded with one line</a:t>
            </a:r>
          </a:p>
        </p:txBody>
      </p:sp>
      <p:sp>
        <p:nvSpPr>
          <p:cNvPr id="13" name="TextBox 12"/>
          <p:cNvSpPr txBox="1"/>
          <p:nvPr/>
        </p:nvSpPr>
        <p:spPr>
          <a:xfrm>
            <a:off x="3275838" y="2862072"/>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Built into PyTorch</a:t>
            </a:r>
          </a:p>
          <a:p>
            <a:pPr algn="l">
              <a:spcAft>
                <a:spcPts val="100"/>
              </a:spcAft>
            </a:pPr>
            <a:r>
              <a:rPr sz="1100" b="0" i="0">
                <a:solidFill>
                  <a:srgbClr val="3399CC"/>
                </a:solidFill>
                <a:latin typeface="Open Sans"/>
                <a:hlinkClick r:id="rId6"/>
              </a:rPr>
              <a:t>torchvision / torchaudio datasets</a:t>
            </a:r>
          </a:p>
          <a:p>
            <a:pPr algn="l"/>
            <a:r>
              <a:rPr sz="1150" b="0" i="0">
                <a:solidFill>
                  <a:srgbClr val="1A2733"/>
                </a:solidFill>
                <a:latin typeface="Open Sans"/>
              </a:rPr>
              <a:t>Classic benchmarks (MNIST, CIFAR…) downloaded on first use</a:t>
            </a:r>
          </a:p>
        </p:txBody>
      </p:sp>
      <p:sp>
        <p:nvSpPr>
          <p:cNvPr id="14" name="TextBox 13"/>
          <p:cNvSpPr txBox="1"/>
          <p:nvPr/>
        </p:nvSpPr>
        <p:spPr>
          <a:xfrm>
            <a:off x="3275838" y="3941063"/>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Kaggle</a:t>
            </a:r>
          </a:p>
          <a:p>
            <a:pPr algn="l">
              <a:spcAft>
                <a:spcPts val="100"/>
              </a:spcAft>
            </a:pPr>
            <a:r>
              <a:rPr sz="1100" b="0" i="0">
                <a:solidFill>
                  <a:srgbClr val="3399CC"/>
                </a:solidFill>
                <a:latin typeface="Open Sans"/>
                <a:hlinkClick r:id="rId7"/>
              </a:rPr>
              <a:t>kaggle.com/datasets</a:t>
            </a:r>
          </a:p>
          <a:p>
            <a:pPr algn="l"/>
            <a:r>
              <a:rPr sz="1150" b="0" i="0">
                <a:solidFill>
                  <a:srgbClr val="1A2733"/>
                </a:solidFill>
                <a:latin typeface="Open Sans"/>
              </a:rPr>
              <a:t>Datasets with community notebooks; short courses at kaggle.com/learn</a:t>
            </a:r>
          </a:p>
        </p:txBody>
      </p:sp>
      <p:cxnSp>
        <p:nvCxnSpPr>
          <p:cNvPr id="15" name="Connector 14"/>
          <p:cNvCxnSpPr/>
          <p:nvPr/>
        </p:nvCxnSpPr>
        <p:spPr>
          <a:xfrm>
            <a:off x="5984748" y="1463040"/>
            <a:ext cx="0" cy="352044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4476" y="1417320"/>
            <a:ext cx="2544318" cy="274320"/>
          </a:xfrm>
          <a:prstGeom prst="rect">
            <a:avLst/>
          </a:prstGeom>
          <a:noFill/>
        </p:spPr>
        <p:txBody>
          <a:bodyPr wrap="square" lIns="0" tIns="0" rIns="0" bIns="0" anchor="t">
            <a:noAutofit/>
          </a:bodyPr>
          <a:lstStyle/>
          <a:p>
            <a:pPr algn="l"/>
            <a:r>
              <a:rPr sz="1200" b="1" i="0">
                <a:solidFill>
                  <a:srgbClr val="E8742A"/>
                </a:solidFill>
                <a:latin typeface="Open Sans"/>
              </a:rPr>
              <a:t>FIND MODELS</a:t>
            </a:r>
          </a:p>
        </p:txBody>
      </p:sp>
      <p:sp>
        <p:nvSpPr>
          <p:cNvPr id="17" name="TextBox 16"/>
          <p:cNvSpPr txBox="1"/>
          <p:nvPr/>
        </p:nvSpPr>
        <p:spPr>
          <a:xfrm>
            <a:off x="6094476" y="1783080"/>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Hugging Face Hub</a:t>
            </a:r>
          </a:p>
          <a:p>
            <a:pPr algn="l">
              <a:spcAft>
                <a:spcPts val="100"/>
              </a:spcAft>
            </a:pPr>
            <a:r>
              <a:rPr sz="1100" b="0" i="0">
                <a:solidFill>
                  <a:srgbClr val="3399CC"/>
                </a:solidFill>
                <a:latin typeface="Open Sans"/>
                <a:hlinkClick r:id="rId8"/>
              </a:rPr>
              <a:t>huggingface.co/models</a:t>
            </a:r>
          </a:p>
          <a:p>
            <a:pPr algn="l"/>
            <a:r>
              <a:rPr sz="1150" b="0" i="0">
                <a:solidFill>
                  <a:srgbClr val="1A2733"/>
                </a:solidFill>
                <a:latin typeface="Open Sans"/>
              </a:rPr>
              <a:t>Pre-trained models to download, fine-tune, or try in the browser</a:t>
            </a:r>
          </a:p>
        </p:txBody>
      </p:sp>
      <p:sp>
        <p:nvSpPr>
          <p:cNvPr id="18" name="TextBox 17"/>
          <p:cNvSpPr txBox="1"/>
          <p:nvPr/>
        </p:nvSpPr>
        <p:spPr>
          <a:xfrm>
            <a:off x="6094476" y="2862072"/>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Hugging Face Learn</a:t>
            </a:r>
          </a:p>
          <a:p>
            <a:pPr algn="l">
              <a:spcAft>
                <a:spcPts val="100"/>
              </a:spcAft>
            </a:pPr>
            <a:r>
              <a:rPr sz="1100" b="0" i="0">
                <a:solidFill>
                  <a:srgbClr val="3399CC"/>
                </a:solidFill>
                <a:latin typeface="Open Sans"/>
                <a:hlinkClick r:id="rId9"/>
              </a:rPr>
              <a:t>huggingface.co/learn</a:t>
            </a:r>
          </a:p>
          <a:p>
            <a:pPr algn="l"/>
            <a:r>
              <a:rPr sz="1150" b="0" i="0">
                <a:solidFill>
                  <a:srgbClr val="1A2733"/>
                </a:solidFill>
                <a:latin typeface="Open Sans"/>
              </a:rPr>
              <a:t>Free courses: LLMs, agents, computer vision, diffusion</a:t>
            </a:r>
          </a:p>
        </p:txBody>
      </p:sp>
      <p:sp>
        <p:nvSpPr>
          <p:cNvPr id="19" name="TextBox 18"/>
          <p:cNvSpPr txBox="1"/>
          <p:nvPr/>
        </p:nvSpPr>
        <p:spPr>
          <a:xfrm>
            <a:off x="6094476" y="3941063"/>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PyTorch Hub</a:t>
            </a:r>
          </a:p>
          <a:p>
            <a:pPr algn="l">
              <a:spcAft>
                <a:spcPts val="100"/>
              </a:spcAft>
            </a:pPr>
            <a:r>
              <a:rPr sz="1100" b="0" i="0">
                <a:solidFill>
                  <a:srgbClr val="3399CC"/>
                </a:solidFill>
                <a:latin typeface="Open Sans"/>
                <a:hlinkClick r:id="rId10"/>
              </a:rPr>
              <a:t>pytorch.org/hub</a:t>
            </a:r>
          </a:p>
          <a:p>
            <a:pPr algn="l"/>
            <a:r>
              <a:rPr sz="1150" b="0" i="0">
                <a:solidFill>
                  <a:srgbClr val="1A2733"/>
                </a:solidFill>
                <a:latin typeface="Open Sans"/>
              </a:rPr>
              <a:t>Pre-trained vision, audio and NLP models loaded with torch.hub</a:t>
            </a:r>
          </a:p>
        </p:txBody>
      </p:sp>
      <p:cxnSp>
        <p:nvCxnSpPr>
          <p:cNvPr id="20" name="Connector 19"/>
          <p:cNvCxnSpPr/>
          <p:nvPr/>
        </p:nvCxnSpPr>
        <p:spPr>
          <a:xfrm>
            <a:off x="8803386" y="1463040"/>
            <a:ext cx="0" cy="3520440"/>
          </a:xfrm>
          <a:prstGeom prst="line">
            <a:avLst/>
          </a:prstGeom>
          <a:ln w="9525">
            <a:solidFill>
              <a:srgbClr val="D5DCE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13114" y="1417320"/>
            <a:ext cx="2544318" cy="274320"/>
          </a:xfrm>
          <a:prstGeom prst="rect">
            <a:avLst/>
          </a:prstGeom>
          <a:noFill/>
        </p:spPr>
        <p:txBody>
          <a:bodyPr wrap="square" lIns="0" tIns="0" rIns="0" bIns="0" anchor="t">
            <a:noAutofit/>
          </a:bodyPr>
          <a:lstStyle/>
          <a:p>
            <a:pPr algn="l"/>
            <a:r>
              <a:rPr sz="1200" b="1" i="0">
                <a:solidFill>
                  <a:srgbClr val="2E8B57"/>
                </a:solidFill>
                <a:latin typeface="Open Sans"/>
              </a:rPr>
              <a:t>AVIATION DATA</a:t>
            </a:r>
          </a:p>
        </p:txBody>
      </p:sp>
      <p:sp>
        <p:nvSpPr>
          <p:cNvPr id="22" name="TextBox 21"/>
          <p:cNvSpPr txBox="1"/>
          <p:nvPr/>
        </p:nvSpPr>
        <p:spPr>
          <a:xfrm>
            <a:off x="8913114" y="1783080"/>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Aviation Intelligence Portal</a:t>
            </a:r>
          </a:p>
          <a:p>
            <a:pPr algn="l">
              <a:spcAft>
                <a:spcPts val="100"/>
              </a:spcAft>
            </a:pPr>
            <a:r>
              <a:rPr sz="1100" b="0" i="0">
                <a:solidFill>
                  <a:srgbClr val="3399CC"/>
                </a:solidFill>
                <a:latin typeface="Open Sans"/>
                <a:hlinkClick r:id="rId11"/>
              </a:rPr>
              <a:t>ansperformance.eu</a:t>
            </a:r>
          </a:p>
          <a:p>
            <a:pPr algn="l"/>
            <a:r>
              <a:rPr sz="1150" b="0" i="0">
                <a:solidFill>
                  <a:srgbClr val="1A2733"/>
                </a:solidFill>
                <a:latin typeface="Open Sans"/>
              </a:rPr>
              <a:t>EUROCONTROL traffic, delay and punctuality data (Ex. 1)</a:t>
            </a:r>
          </a:p>
        </p:txBody>
      </p:sp>
      <p:sp>
        <p:nvSpPr>
          <p:cNvPr id="23" name="TextBox 22"/>
          <p:cNvSpPr txBox="1"/>
          <p:nvPr/>
        </p:nvSpPr>
        <p:spPr>
          <a:xfrm>
            <a:off x="8913114" y="2862072"/>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Iowa Environmental Mesonet</a:t>
            </a:r>
          </a:p>
          <a:p>
            <a:pPr algn="l">
              <a:spcAft>
                <a:spcPts val="100"/>
              </a:spcAft>
            </a:pPr>
            <a:r>
              <a:rPr sz="1100" b="0" i="0">
                <a:solidFill>
                  <a:srgbClr val="3399CC"/>
                </a:solidFill>
                <a:latin typeface="Open Sans"/>
                <a:hlinkClick r:id="rId12"/>
              </a:rPr>
              <a:t>mesonet.agron.iastate.edu</a:t>
            </a:r>
          </a:p>
          <a:p>
            <a:pPr algn="l"/>
            <a:r>
              <a:rPr sz="1150" b="0" i="0">
                <a:solidFill>
                  <a:srgbClr val="1A2733"/>
                </a:solidFill>
                <a:latin typeface="Open Sans"/>
              </a:rPr>
              <a:t>Historical METAR for airports worldwide (Ex. 2, 3, 2S)</a:t>
            </a:r>
          </a:p>
        </p:txBody>
      </p:sp>
      <p:sp>
        <p:nvSpPr>
          <p:cNvPr id="24" name="TextBox 23"/>
          <p:cNvSpPr txBox="1"/>
          <p:nvPr/>
        </p:nvSpPr>
        <p:spPr>
          <a:xfrm>
            <a:off x="8913114" y="3941063"/>
            <a:ext cx="2544318" cy="1097280"/>
          </a:xfrm>
          <a:prstGeom prst="rect">
            <a:avLst/>
          </a:prstGeom>
          <a:noFill/>
        </p:spPr>
        <p:txBody>
          <a:bodyPr wrap="square" lIns="0" tIns="0" rIns="0" bIns="0" anchor="t">
            <a:noAutofit/>
          </a:bodyPr>
          <a:lstStyle/>
          <a:p>
            <a:pPr algn="l">
              <a:spcAft>
                <a:spcPts val="100"/>
              </a:spcAft>
            </a:pPr>
            <a:r>
              <a:rPr sz="1300" b="1" i="0">
                <a:solidFill>
                  <a:srgbClr val="0C3D6E"/>
                </a:solidFill>
                <a:latin typeface="Open Sans"/>
              </a:rPr>
              <a:t>OpenSky Network</a:t>
            </a:r>
          </a:p>
          <a:p>
            <a:pPr algn="l">
              <a:spcAft>
                <a:spcPts val="100"/>
              </a:spcAft>
            </a:pPr>
            <a:r>
              <a:rPr sz="1100" b="0" i="0">
                <a:solidFill>
                  <a:srgbClr val="3399CC"/>
                </a:solidFill>
                <a:latin typeface="Open Sans"/>
                <a:hlinkClick r:id="rId13"/>
              </a:rPr>
              <a:t>opensky-network.org</a:t>
            </a:r>
          </a:p>
          <a:p>
            <a:pPr algn="l"/>
            <a:r>
              <a:rPr sz="1150" b="0" i="0">
                <a:solidFill>
                  <a:srgbClr val="1A2733"/>
                </a:solidFill>
                <a:latin typeface="Open Sans"/>
              </a:rPr>
              <a:t>ADS-B flight data for research and teaching</a:t>
            </a:r>
          </a:p>
        </p:txBody>
      </p:sp>
      <p:sp>
        <p:nvSpPr>
          <p:cNvPr id="25" name="Rectangle 24"/>
          <p:cNvSpPr/>
          <p:nvPr/>
        </p:nvSpPr>
        <p:spPr>
          <a:xfrm>
            <a:off x="457200" y="5166360"/>
            <a:ext cx="11274552" cy="1097280"/>
          </a:xfrm>
          <a:prstGeom prst="rect">
            <a:avLst/>
          </a:prstGeom>
          <a:solidFill>
            <a:srgbClr val="0C3D6E"/>
          </a:solidFill>
          <a:ln>
            <a:noFill/>
          </a:ln>
          <a:effectLst/>
        </p:spPr>
        <p:txBody>
          <a:bodyPr rtlCol="0" anchor="ctr"/>
          <a:lstStyle/>
          <a:p>
            <a:pPr algn="ctr"/>
            <a:endParaRPr/>
          </a:p>
        </p:txBody>
      </p:sp>
      <p:sp>
        <p:nvSpPr>
          <p:cNvPr id="26" name="TextBox 25"/>
          <p:cNvSpPr txBox="1"/>
          <p:nvPr/>
        </p:nvSpPr>
        <p:spPr>
          <a:xfrm>
            <a:off x="685800" y="5285232"/>
            <a:ext cx="3017520" cy="274320"/>
          </a:xfrm>
          <a:prstGeom prst="rect">
            <a:avLst/>
          </a:prstGeom>
          <a:noFill/>
        </p:spPr>
        <p:txBody>
          <a:bodyPr wrap="square" lIns="0" tIns="0" rIns="0" bIns="0" anchor="t">
            <a:noAutofit/>
          </a:bodyPr>
          <a:lstStyle/>
          <a:p>
            <a:pPr algn="l"/>
            <a:r>
              <a:rPr sz="1100" b="1" i="0">
                <a:solidFill>
                  <a:srgbClr val="9CC9E6"/>
                </a:solidFill>
                <a:latin typeface="Open Sans"/>
              </a:rPr>
              <a:t>FROM LINK TO CODE</a:t>
            </a:r>
          </a:p>
        </p:txBody>
      </p:sp>
      <p:sp>
        <p:nvSpPr>
          <p:cNvPr id="27" name="TextBox 26"/>
          <p:cNvSpPr txBox="1"/>
          <p:nvPr/>
        </p:nvSpPr>
        <p:spPr>
          <a:xfrm>
            <a:off x="685800" y="5559552"/>
            <a:ext cx="3017520" cy="640080"/>
          </a:xfrm>
          <a:prstGeom prst="rect">
            <a:avLst/>
          </a:prstGeom>
          <a:noFill/>
        </p:spPr>
        <p:txBody>
          <a:bodyPr wrap="square" lIns="0" tIns="0" rIns="0" bIns="0" anchor="t">
            <a:noAutofit/>
          </a:bodyPr>
          <a:lstStyle/>
          <a:p>
            <a:pPr algn="l"/>
            <a:r>
              <a:rPr sz="1300" b="0" i="0">
                <a:solidFill>
                  <a:srgbClr val="FFFFFF"/>
                </a:solidFill>
                <a:latin typeface="Open Sans"/>
              </a:rPr>
              <a:t>Most of these resources are one import away.</a:t>
            </a:r>
          </a:p>
        </p:txBody>
      </p:sp>
      <p:sp>
        <p:nvSpPr>
          <p:cNvPr id="28" name="TextBox 27"/>
          <p:cNvSpPr txBox="1"/>
          <p:nvPr/>
        </p:nvSpPr>
        <p:spPr>
          <a:xfrm>
            <a:off x="3840480" y="5349240"/>
            <a:ext cx="3840480" cy="1005840"/>
          </a:xfrm>
          <a:prstGeom prst="rect">
            <a:avLst/>
          </a:prstGeom>
          <a:noFill/>
        </p:spPr>
        <p:txBody>
          <a:bodyPr wrap="square" lIns="0" tIns="0" rIns="0" bIns="0" anchor="t">
            <a:noAutofit/>
          </a:bodyPr>
          <a:lstStyle/>
          <a:p>
            <a:pPr algn="l">
              <a:spcAft>
                <a:spcPts val="200"/>
              </a:spcAft>
            </a:pPr>
            <a:r>
              <a:rPr sz="1150" b="0" i="0">
                <a:solidFill>
                  <a:srgbClr val="FFFFFF"/>
                </a:solidFill>
                <a:latin typeface="Courier New"/>
              </a:rPr>
              <a:t>from datasets import load_dataset</a:t>
            </a:r>
          </a:p>
          <a:p>
            <a:pPr algn="l"/>
            <a:r>
              <a:rPr sz="1150" b="0" i="0">
                <a:solidFill>
                  <a:srgbClr val="FFFFFF"/>
                </a:solidFill>
                <a:latin typeface="Courier New"/>
              </a:rPr>
              <a:t>ds = load_dataset("stanfordnlp/imdb")</a:t>
            </a:r>
          </a:p>
        </p:txBody>
      </p:sp>
      <p:sp>
        <p:nvSpPr>
          <p:cNvPr id="29" name="TextBox 28"/>
          <p:cNvSpPr txBox="1"/>
          <p:nvPr/>
        </p:nvSpPr>
        <p:spPr>
          <a:xfrm>
            <a:off x="7818120" y="5349240"/>
            <a:ext cx="3840480" cy="1005840"/>
          </a:xfrm>
          <a:prstGeom prst="rect">
            <a:avLst/>
          </a:prstGeom>
          <a:noFill/>
        </p:spPr>
        <p:txBody>
          <a:bodyPr wrap="square" lIns="0" tIns="0" rIns="0" bIns="0" anchor="t">
            <a:noAutofit/>
          </a:bodyPr>
          <a:lstStyle/>
          <a:p>
            <a:pPr algn="l">
              <a:spcAft>
                <a:spcPts val="200"/>
              </a:spcAft>
            </a:pPr>
            <a:r>
              <a:rPr sz="1150" b="0" i="0">
                <a:solidFill>
                  <a:srgbClr val="FFFFFF"/>
                </a:solidFill>
                <a:latin typeface="Courier New"/>
              </a:rPr>
              <a:t>from transformers import pipeline</a:t>
            </a:r>
          </a:p>
          <a:p>
            <a:pPr algn="l">
              <a:spcAft>
                <a:spcPts val="200"/>
              </a:spcAft>
            </a:pPr>
            <a:r>
              <a:rPr sz="1150" b="0" i="0">
                <a:solidFill>
                  <a:srgbClr val="FFFFFF"/>
                </a:solidFill>
                <a:latin typeface="Courier New"/>
              </a:rPr>
              <a:t>clf = pipeline("sentiment-analysis")</a:t>
            </a:r>
          </a:p>
          <a:p>
            <a:pPr algn="l"/>
            <a:r>
              <a:rPr sz="1150" b="0" i="0">
                <a:solidFill>
                  <a:srgbClr val="FFFFFF"/>
                </a:solidFill>
                <a:latin typeface="Courier New"/>
              </a:rPr>
              <a:t>clf("The approach was stable.")</a:t>
            </a:r>
          </a:p>
        </p:txBody>
      </p:sp>
    </p:spTree>
  </p:cSld>
  <p:clrMapOvr>
    <a:masterClrMapping/>
  </p:clrMapOvr>
</p:sld>
</file>

<file path=ppt/theme/theme1.xml><?xml version="1.0" encoding="utf-8"?>
<a:theme xmlns:a="http://schemas.openxmlformats.org/drawingml/2006/main" name="1_Default Design">
  <a:themeElements>
    <a:clrScheme name="vivid1">
      <a:dk1>
        <a:srgbClr val="000000"/>
      </a:dk1>
      <a:lt1>
        <a:srgbClr val="FFFFFF"/>
      </a:lt1>
      <a:dk2>
        <a:srgbClr val="FF9933"/>
      </a:dk2>
      <a:lt2>
        <a:srgbClr val="5A637C"/>
      </a:lt2>
      <a:accent1>
        <a:srgbClr val="003366"/>
      </a:accent1>
      <a:accent2>
        <a:srgbClr val="3399CC"/>
      </a:accent2>
      <a:accent3>
        <a:srgbClr val="CC0033"/>
      </a:accent3>
      <a:accent4>
        <a:srgbClr val="660000"/>
      </a:accent4>
      <a:accent5>
        <a:srgbClr val="99CC00"/>
      </a:accent5>
      <a:accent6>
        <a:srgbClr val="FFCC00"/>
      </a:accent6>
      <a:hlink>
        <a:srgbClr val="7030A0"/>
      </a:hlink>
      <a:folHlink>
        <a:srgbClr val="CCCC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8329</TotalTime>
  <Words>3447</Words>
  <Application>Microsoft Macintosh PowerPoint</Application>
  <PresentationFormat>Widescreen</PresentationFormat>
  <Paragraphs>377</Paragraphs>
  <Slides>15</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Open Sans</vt:lpstr>
      <vt:lpstr>Noto Sans Symbols</vt:lpstr>
      <vt:lpstr>Play</vt:lpstr>
      <vt:lpstr>Arial</vt:lpstr>
      <vt:lpstr>Courier New</vt:lpstr>
      <vt:lpstr>1_Default Design</vt:lpstr>
      <vt:lpstr>Tema di Office</vt:lpstr>
      <vt:lpstr>PowerPoint Presentation</vt:lpstr>
      <vt:lpstr>What PyTorch does for you</vt:lpstr>
      <vt:lpstr>We need to go deeper</vt:lpstr>
      <vt:lpstr>Instructor notes</vt:lpstr>
      <vt:lpstr>The labs on one map</vt:lpstr>
      <vt:lpstr>Results worth remembering</vt:lpstr>
      <vt:lpstr>The decisions that mattered more than the network</vt:lpstr>
      <vt:lpstr>Questions developers ask: the code</vt:lpstr>
      <vt:lpstr>Questions developers ask: the engineering</vt:lpstr>
      <vt:lpstr>Loss functions: pick by the kind of answer</vt:lpstr>
      <vt:lpstr>Regularisation: what it is and why we need it</vt:lpstr>
      <vt:lpstr>Regularisation: where to find it in PyTorch</vt:lpstr>
      <vt:lpstr>From lab to real project: the data</vt:lpstr>
      <vt:lpstr>From lab to real project: pipelines and memory</vt:lpstr>
      <vt:lpstr>Keep going: resources for hands-on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daniele baranzini</dc:creator>
  <cp:lastModifiedBy>Giuseppe Frau</cp:lastModifiedBy>
  <cp:revision>64</cp:revision>
  <dcterms:created xsi:type="dcterms:W3CDTF">2024-09-03T14:20:34Z</dcterms:created>
  <dcterms:modified xsi:type="dcterms:W3CDTF">2026-10-07T10:19:53Z</dcterms:modified>
</cp:coreProperties>
</file>